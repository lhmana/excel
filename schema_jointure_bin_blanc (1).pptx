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A6FBF"/>
          </a:solidFill>
          <a:ln/>
        </p:spPr>
      </p:sp>
      <p:sp>
        <p:nvSpPr>
          <p:cNvPr id="3" name="Shape 1"/>
          <p:cNvSpPr/>
          <p:nvPr/>
        </p:nvSpPr>
        <p:spPr>
          <a:xfrm>
            <a:off x="-731520" y="3200400"/>
            <a:ext cx="3200400" cy="3200400"/>
          </a:xfrm>
          <a:prstGeom prst="ellipse">
            <a:avLst/>
          </a:prstGeom>
          <a:solidFill>
            <a:srgbClr val="FFFFFF">
              <a:alpha val="8000"/>
            </a:srgbClr>
          </a:solidFill>
          <a:ln w="12700">
            <a:solidFill>
              <a:srgbClr val="FFFFFF">
                <a:alpha val="15000"/>
              </a:srgbClr>
            </a:solidFill>
            <a:prstDash val="solid"/>
          </a:ln>
        </p:spPr>
      </p:sp>
      <p:sp>
        <p:nvSpPr>
          <p:cNvPr id="4" name="Shape 2"/>
          <p:cNvSpPr/>
          <p:nvPr/>
        </p:nvSpPr>
        <p:spPr>
          <a:xfrm>
            <a:off x="2011680" y="-731520"/>
            <a:ext cx="2560320" cy="2560320"/>
          </a:xfrm>
          <a:prstGeom prst="ellipse">
            <a:avLst/>
          </a:prstGeom>
          <a:solidFill>
            <a:srgbClr val="FFFFFF">
              <a:alpha val="10000"/>
            </a:srgbClr>
          </a:solidFill>
          <a:ln w="12700">
            <a:solidFill>
              <a:srgbClr val="FFFFFF">
                <a:alpha val="20000"/>
              </a:srgbClr>
            </a:solidFill>
            <a:prstDash val="solid"/>
          </a:ln>
        </p:spPr>
      </p:sp>
      <p:sp>
        <p:nvSpPr>
          <p:cNvPr id="5" name="Text 3"/>
          <p:cNvSpPr/>
          <p:nvPr/>
        </p:nvSpPr>
        <p:spPr>
          <a:xfrm>
            <a:off x="365760" y="1005840"/>
            <a:ext cx="3200400" cy="16459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Logique de</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Jointure</a:t>
            </a:r>
            <a:endParaRPr lang="en-US" sz="3600" dirty="0"/>
          </a:p>
        </p:txBody>
      </p:sp>
      <p:sp>
        <p:nvSpPr>
          <p:cNvPr id="6" name="Text 4"/>
          <p:cNvSpPr/>
          <p:nvPr/>
        </p:nvSpPr>
        <p:spPr>
          <a:xfrm>
            <a:off x="365760" y="2697480"/>
            <a:ext cx="3200400" cy="4572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Table Retraits  ×  Table BINs</a:t>
            </a:r>
            <a:endParaRPr lang="en-US" sz="1300" dirty="0"/>
          </a:p>
        </p:txBody>
      </p:sp>
      <p:sp>
        <p:nvSpPr>
          <p:cNvPr id="7" name="Text 5"/>
          <p:cNvSpPr/>
          <p:nvPr/>
        </p:nvSpPr>
        <p:spPr>
          <a:xfrm>
            <a:off x="365760" y="4480560"/>
            <a:ext cx="914400" cy="36576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4297680" y="1371600"/>
            <a:ext cx="4572000" cy="914400"/>
          </a:xfrm>
          <a:prstGeom prst="rect">
            <a:avLst/>
          </a:prstGeom>
          <a:noFill/>
          <a:ln/>
        </p:spPr>
        <p:txBody>
          <a:bodyPr wrap="square" lIns="0" tIns="0" rIns="0" bIns="0" rtlCol="0" anchor="ctr"/>
          <a:lstStyle/>
          <a:p>
            <a:pPr indent="0" marL="0">
              <a:buNone/>
            </a:pPr>
            <a:r>
              <a:rPr lang="en-US" sz="1800" b="1" dirty="0">
                <a:solidFill>
                  <a:srgbClr val="2D3748"/>
                </a:solidFill>
                <a:latin typeface="Calibri" pitchFamily="34" charset="0"/>
                <a:ea typeface="Calibri" pitchFamily="34" charset="-122"/>
                <a:cs typeface="Calibri" pitchFamily="34" charset="-120"/>
              </a:rPr>
              <a:t>Comment identifier la banque confrere</a:t>
            </a:r>
            <a:endParaRPr lang="en-US" sz="1800" dirty="0"/>
          </a:p>
          <a:p>
            <a:pPr indent="0" marL="0">
              <a:buNone/>
            </a:pPr>
            <a:r>
              <a:rPr lang="en-US" sz="1800" b="1" dirty="0">
                <a:solidFill>
                  <a:srgbClr val="2D3748"/>
                </a:solidFill>
                <a:latin typeface="Calibri" pitchFamily="34" charset="0"/>
                <a:ea typeface="Calibri" pitchFamily="34" charset="-122"/>
                <a:cs typeface="Calibri" pitchFamily="34" charset="-120"/>
              </a:rPr>
              <a:t>a partir du numero de carte ?</a:t>
            </a:r>
            <a:endParaRPr lang="en-US" sz="1800" dirty="0"/>
          </a:p>
        </p:txBody>
      </p:sp>
      <p:sp>
        <p:nvSpPr>
          <p:cNvPr id="9" name="Text 7"/>
          <p:cNvSpPr/>
          <p:nvPr/>
        </p:nvSpPr>
        <p:spPr>
          <a:xfrm>
            <a:off x="4297680" y="2377440"/>
            <a:ext cx="4572000" cy="1280160"/>
          </a:xfrm>
          <a:prstGeom prst="rect">
            <a:avLst/>
          </a:prstGeom>
          <a:noFill/>
          <a:ln/>
        </p:spPr>
        <p:txBody>
          <a:bodyPr wrap="square" lIns="0" tIns="0" rIns="0" bIns="0" rtlCol="0" anchor="ctr"/>
          <a:lstStyle/>
          <a:p>
            <a:pPr indent="0" marL="0">
              <a:buNone/>
            </a:pPr>
            <a:r>
              <a:rPr lang="en-US" sz="1200" dirty="0">
                <a:solidFill>
                  <a:srgbClr val="8B9AB0"/>
                </a:solidFill>
                <a:latin typeface="Calibri" pitchFamily="34" charset="0"/>
                <a:ea typeface="Calibri" pitchFamily="34" charset="-122"/>
                <a:cs typeface="Calibri" pitchFamily="34" charset="-120"/>
              </a:rPr>
              <a:t>Le numero de carte bancaire contient un identifiant appele BIN (Bank Identification Number). En croisant ce BIN avec une table de reference, on peut identifier la banque emettrice de chaque carte et distinguer nos porteurs des banques confreres.</a:t>
            </a:r>
            <a:endParaRPr lang="en-US" sz="1200" dirty="0"/>
          </a:p>
        </p:txBody>
      </p:sp>
      <p:sp>
        <p:nvSpPr>
          <p:cNvPr id="10" name="Shape 8"/>
          <p:cNvSpPr/>
          <p:nvPr/>
        </p:nvSpPr>
        <p:spPr>
          <a:xfrm>
            <a:off x="4297680" y="3931920"/>
            <a:ext cx="1078992" cy="310896"/>
          </a:xfrm>
          <a:prstGeom prst="roundRect">
            <a:avLst>
              <a:gd name="adj" fmla="val 44118"/>
            </a:avLst>
          </a:prstGeom>
          <a:solidFill>
            <a:srgbClr val="1A6FBF">
              <a:alpha val="12000"/>
            </a:srgbClr>
          </a:solidFill>
          <a:ln/>
        </p:spPr>
      </p:sp>
      <p:sp>
        <p:nvSpPr>
          <p:cNvPr id="11" name="Text 9"/>
          <p:cNvSpPr/>
          <p:nvPr/>
        </p:nvSpPr>
        <p:spPr>
          <a:xfrm>
            <a:off x="4297680" y="3931920"/>
            <a:ext cx="1078992" cy="310896"/>
          </a:xfrm>
          <a:prstGeom prst="rect">
            <a:avLst/>
          </a:prstGeom>
          <a:noFill/>
          <a:ln/>
        </p:spPr>
        <p:txBody>
          <a:bodyPr wrap="square" lIns="0" tIns="0" rIns="0" bIns="0" rtlCol="0" anchor="ctr"/>
          <a:lstStyle/>
          <a:p>
            <a:pPr algn="ctr" indent="0" marL="0">
              <a:buNone/>
            </a:pPr>
            <a:r>
              <a:rPr lang="en-US" sz="900" b="1" dirty="0">
                <a:solidFill>
                  <a:srgbClr val="1A6FBF"/>
                </a:solidFill>
                <a:latin typeface="Calibri" pitchFamily="34" charset="0"/>
                <a:ea typeface="Calibri" pitchFamily="34" charset="-122"/>
                <a:cs typeface="Calibri" pitchFamily="34" charset="-120"/>
              </a:rPr>
              <a:t>BIN6</a:t>
            </a:r>
            <a:endParaRPr lang="en-US" sz="900" dirty="0"/>
          </a:p>
        </p:txBody>
      </p:sp>
      <p:sp>
        <p:nvSpPr>
          <p:cNvPr id="12" name="Shape 10"/>
          <p:cNvSpPr/>
          <p:nvPr/>
        </p:nvSpPr>
        <p:spPr>
          <a:xfrm>
            <a:off x="5504688" y="3931920"/>
            <a:ext cx="1078992" cy="310896"/>
          </a:xfrm>
          <a:prstGeom prst="roundRect">
            <a:avLst>
              <a:gd name="adj" fmla="val 44118"/>
            </a:avLst>
          </a:prstGeom>
          <a:solidFill>
            <a:srgbClr val="E85D04">
              <a:alpha val="12000"/>
            </a:srgbClr>
          </a:solidFill>
          <a:ln/>
        </p:spPr>
      </p:sp>
      <p:sp>
        <p:nvSpPr>
          <p:cNvPr id="13" name="Text 11"/>
          <p:cNvSpPr/>
          <p:nvPr/>
        </p:nvSpPr>
        <p:spPr>
          <a:xfrm>
            <a:off x="5504688" y="3931920"/>
            <a:ext cx="1078992" cy="310896"/>
          </a:xfrm>
          <a:prstGeom prst="rect">
            <a:avLst/>
          </a:prstGeom>
          <a:noFill/>
          <a:ln/>
        </p:spPr>
        <p:txBody>
          <a:bodyPr wrap="square" lIns="0" tIns="0" rIns="0" bIns="0" rtlCol="0" anchor="ctr"/>
          <a:lstStyle/>
          <a:p>
            <a:pPr algn="ctr" indent="0" marL="0">
              <a:buNone/>
            </a:pPr>
            <a:r>
              <a:rPr lang="en-US" sz="900" b="1" dirty="0">
                <a:solidFill>
                  <a:srgbClr val="E85D04"/>
                </a:solidFill>
                <a:latin typeface="Calibri" pitchFamily="34" charset="0"/>
                <a:ea typeface="Calibri" pitchFamily="34" charset="-122"/>
                <a:cs typeface="Calibri" pitchFamily="34" charset="-120"/>
              </a:rPr>
              <a:t>BIN8</a:t>
            </a:r>
            <a:endParaRPr lang="en-US" sz="900" dirty="0"/>
          </a:p>
        </p:txBody>
      </p:sp>
      <p:sp>
        <p:nvSpPr>
          <p:cNvPr id="14" name="Shape 12"/>
          <p:cNvSpPr/>
          <p:nvPr/>
        </p:nvSpPr>
        <p:spPr>
          <a:xfrm>
            <a:off x="6711696" y="3931920"/>
            <a:ext cx="1078992" cy="310896"/>
          </a:xfrm>
          <a:prstGeom prst="roundRect">
            <a:avLst>
              <a:gd name="adj" fmla="val 44118"/>
            </a:avLst>
          </a:prstGeom>
          <a:solidFill>
            <a:srgbClr val="0EA470">
              <a:alpha val="12000"/>
            </a:srgbClr>
          </a:solidFill>
          <a:ln/>
        </p:spPr>
      </p:sp>
      <p:sp>
        <p:nvSpPr>
          <p:cNvPr id="15" name="Text 13"/>
          <p:cNvSpPr/>
          <p:nvPr/>
        </p:nvSpPr>
        <p:spPr>
          <a:xfrm>
            <a:off x="6711696" y="3931920"/>
            <a:ext cx="1078992" cy="310896"/>
          </a:xfrm>
          <a:prstGeom prst="rect">
            <a:avLst/>
          </a:prstGeom>
          <a:noFill/>
          <a:ln/>
        </p:spPr>
        <p:txBody>
          <a:bodyPr wrap="square" lIns="0" tIns="0" rIns="0" bIns="0" rtlCol="0" anchor="ctr"/>
          <a:lstStyle/>
          <a:p>
            <a:pPr algn="ctr" indent="0" marL="0">
              <a:buNone/>
            </a:pPr>
            <a:r>
              <a:rPr lang="en-US" sz="900" b="1" dirty="0">
                <a:solidFill>
                  <a:srgbClr val="0EA470"/>
                </a:solidFill>
                <a:latin typeface="Calibri" pitchFamily="34" charset="0"/>
                <a:ea typeface="Calibri" pitchFamily="34" charset="-122"/>
                <a:cs typeface="Calibri" pitchFamily="34" charset="-120"/>
              </a:rPr>
              <a:t>BETWEEN</a:t>
            </a:r>
            <a:endParaRPr lang="en-US" sz="900" dirty="0"/>
          </a:p>
        </p:txBody>
      </p:sp>
      <p:sp>
        <p:nvSpPr>
          <p:cNvPr id="16" name="Shape 14"/>
          <p:cNvSpPr/>
          <p:nvPr/>
        </p:nvSpPr>
        <p:spPr>
          <a:xfrm>
            <a:off x="7918704" y="3931920"/>
            <a:ext cx="1078992" cy="310896"/>
          </a:xfrm>
          <a:prstGeom prst="roundRect">
            <a:avLst>
              <a:gd name="adj" fmla="val 44118"/>
            </a:avLst>
          </a:prstGeom>
          <a:solidFill>
            <a:srgbClr val="D4A017">
              <a:alpha val="12000"/>
            </a:srgbClr>
          </a:solidFill>
          <a:ln/>
        </p:spPr>
      </p:sp>
      <p:sp>
        <p:nvSpPr>
          <p:cNvPr id="17" name="Text 15"/>
          <p:cNvSpPr/>
          <p:nvPr/>
        </p:nvSpPr>
        <p:spPr>
          <a:xfrm>
            <a:off x="7918704" y="3931920"/>
            <a:ext cx="1078992" cy="310896"/>
          </a:xfrm>
          <a:prstGeom prst="rect">
            <a:avLst/>
          </a:prstGeom>
          <a:noFill/>
          <a:ln/>
        </p:spPr>
        <p:txBody>
          <a:bodyPr wrap="square" lIns="0" tIns="0" rIns="0" bIns="0" rtlCol="0" anchor="ctr"/>
          <a:lstStyle/>
          <a:p>
            <a:pPr algn="ctr" indent="0" marL="0">
              <a:buNone/>
            </a:pPr>
            <a:r>
              <a:rPr lang="en-US" sz="900" b="1" dirty="0">
                <a:solidFill>
                  <a:srgbClr val="D4A017"/>
                </a:solidFill>
                <a:latin typeface="Calibri" pitchFamily="34" charset="0"/>
                <a:ea typeface="Calibri" pitchFamily="34" charset="-122"/>
                <a:cs typeface="Calibri" pitchFamily="34" charset="-120"/>
              </a:rPr>
              <a:t>LEFT JOIN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sp>
      <p:sp>
        <p:nvSpPr>
          <p:cNvPr id="3" name="Text 1"/>
          <p:cNvSpPr/>
          <p:nvPr/>
        </p:nvSpPr>
        <p:spPr>
          <a:xfrm>
            <a:off x="365760" y="182880"/>
            <a:ext cx="548640" cy="411480"/>
          </a:xfrm>
          <a:prstGeom prst="rect">
            <a:avLst/>
          </a:prstGeom>
          <a:noFill/>
          <a:ln/>
        </p:spPr>
        <p:txBody>
          <a:bodyPr wrap="square" lIns="0" tIns="0" rIns="0" bIns="0" rtlCol="0" anchor="ctr"/>
          <a:lstStyle/>
          <a:p>
            <a:pPr indent="0" marL="0">
              <a:buNone/>
            </a:pPr>
            <a:r>
              <a:rPr lang="en-US" sz="2800" b="1" dirty="0">
                <a:solidFill>
                  <a:srgbClr val="1A6FBF"/>
                </a:solidFill>
                <a:latin typeface="Calibri" pitchFamily="34" charset="0"/>
                <a:ea typeface="Calibri" pitchFamily="34" charset="-122"/>
                <a:cs typeface="Calibri" pitchFamily="34" charset="-120"/>
              </a:rPr>
              <a:t>01</a:t>
            </a:r>
            <a:endParaRPr lang="en-US" sz="2800" dirty="0"/>
          </a:p>
        </p:txBody>
      </p:sp>
      <p:sp>
        <p:nvSpPr>
          <p:cNvPr id="4" name="Shape 2"/>
          <p:cNvSpPr/>
          <p:nvPr/>
        </p:nvSpPr>
        <p:spPr>
          <a:xfrm>
            <a:off x="960120" y="384048"/>
            <a:ext cx="0" cy="201168"/>
          </a:xfrm>
          <a:prstGeom prst="line">
            <a:avLst/>
          </a:prstGeom>
          <a:noFill/>
          <a:ln w="19050">
            <a:solidFill>
              <a:srgbClr val="E2E8F0"/>
            </a:solidFill>
            <a:prstDash val="solid"/>
          </a:ln>
        </p:spPr>
      </p:sp>
      <p:sp>
        <p:nvSpPr>
          <p:cNvPr id="5" name="Text 3"/>
          <p:cNvSpPr/>
          <p:nvPr/>
        </p:nvSpPr>
        <p:spPr>
          <a:xfrm>
            <a:off x="1097280" y="201168"/>
            <a:ext cx="6400800" cy="384048"/>
          </a:xfrm>
          <a:prstGeom prst="rect">
            <a:avLst/>
          </a:prstGeom>
          <a:noFill/>
          <a:ln/>
        </p:spPr>
        <p:txBody>
          <a:bodyPr wrap="square" lIns="0" tIns="0" rIns="0" bIns="0" rtlCol="0" anchor="ctr"/>
          <a:lstStyle/>
          <a:p>
            <a:pPr indent="0" marL="0">
              <a:buNone/>
            </a:pPr>
            <a:r>
              <a:rPr lang="en-US" sz="2000" b="1" dirty="0">
                <a:solidFill>
                  <a:srgbClr val="2D3748"/>
                </a:solidFill>
                <a:latin typeface="Calibri" pitchFamily="34" charset="0"/>
                <a:ea typeface="Calibri" pitchFamily="34" charset="-122"/>
                <a:cs typeface="Calibri" pitchFamily="34" charset="-120"/>
              </a:rPr>
              <a:t>Detection du type de BIN</a:t>
            </a:r>
            <a:endParaRPr lang="en-US" sz="2000" dirty="0"/>
          </a:p>
        </p:txBody>
      </p:sp>
      <p:sp>
        <p:nvSpPr>
          <p:cNvPr id="6" name="Text 4"/>
          <p:cNvSpPr/>
          <p:nvPr/>
        </p:nvSpPr>
        <p:spPr>
          <a:xfrm>
            <a:off x="1097280" y="566928"/>
            <a:ext cx="7315200" cy="274320"/>
          </a:xfrm>
          <a:prstGeom prst="rect">
            <a:avLst/>
          </a:prstGeom>
          <a:noFill/>
          <a:ln/>
        </p:spPr>
        <p:txBody>
          <a:bodyPr wrap="square" lIns="0" tIns="0" rIns="0" bIns="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La position 7-8 du numero de carte determine si on utilise un BIN a 6 ou 8 chiffres</a:t>
            </a:r>
            <a:endParaRPr lang="en-US" sz="1100" dirty="0"/>
          </a:p>
        </p:txBody>
      </p:sp>
      <p:sp>
        <p:nvSpPr>
          <p:cNvPr id="7" name="Shape 5"/>
          <p:cNvSpPr/>
          <p:nvPr/>
        </p:nvSpPr>
        <p:spPr>
          <a:xfrm>
            <a:off x="365760" y="1005840"/>
            <a:ext cx="8412480" cy="804672"/>
          </a:xfrm>
          <a:prstGeom prst="roundRect">
            <a:avLst>
              <a:gd name="adj" fmla="val 11364"/>
            </a:avLst>
          </a:prstGeom>
          <a:solidFill>
            <a:srgbClr val="F0F3F8"/>
          </a:solidFill>
          <a:ln/>
          <a:effectLst>
            <a:outerShdw sx="100000" sy="100000" kx="0" ky="0" algn="bl" rotWithShape="0" blurRad="127000" dist="25400" dir="5400000">
              <a:srgbClr val="000000">
                <a:alpha val="7000"/>
              </a:srgbClr>
            </a:outerShdw>
          </a:effectLst>
        </p:spPr>
      </p:sp>
      <p:sp>
        <p:nvSpPr>
          <p:cNvPr id="8" name="Text 6"/>
          <p:cNvSpPr/>
          <p:nvPr/>
        </p:nvSpPr>
        <p:spPr>
          <a:xfrm>
            <a:off x="640080" y="1078992"/>
            <a:ext cx="1645920" cy="274320"/>
          </a:xfrm>
          <a:prstGeom prst="rect">
            <a:avLst/>
          </a:prstGeom>
          <a:noFill/>
          <a:ln/>
        </p:spPr>
        <p:txBody>
          <a:bodyPr wrap="square" lIns="0" tIns="0" rIns="0" bIns="0" rtlCol="0" anchor="ctr"/>
          <a:lstStyle/>
          <a:p>
            <a:pPr indent="0" marL="0">
              <a:buNone/>
            </a:pPr>
            <a:r>
              <a:rPr lang="en-US" sz="1000" dirty="0">
                <a:solidFill>
                  <a:srgbClr val="8B9AB0"/>
                </a:solidFill>
                <a:latin typeface="Calibri" pitchFamily="34" charset="0"/>
                <a:ea typeface="Calibri" pitchFamily="34" charset="-122"/>
                <a:cs typeface="Calibri" pitchFamily="34" charset="-120"/>
              </a:rPr>
              <a:t>Numero de carte :</a:t>
            </a:r>
            <a:endParaRPr lang="en-US" sz="1000" dirty="0"/>
          </a:p>
        </p:txBody>
      </p:sp>
      <p:sp>
        <p:nvSpPr>
          <p:cNvPr id="9" name="Text 7"/>
          <p:cNvSpPr/>
          <p:nvPr/>
        </p:nvSpPr>
        <p:spPr>
          <a:xfrm>
            <a:off x="2377440" y="1033272"/>
            <a:ext cx="5943600" cy="640080"/>
          </a:xfrm>
          <a:prstGeom prst="rect">
            <a:avLst/>
          </a:prstGeom>
          <a:noFill/>
          <a:ln/>
        </p:spPr>
        <p:txBody>
          <a:bodyPr wrap="square" lIns="0" tIns="0" rIns="0" bIns="0" rtlCol="0" anchor="ctr"/>
          <a:lstStyle/>
          <a:p>
            <a:pPr indent="0" marL="0">
              <a:buNone/>
            </a:pPr>
            <a:r>
              <a:rPr lang="en-US" sz="2200" b="1" dirty="0">
                <a:solidFill>
                  <a:srgbClr val="2D3748"/>
                </a:solidFill>
                <a:latin typeface="Courier New" pitchFamily="34" charset="0"/>
                <a:ea typeface="Courier New" pitchFamily="34" charset="-122"/>
                <a:cs typeface="Courier New" pitchFamily="34" charset="-120"/>
              </a:rPr>
              <a:t>4  5  6  7  </a:t>
            </a:r>
            <a:pPr indent="0" marL="0">
              <a:buNone/>
            </a:pPr>
            <a:r>
              <a:rPr lang="en-US" sz="2200" b="1" dirty="0">
                <a:solidFill>
                  <a:srgbClr val="E85D04"/>
                </a:solidFill>
                <a:latin typeface="Courier New" pitchFamily="34" charset="0"/>
                <a:ea typeface="Courier New" pitchFamily="34" charset="-122"/>
                <a:cs typeface="Courier New" pitchFamily="34" charset="-120"/>
              </a:rPr>
              <a:t>8  9  </a:t>
            </a:r>
            <a:pPr indent="0" marL="0">
              <a:buNone/>
            </a:pPr>
            <a:r>
              <a:rPr lang="en-US" sz="2200" dirty="0">
                <a:solidFill>
                  <a:srgbClr val="C0C8D8"/>
                </a:solidFill>
                <a:latin typeface="Courier New" pitchFamily="34" charset="0"/>
                <a:ea typeface="Courier New" pitchFamily="34" charset="-122"/>
                <a:cs typeface="Courier New" pitchFamily="34" charset="-120"/>
              </a:rPr>
              <a:t>X  X  </a:t>
            </a:r>
            <a:pPr indent="0" marL="0">
              <a:buNone/>
            </a:pPr>
            <a:r>
              <a:rPr lang="en-US" sz="2200" dirty="0">
                <a:solidFill>
                  <a:srgbClr val="C0C8D8"/>
                </a:solidFill>
                <a:latin typeface="Courier New" pitchFamily="34" charset="0"/>
                <a:ea typeface="Courier New" pitchFamily="34" charset="-122"/>
                <a:cs typeface="Courier New" pitchFamily="34" charset="-120"/>
              </a:rPr>
              <a:t>X  X  X  X</a:t>
            </a:r>
            <a:endParaRPr lang="en-US" sz="2200" dirty="0"/>
          </a:p>
        </p:txBody>
      </p:sp>
      <p:sp>
        <p:nvSpPr>
          <p:cNvPr id="10" name="Text 8"/>
          <p:cNvSpPr/>
          <p:nvPr/>
        </p:nvSpPr>
        <p:spPr>
          <a:xfrm>
            <a:off x="2377440" y="1664208"/>
            <a:ext cx="1280160" cy="201168"/>
          </a:xfrm>
          <a:prstGeom prst="rect">
            <a:avLst/>
          </a:prstGeom>
          <a:noFill/>
          <a:ln/>
        </p:spPr>
        <p:txBody>
          <a:bodyPr wrap="square" lIns="0" tIns="0" rIns="0" bIns="0" rtlCol="0" anchor="ctr"/>
          <a:lstStyle/>
          <a:p>
            <a:pPr indent="0" marL="0">
              <a:buNone/>
            </a:pPr>
            <a:r>
              <a:rPr lang="en-US" sz="800" dirty="0">
                <a:solidFill>
                  <a:srgbClr val="8B9AB0"/>
                </a:solidFill>
                <a:latin typeface="Calibri" pitchFamily="34" charset="0"/>
                <a:ea typeface="Calibri" pitchFamily="34" charset="-122"/>
                <a:cs typeface="Calibri" pitchFamily="34" charset="-120"/>
              </a:rPr>
              <a:t>pos 1-6</a:t>
            </a:r>
            <a:endParaRPr lang="en-US" sz="800" dirty="0"/>
          </a:p>
        </p:txBody>
      </p:sp>
      <p:sp>
        <p:nvSpPr>
          <p:cNvPr id="11" name="Text 9"/>
          <p:cNvSpPr/>
          <p:nvPr/>
        </p:nvSpPr>
        <p:spPr>
          <a:xfrm>
            <a:off x="3703320" y="1664208"/>
            <a:ext cx="2286000" cy="201168"/>
          </a:xfrm>
          <a:prstGeom prst="rect">
            <a:avLst/>
          </a:prstGeom>
          <a:noFill/>
          <a:ln/>
        </p:spPr>
        <p:txBody>
          <a:bodyPr wrap="square" lIns="0" tIns="0" rIns="0" bIns="0" rtlCol="0" anchor="ctr"/>
          <a:lstStyle/>
          <a:p>
            <a:pPr indent="0" marL="0">
              <a:buNone/>
            </a:pPr>
            <a:r>
              <a:rPr lang="en-US" sz="800" b="1" dirty="0">
                <a:solidFill>
                  <a:srgbClr val="E85D04"/>
                </a:solidFill>
                <a:latin typeface="Calibri" pitchFamily="34" charset="0"/>
                <a:ea typeface="Calibri" pitchFamily="34" charset="-122"/>
                <a:cs typeface="Calibri" pitchFamily="34" charset="-120"/>
              </a:rPr>
              <a:t>pos 7-8  →  cle de detection</a:t>
            </a:r>
            <a:endParaRPr lang="en-US" sz="800" dirty="0"/>
          </a:p>
        </p:txBody>
      </p:sp>
      <p:sp>
        <p:nvSpPr>
          <p:cNvPr id="12" name="Shape 10"/>
          <p:cNvSpPr/>
          <p:nvPr/>
        </p:nvSpPr>
        <p:spPr>
          <a:xfrm>
            <a:off x="365760" y="2011680"/>
            <a:ext cx="3931920" cy="2651760"/>
          </a:xfrm>
          <a:prstGeom prst="roundRect">
            <a:avLst>
              <a:gd name="adj" fmla="val 4138"/>
            </a:avLst>
          </a:prstGeom>
          <a:solidFill>
            <a:srgbClr val="FFFFFF"/>
          </a:solidFill>
          <a:ln w="19050">
            <a:solidFill>
              <a:srgbClr val="1A6FBF"/>
            </a:solidFill>
            <a:prstDash val="solid"/>
          </a:ln>
          <a:effectLst>
            <a:outerShdw sx="100000" sy="100000" kx="0" ky="0" algn="bl" rotWithShape="0" blurRad="127000" dist="25400" dir="5400000">
              <a:srgbClr val="000000">
                <a:alpha val="7000"/>
              </a:srgbClr>
            </a:outerShdw>
          </a:effectLst>
        </p:spPr>
      </p:sp>
      <p:sp>
        <p:nvSpPr>
          <p:cNvPr id="13" name="Shape 11"/>
          <p:cNvSpPr/>
          <p:nvPr/>
        </p:nvSpPr>
        <p:spPr>
          <a:xfrm>
            <a:off x="365760" y="2011680"/>
            <a:ext cx="3931920" cy="402336"/>
          </a:xfrm>
          <a:prstGeom prst="roundRect">
            <a:avLst>
              <a:gd name="adj" fmla="val 27273"/>
            </a:avLst>
          </a:prstGeom>
          <a:solidFill>
            <a:srgbClr val="1A6FBF"/>
          </a:solidFill>
          <a:ln/>
        </p:spPr>
      </p:sp>
      <p:sp>
        <p:nvSpPr>
          <p:cNvPr id="14" name="Text 12"/>
          <p:cNvSpPr/>
          <p:nvPr/>
        </p:nvSpPr>
        <p:spPr>
          <a:xfrm>
            <a:off x="365760" y="2011680"/>
            <a:ext cx="39319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CAS BIN 6</a:t>
            </a:r>
            <a:endParaRPr lang="en-US" sz="1200" dirty="0"/>
          </a:p>
        </p:txBody>
      </p:sp>
      <p:sp>
        <p:nvSpPr>
          <p:cNvPr id="15" name="Shape 13"/>
          <p:cNvSpPr/>
          <p:nvPr/>
        </p:nvSpPr>
        <p:spPr>
          <a:xfrm>
            <a:off x="548640" y="2523744"/>
            <a:ext cx="3566160" cy="347472"/>
          </a:xfrm>
          <a:prstGeom prst="roundRect">
            <a:avLst>
              <a:gd name="adj" fmla="val 18421"/>
            </a:avLst>
          </a:prstGeom>
          <a:solidFill>
            <a:srgbClr val="F0F3F8"/>
          </a:solidFill>
          <a:ln/>
        </p:spPr>
      </p:sp>
      <p:sp>
        <p:nvSpPr>
          <p:cNvPr id="16" name="Text 14"/>
          <p:cNvSpPr/>
          <p:nvPr/>
        </p:nvSpPr>
        <p:spPr>
          <a:xfrm>
            <a:off x="548640" y="2523744"/>
            <a:ext cx="3566160" cy="347472"/>
          </a:xfrm>
          <a:prstGeom prst="rect">
            <a:avLst/>
          </a:prstGeom>
          <a:noFill/>
          <a:ln/>
        </p:spPr>
        <p:txBody>
          <a:bodyPr wrap="square" lIns="101600" tIns="101600" rIns="101600" bIns="10160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Condition : </a:t>
            </a:r>
            <a:pPr indent="0" marL="0">
              <a:buNone/>
            </a:pPr>
            <a:r>
              <a:rPr lang="en-US" sz="1100" b="1" dirty="0">
                <a:solidFill>
                  <a:srgbClr val="E85D04"/>
                </a:solidFill>
                <a:latin typeface="Calibri" pitchFamily="34" charset="0"/>
                <a:ea typeface="Calibri" pitchFamily="34" charset="-122"/>
                <a:cs typeface="Calibri" pitchFamily="34" charset="-120"/>
              </a:rPr>
              <a:t>pos 7-8 = 'XX'</a:t>
            </a:r>
            <a:endParaRPr lang="en-US" sz="1100" dirty="0"/>
          </a:p>
        </p:txBody>
      </p:sp>
      <p:sp>
        <p:nvSpPr>
          <p:cNvPr id="17" name="Text 15"/>
          <p:cNvSpPr/>
          <p:nvPr/>
        </p:nvSpPr>
        <p:spPr>
          <a:xfrm>
            <a:off x="594360" y="2999232"/>
            <a:ext cx="914400" cy="237744"/>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Exemple</a:t>
            </a:r>
            <a:endParaRPr lang="en-US" sz="900" dirty="0"/>
          </a:p>
        </p:txBody>
      </p:sp>
      <p:sp>
        <p:nvSpPr>
          <p:cNvPr id="18" name="Text 16"/>
          <p:cNvSpPr/>
          <p:nvPr/>
        </p:nvSpPr>
        <p:spPr>
          <a:xfrm>
            <a:off x="594360" y="3200400"/>
            <a:ext cx="3474720" cy="329184"/>
          </a:xfrm>
          <a:prstGeom prst="rect">
            <a:avLst/>
          </a:prstGeom>
          <a:noFill/>
          <a:ln/>
        </p:spPr>
        <p:txBody>
          <a:bodyPr wrap="square" lIns="0" tIns="0" rIns="0" bIns="0" rtlCol="0" anchor="ctr"/>
          <a:lstStyle/>
          <a:p>
            <a:pPr indent="0" marL="0">
              <a:buNone/>
            </a:pPr>
            <a:r>
              <a:rPr lang="en-US" sz="1400" b="1" dirty="0">
                <a:solidFill>
                  <a:srgbClr val="2D3748"/>
                </a:solidFill>
                <a:latin typeface="Courier New" pitchFamily="34" charset="0"/>
                <a:ea typeface="Courier New" pitchFamily="34" charset="-122"/>
                <a:cs typeface="Courier New" pitchFamily="34" charset="-120"/>
              </a:rPr>
              <a:t>4567 89XX XXXX</a:t>
            </a:r>
            <a:endParaRPr lang="en-US" sz="1400" dirty="0"/>
          </a:p>
        </p:txBody>
      </p:sp>
      <p:sp>
        <p:nvSpPr>
          <p:cNvPr id="19" name="Shape 17"/>
          <p:cNvSpPr/>
          <p:nvPr/>
        </p:nvSpPr>
        <p:spPr>
          <a:xfrm>
            <a:off x="594360" y="3584448"/>
            <a:ext cx="3474720" cy="0"/>
          </a:xfrm>
          <a:prstGeom prst="line">
            <a:avLst/>
          </a:prstGeom>
          <a:noFill/>
          <a:ln w="10160">
            <a:solidFill>
              <a:srgbClr val="E2E8F0"/>
            </a:solidFill>
            <a:prstDash val="solid"/>
          </a:ln>
        </p:spPr>
      </p:sp>
      <p:sp>
        <p:nvSpPr>
          <p:cNvPr id="20" name="Text 18"/>
          <p:cNvSpPr/>
          <p:nvPr/>
        </p:nvSpPr>
        <p:spPr>
          <a:xfrm>
            <a:off x="594360" y="3630168"/>
            <a:ext cx="3566160" cy="411480"/>
          </a:xfrm>
          <a:prstGeom prst="rect">
            <a:avLst/>
          </a:prstGeom>
          <a:noFill/>
          <a:ln/>
        </p:spPr>
        <p:txBody>
          <a:bodyPr wrap="square" lIns="0" tIns="0" rIns="0" bIns="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bin_clean = </a:t>
            </a:r>
            <a:pPr indent="0" marL="0">
              <a:buNone/>
            </a:pPr>
            <a:r>
              <a:rPr lang="en-US" sz="1500" b="1" dirty="0">
                <a:solidFill>
                  <a:srgbClr val="1A6FBF"/>
                </a:solidFill>
                <a:latin typeface="Courier New" pitchFamily="34" charset="0"/>
                <a:ea typeface="Courier New" pitchFamily="34" charset="-122"/>
                <a:cs typeface="Courier New" pitchFamily="34" charset="-120"/>
              </a:rPr>
              <a:t>456789</a:t>
            </a:r>
            <a:pPr indent="0" marL="0">
              <a:buNone/>
            </a:pPr>
            <a:r>
              <a:rPr lang="en-US" sz="1100" dirty="0">
                <a:solidFill>
                  <a:srgbClr val="8B9AB0"/>
                </a:solidFill>
                <a:latin typeface="Calibri" pitchFamily="34" charset="0"/>
                <a:ea typeface="Calibri" pitchFamily="34" charset="-122"/>
                <a:cs typeface="Calibri" pitchFamily="34" charset="-120"/>
              </a:rPr>
              <a:t>   bin_type = </a:t>
            </a:r>
            <a:pPr indent="0" marL="0">
              <a:buNone/>
            </a:pPr>
            <a:r>
              <a:rPr lang="en-US" sz="1500" b="1" dirty="0">
                <a:solidFill>
                  <a:srgbClr val="1A6FBF"/>
                </a:solidFill>
                <a:latin typeface="Calibri" pitchFamily="34" charset="0"/>
                <a:ea typeface="Calibri" pitchFamily="34" charset="-122"/>
                <a:cs typeface="Calibri" pitchFamily="34" charset="-120"/>
              </a:rPr>
              <a:t>6</a:t>
            </a:r>
            <a:endParaRPr lang="en-US" sz="1100" dirty="0"/>
          </a:p>
        </p:txBody>
      </p:sp>
      <p:sp>
        <p:nvSpPr>
          <p:cNvPr id="21" name="Shape 19"/>
          <p:cNvSpPr/>
          <p:nvPr/>
        </p:nvSpPr>
        <p:spPr>
          <a:xfrm>
            <a:off x="4846320" y="2011680"/>
            <a:ext cx="3931920" cy="2651760"/>
          </a:xfrm>
          <a:prstGeom prst="roundRect">
            <a:avLst>
              <a:gd name="adj" fmla="val 4138"/>
            </a:avLst>
          </a:prstGeom>
          <a:solidFill>
            <a:srgbClr val="FFFFFF"/>
          </a:solidFill>
          <a:ln w="19050">
            <a:solidFill>
              <a:srgbClr val="E85D04"/>
            </a:solidFill>
            <a:prstDash val="solid"/>
          </a:ln>
          <a:effectLst>
            <a:outerShdw sx="100000" sy="100000" kx="0" ky="0" algn="bl" rotWithShape="0" blurRad="127000" dist="25400" dir="5400000">
              <a:srgbClr val="000000">
                <a:alpha val="7000"/>
              </a:srgbClr>
            </a:outerShdw>
          </a:effectLst>
        </p:spPr>
      </p:sp>
      <p:sp>
        <p:nvSpPr>
          <p:cNvPr id="22" name="Shape 20"/>
          <p:cNvSpPr/>
          <p:nvPr/>
        </p:nvSpPr>
        <p:spPr>
          <a:xfrm>
            <a:off x="4846320" y="2011680"/>
            <a:ext cx="3931920" cy="402336"/>
          </a:xfrm>
          <a:prstGeom prst="roundRect">
            <a:avLst>
              <a:gd name="adj" fmla="val 27273"/>
            </a:avLst>
          </a:prstGeom>
          <a:solidFill>
            <a:srgbClr val="E85D04"/>
          </a:solidFill>
          <a:ln/>
        </p:spPr>
      </p:sp>
      <p:sp>
        <p:nvSpPr>
          <p:cNvPr id="23" name="Text 21"/>
          <p:cNvSpPr/>
          <p:nvPr/>
        </p:nvSpPr>
        <p:spPr>
          <a:xfrm>
            <a:off x="4846320" y="2011680"/>
            <a:ext cx="39319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CAS BIN 8</a:t>
            </a:r>
            <a:endParaRPr lang="en-US" sz="1200" dirty="0"/>
          </a:p>
        </p:txBody>
      </p:sp>
      <p:sp>
        <p:nvSpPr>
          <p:cNvPr id="24" name="Shape 22"/>
          <p:cNvSpPr/>
          <p:nvPr/>
        </p:nvSpPr>
        <p:spPr>
          <a:xfrm>
            <a:off x="5029200" y="2523744"/>
            <a:ext cx="3566160" cy="347472"/>
          </a:xfrm>
          <a:prstGeom prst="roundRect">
            <a:avLst>
              <a:gd name="adj" fmla="val 18421"/>
            </a:avLst>
          </a:prstGeom>
          <a:solidFill>
            <a:srgbClr val="F0F3F8"/>
          </a:solidFill>
          <a:ln/>
        </p:spPr>
      </p:sp>
      <p:sp>
        <p:nvSpPr>
          <p:cNvPr id="25" name="Text 23"/>
          <p:cNvSpPr/>
          <p:nvPr/>
        </p:nvSpPr>
        <p:spPr>
          <a:xfrm>
            <a:off x="5029200" y="2523744"/>
            <a:ext cx="3566160" cy="347472"/>
          </a:xfrm>
          <a:prstGeom prst="rect">
            <a:avLst/>
          </a:prstGeom>
          <a:noFill/>
          <a:ln/>
        </p:spPr>
        <p:txBody>
          <a:bodyPr wrap="square" lIns="101600" tIns="101600" rIns="101600" bIns="10160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Condition : </a:t>
            </a:r>
            <a:pPr indent="0" marL="0">
              <a:buNone/>
            </a:pPr>
            <a:r>
              <a:rPr lang="en-US" sz="1100" b="1" dirty="0">
                <a:solidFill>
                  <a:srgbClr val="0EA470"/>
                </a:solidFill>
                <a:latin typeface="Calibri" pitchFamily="34" charset="0"/>
                <a:ea typeface="Calibri" pitchFamily="34" charset="-122"/>
                <a:cs typeface="Calibri" pitchFamily="34" charset="-120"/>
              </a:rPr>
              <a:t>pos 7-8 ≠ 'XX'</a:t>
            </a:r>
            <a:endParaRPr lang="en-US" sz="1100" dirty="0"/>
          </a:p>
        </p:txBody>
      </p:sp>
      <p:sp>
        <p:nvSpPr>
          <p:cNvPr id="26" name="Text 24"/>
          <p:cNvSpPr/>
          <p:nvPr/>
        </p:nvSpPr>
        <p:spPr>
          <a:xfrm>
            <a:off x="5074920" y="2999232"/>
            <a:ext cx="914400" cy="237744"/>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Exemple</a:t>
            </a:r>
            <a:endParaRPr lang="en-US" sz="900" dirty="0"/>
          </a:p>
        </p:txBody>
      </p:sp>
      <p:sp>
        <p:nvSpPr>
          <p:cNvPr id="27" name="Text 25"/>
          <p:cNvSpPr/>
          <p:nvPr/>
        </p:nvSpPr>
        <p:spPr>
          <a:xfrm>
            <a:off x="5074920" y="3200400"/>
            <a:ext cx="3474720" cy="329184"/>
          </a:xfrm>
          <a:prstGeom prst="rect">
            <a:avLst/>
          </a:prstGeom>
          <a:noFill/>
          <a:ln/>
        </p:spPr>
        <p:txBody>
          <a:bodyPr wrap="square" lIns="0" tIns="0" rIns="0" bIns="0" rtlCol="0" anchor="ctr"/>
          <a:lstStyle/>
          <a:p>
            <a:pPr indent="0" marL="0">
              <a:buNone/>
            </a:pPr>
            <a:r>
              <a:rPr lang="en-US" sz="1400" b="1" dirty="0">
                <a:solidFill>
                  <a:srgbClr val="2D3748"/>
                </a:solidFill>
                <a:latin typeface="Courier New" pitchFamily="34" charset="0"/>
                <a:ea typeface="Courier New" pitchFamily="34" charset="-122"/>
                <a:cs typeface="Courier New" pitchFamily="34" charset="-120"/>
              </a:rPr>
              <a:t>4532 1099 8712</a:t>
            </a:r>
            <a:endParaRPr lang="en-US" sz="1400" dirty="0"/>
          </a:p>
        </p:txBody>
      </p:sp>
      <p:sp>
        <p:nvSpPr>
          <p:cNvPr id="28" name="Shape 26"/>
          <p:cNvSpPr/>
          <p:nvPr/>
        </p:nvSpPr>
        <p:spPr>
          <a:xfrm>
            <a:off x="5074920" y="3584448"/>
            <a:ext cx="3474720" cy="0"/>
          </a:xfrm>
          <a:prstGeom prst="line">
            <a:avLst/>
          </a:prstGeom>
          <a:noFill/>
          <a:ln w="10160">
            <a:solidFill>
              <a:srgbClr val="E2E8F0"/>
            </a:solidFill>
            <a:prstDash val="solid"/>
          </a:ln>
        </p:spPr>
      </p:sp>
      <p:sp>
        <p:nvSpPr>
          <p:cNvPr id="29" name="Text 27"/>
          <p:cNvSpPr/>
          <p:nvPr/>
        </p:nvSpPr>
        <p:spPr>
          <a:xfrm>
            <a:off x="5074920" y="3630168"/>
            <a:ext cx="3566160" cy="411480"/>
          </a:xfrm>
          <a:prstGeom prst="rect">
            <a:avLst/>
          </a:prstGeom>
          <a:noFill/>
          <a:ln/>
        </p:spPr>
        <p:txBody>
          <a:bodyPr wrap="square" lIns="0" tIns="0" rIns="0" bIns="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bin_clean = </a:t>
            </a:r>
            <a:pPr indent="0" marL="0">
              <a:buNone/>
            </a:pPr>
            <a:r>
              <a:rPr lang="en-US" sz="1500" b="1" dirty="0">
                <a:solidFill>
                  <a:srgbClr val="E85D04"/>
                </a:solidFill>
                <a:latin typeface="Courier New" pitchFamily="34" charset="0"/>
                <a:ea typeface="Courier New" pitchFamily="34" charset="-122"/>
                <a:cs typeface="Courier New" pitchFamily="34" charset="-120"/>
              </a:rPr>
              <a:t>45321099</a:t>
            </a:r>
            <a:pPr indent="0" marL="0">
              <a:buNone/>
            </a:pPr>
            <a:r>
              <a:rPr lang="en-US" sz="1100" dirty="0">
                <a:solidFill>
                  <a:srgbClr val="8B9AB0"/>
                </a:solidFill>
                <a:latin typeface="Calibri" pitchFamily="34" charset="0"/>
                <a:ea typeface="Calibri" pitchFamily="34" charset="-122"/>
                <a:cs typeface="Calibri" pitchFamily="34" charset="-120"/>
              </a:rPr>
              <a:t>   bin_type = </a:t>
            </a:r>
            <a:pPr indent="0" marL="0">
              <a:buNone/>
            </a:pPr>
            <a:r>
              <a:rPr lang="en-US" sz="1500" b="1" dirty="0">
                <a:solidFill>
                  <a:srgbClr val="E85D0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sp>
      <p:sp>
        <p:nvSpPr>
          <p:cNvPr id="3" name="Text 1"/>
          <p:cNvSpPr/>
          <p:nvPr/>
        </p:nvSpPr>
        <p:spPr>
          <a:xfrm>
            <a:off x="365760" y="182880"/>
            <a:ext cx="548640" cy="411480"/>
          </a:xfrm>
          <a:prstGeom prst="rect">
            <a:avLst/>
          </a:prstGeom>
          <a:noFill/>
          <a:ln/>
        </p:spPr>
        <p:txBody>
          <a:bodyPr wrap="square" lIns="0" tIns="0" rIns="0" bIns="0" rtlCol="0" anchor="ctr"/>
          <a:lstStyle/>
          <a:p>
            <a:pPr indent="0" marL="0">
              <a:buNone/>
            </a:pPr>
            <a:r>
              <a:rPr lang="en-US" sz="2800" b="1" dirty="0">
                <a:solidFill>
                  <a:srgbClr val="1A6FBF"/>
                </a:solidFill>
                <a:latin typeface="Calibri" pitchFamily="34" charset="0"/>
                <a:ea typeface="Calibri" pitchFamily="34" charset="-122"/>
                <a:cs typeface="Calibri" pitchFamily="34" charset="-120"/>
              </a:rPr>
              <a:t>02</a:t>
            </a:r>
            <a:endParaRPr lang="en-US" sz="2800" dirty="0"/>
          </a:p>
        </p:txBody>
      </p:sp>
      <p:sp>
        <p:nvSpPr>
          <p:cNvPr id="4" name="Shape 2"/>
          <p:cNvSpPr/>
          <p:nvPr/>
        </p:nvSpPr>
        <p:spPr>
          <a:xfrm>
            <a:off x="960120" y="384048"/>
            <a:ext cx="0" cy="201168"/>
          </a:xfrm>
          <a:prstGeom prst="line">
            <a:avLst/>
          </a:prstGeom>
          <a:noFill/>
          <a:ln w="19050">
            <a:solidFill>
              <a:srgbClr val="E2E8F0"/>
            </a:solidFill>
            <a:prstDash val="solid"/>
          </a:ln>
        </p:spPr>
      </p:sp>
      <p:sp>
        <p:nvSpPr>
          <p:cNvPr id="5" name="Text 3"/>
          <p:cNvSpPr/>
          <p:nvPr/>
        </p:nvSpPr>
        <p:spPr>
          <a:xfrm>
            <a:off x="1097280" y="201168"/>
            <a:ext cx="6400800" cy="384048"/>
          </a:xfrm>
          <a:prstGeom prst="rect">
            <a:avLst/>
          </a:prstGeom>
          <a:noFill/>
          <a:ln/>
        </p:spPr>
        <p:txBody>
          <a:bodyPr wrap="square" lIns="0" tIns="0" rIns="0" bIns="0" rtlCol="0" anchor="ctr"/>
          <a:lstStyle/>
          <a:p>
            <a:pPr indent="0" marL="0">
              <a:buNone/>
            </a:pPr>
            <a:r>
              <a:rPr lang="en-US" sz="2000" b="1" dirty="0">
                <a:solidFill>
                  <a:srgbClr val="2D3748"/>
                </a:solidFill>
                <a:latin typeface="Calibri" pitchFamily="34" charset="0"/>
                <a:ea typeface="Calibri" pitchFamily="34" charset="-122"/>
                <a:cs typeface="Calibri" pitchFamily="34" charset="-120"/>
              </a:rPr>
              <a:t>La Jointure BETWEEN</a:t>
            </a:r>
            <a:endParaRPr lang="en-US" sz="2000" dirty="0"/>
          </a:p>
        </p:txBody>
      </p:sp>
      <p:sp>
        <p:nvSpPr>
          <p:cNvPr id="6" name="Text 4"/>
          <p:cNvSpPr/>
          <p:nvPr/>
        </p:nvSpPr>
        <p:spPr>
          <a:xfrm>
            <a:off x="1097280" y="566928"/>
            <a:ext cx="7315200" cy="274320"/>
          </a:xfrm>
          <a:prstGeom prst="rect">
            <a:avLst/>
          </a:prstGeom>
          <a:noFill/>
          <a:ln/>
        </p:spPr>
        <p:txBody>
          <a:bodyPr wrap="square" lIns="0" tIns="0" rIns="0" bIns="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Pour chaque retrait, on cherche dans quelle plage BIN tombe le bin_clean — la plage donne la banque</a:t>
            </a:r>
            <a:endParaRPr lang="en-US" sz="1100" dirty="0"/>
          </a:p>
        </p:txBody>
      </p:sp>
      <p:sp>
        <p:nvSpPr>
          <p:cNvPr id="7" name="Shape 5"/>
          <p:cNvSpPr/>
          <p:nvPr/>
        </p:nvSpPr>
        <p:spPr>
          <a:xfrm>
            <a:off x="274320" y="960120"/>
            <a:ext cx="3108960" cy="3566160"/>
          </a:xfrm>
          <a:prstGeom prst="roundRect">
            <a:avLst>
              <a:gd name="adj" fmla="val 3529"/>
            </a:avLst>
          </a:prstGeom>
          <a:solidFill>
            <a:srgbClr val="FFFFFF"/>
          </a:solidFill>
          <a:ln w="12700">
            <a:solidFill>
              <a:srgbClr val="E2E8F0"/>
            </a:solidFill>
            <a:prstDash val="solid"/>
          </a:ln>
          <a:effectLst>
            <a:outerShdw sx="100000" sy="100000" kx="0" ky="0" algn="bl" rotWithShape="0" blurRad="127000" dist="25400" dir="5400000">
              <a:srgbClr val="000000">
                <a:alpha val="7000"/>
              </a:srgbClr>
            </a:outerShdw>
          </a:effectLst>
        </p:spPr>
      </p:sp>
      <p:sp>
        <p:nvSpPr>
          <p:cNvPr id="8" name="Shape 6"/>
          <p:cNvSpPr/>
          <p:nvPr/>
        </p:nvSpPr>
        <p:spPr>
          <a:xfrm>
            <a:off x="274320" y="960120"/>
            <a:ext cx="3108960" cy="402336"/>
          </a:xfrm>
          <a:prstGeom prst="roundRect">
            <a:avLst>
              <a:gd name="adj" fmla="val 27273"/>
            </a:avLst>
          </a:prstGeom>
          <a:solidFill>
            <a:srgbClr val="1A6FBF"/>
          </a:solidFill>
          <a:ln/>
        </p:spPr>
      </p:sp>
      <p:sp>
        <p:nvSpPr>
          <p:cNvPr id="9" name="Text 7"/>
          <p:cNvSpPr/>
          <p:nvPr/>
        </p:nvSpPr>
        <p:spPr>
          <a:xfrm>
            <a:off x="274320" y="960120"/>
            <a:ext cx="310896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TABLE RETRAITS</a:t>
            </a:r>
            <a:endParaRPr lang="en-US" sz="1100" dirty="0"/>
          </a:p>
        </p:txBody>
      </p:sp>
      <p:sp>
        <p:nvSpPr>
          <p:cNvPr id="10" name="Text 8"/>
          <p:cNvSpPr/>
          <p:nvPr/>
        </p:nvSpPr>
        <p:spPr>
          <a:xfrm>
            <a:off x="457200" y="1435608"/>
            <a:ext cx="164592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bin_clean</a:t>
            </a:r>
            <a:endParaRPr lang="en-US" sz="900" dirty="0"/>
          </a:p>
        </p:txBody>
      </p:sp>
      <p:sp>
        <p:nvSpPr>
          <p:cNvPr id="11" name="Text 9"/>
          <p:cNvSpPr/>
          <p:nvPr/>
        </p:nvSpPr>
        <p:spPr>
          <a:xfrm>
            <a:off x="2286000" y="1435608"/>
            <a:ext cx="822960" cy="256032"/>
          </a:xfrm>
          <a:prstGeom prst="rect">
            <a:avLst/>
          </a:prstGeom>
          <a:noFill/>
          <a:ln/>
        </p:spPr>
        <p:txBody>
          <a:bodyPr wrap="square" lIns="0" tIns="0" rIns="0" bIns="0" rtlCol="0" anchor="ctr"/>
          <a:lstStyle/>
          <a:p>
            <a:pPr algn="ctr" indent="0" marL="0">
              <a:buNone/>
            </a:pPr>
            <a:r>
              <a:rPr lang="en-US" sz="900" dirty="0">
                <a:solidFill>
                  <a:srgbClr val="8B9AB0"/>
                </a:solidFill>
                <a:latin typeface="Calibri" pitchFamily="34" charset="0"/>
                <a:ea typeface="Calibri" pitchFamily="34" charset="-122"/>
                <a:cs typeface="Calibri" pitchFamily="34" charset="-120"/>
              </a:rPr>
              <a:t>type</a:t>
            </a:r>
            <a:endParaRPr lang="en-US" sz="900" dirty="0"/>
          </a:p>
        </p:txBody>
      </p:sp>
      <p:sp>
        <p:nvSpPr>
          <p:cNvPr id="12" name="Shape 10"/>
          <p:cNvSpPr/>
          <p:nvPr/>
        </p:nvSpPr>
        <p:spPr>
          <a:xfrm>
            <a:off x="320040" y="1719072"/>
            <a:ext cx="3017520" cy="0"/>
          </a:xfrm>
          <a:prstGeom prst="line">
            <a:avLst/>
          </a:prstGeom>
          <a:noFill/>
          <a:ln w="10160">
            <a:solidFill>
              <a:srgbClr val="E2E8F0"/>
            </a:solidFill>
            <a:prstDash val="solid"/>
          </a:ln>
        </p:spPr>
      </p:sp>
      <p:sp>
        <p:nvSpPr>
          <p:cNvPr id="13" name="Shape 11"/>
          <p:cNvSpPr/>
          <p:nvPr/>
        </p:nvSpPr>
        <p:spPr>
          <a:xfrm>
            <a:off x="283464" y="1746504"/>
            <a:ext cx="3090672" cy="420624"/>
          </a:xfrm>
          <a:prstGeom prst="rect">
            <a:avLst/>
          </a:prstGeom>
          <a:solidFill>
            <a:srgbClr val="F0F3F8"/>
          </a:solidFill>
          <a:ln/>
        </p:spPr>
      </p:sp>
      <p:sp>
        <p:nvSpPr>
          <p:cNvPr id="14" name="Text 12"/>
          <p:cNvSpPr/>
          <p:nvPr/>
        </p:nvSpPr>
        <p:spPr>
          <a:xfrm>
            <a:off x="457200" y="1764792"/>
            <a:ext cx="1645920" cy="365760"/>
          </a:xfrm>
          <a:prstGeom prst="rect">
            <a:avLst/>
          </a:prstGeom>
          <a:noFill/>
          <a:ln/>
        </p:spPr>
        <p:txBody>
          <a:bodyPr wrap="square" lIns="0" tIns="0" rIns="0" bIns="0" rtlCol="0" anchor="ctr"/>
          <a:lstStyle/>
          <a:p>
            <a:pPr indent="0" marL="0">
              <a:buNone/>
            </a:pPr>
            <a:r>
              <a:rPr lang="en-US" sz="1100" b="1" dirty="0">
                <a:solidFill>
                  <a:srgbClr val="1A6FBF"/>
                </a:solidFill>
                <a:latin typeface="Courier New" pitchFamily="34" charset="0"/>
                <a:ea typeface="Courier New" pitchFamily="34" charset="-122"/>
                <a:cs typeface="Courier New" pitchFamily="34" charset="-120"/>
              </a:rPr>
              <a:t>456789</a:t>
            </a:r>
            <a:endParaRPr lang="en-US" sz="1100" dirty="0"/>
          </a:p>
        </p:txBody>
      </p:sp>
      <p:sp>
        <p:nvSpPr>
          <p:cNvPr id="15" name="Shape 13"/>
          <p:cNvSpPr/>
          <p:nvPr/>
        </p:nvSpPr>
        <p:spPr>
          <a:xfrm>
            <a:off x="2267712" y="1828800"/>
            <a:ext cx="402336" cy="237744"/>
          </a:xfrm>
          <a:prstGeom prst="roundRect">
            <a:avLst>
              <a:gd name="adj" fmla="val 38462"/>
            </a:avLst>
          </a:prstGeom>
          <a:solidFill>
            <a:srgbClr val="1A6FBF">
              <a:alpha val="15000"/>
            </a:srgbClr>
          </a:solidFill>
          <a:ln/>
        </p:spPr>
      </p:sp>
      <p:sp>
        <p:nvSpPr>
          <p:cNvPr id="16" name="Text 14"/>
          <p:cNvSpPr/>
          <p:nvPr/>
        </p:nvSpPr>
        <p:spPr>
          <a:xfrm>
            <a:off x="2267712" y="1828800"/>
            <a:ext cx="402336" cy="237744"/>
          </a:xfrm>
          <a:prstGeom prst="rect">
            <a:avLst/>
          </a:prstGeom>
          <a:noFill/>
          <a:ln/>
        </p:spPr>
        <p:txBody>
          <a:bodyPr wrap="square" lIns="0" tIns="0" rIns="0" bIns="0" rtlCol="0" anchor="ctr"/>
          <a:lstStyle/>
          <a:p>
            <a:pPr algn="ctr" indent="0" marL="0">
              <a:buNone/>
            </a:pPr>
            <a:r>
              <a:rPr lang="en-US" sz="1000" b="1" dirty="0">
                <a:solidFill>
                  <a:srgbClr val="1A6FBF"/>
                </a:solidFill>
                <a:latin typeface="Calibri" pitchFamily="34" charset="0"/>
                <a:ea typeface="Calibri" pitchFamily="34" charset="-122"/>
                <a:cs typeface="Calibri" pitchFamily="34" charset="-120"/>
              </a:rPr>
              <a:t>6</a:t>
            </a:r>
            <a:endParaRPr lang="en-US" sz="1000" dirty="0"/>
          </a:p>
        </p:txBody>
      </p:sp>
      <p:sp>
        <p:nvSpPr>
          <p:cNvPr id="17" name="Text 15"/>
          <p:cNvSpPr/>
          <p:nvPr/>
        </p:nvSpPr>
        <p:spPr>
          <a:xfrm>
            <a:off x="457200" y="2203704"/>
            <a:ext cx="1645920" cy="365760"/>
          </a:xfrm>
          <a:prstGeom prst="rect">
            <a:avLst/>
          </a:prstGeom>
          <a:noFill/>
          <a:ln/>
        </p:spPr>
        <p:txBody>
          <a:bodyPr wrap="square" lIns="0" tIns="0" rIns="0" bIns="0" rtlCol="0" anchor="ctr"/>
          <a:lstStyle/>
          <a:p>
            <a:pPr indent="0" marL="0">
              <a:buNone/>
            </a:pPr>
            <a:r>
              <a:rPr lang="en-US" sz="1100" b="1" dirty="0">
                <a:solidFill>
                  <a:srgbClr val="1A6FBF"/>
                </a:solidFill>
                <a:latin typeface="Courier New" pitchFamily="34" charset="0"/>
                <a:ea typeface="Courier New" pitchFamily="34" charset="-122"/>
                <a:cs typeface="Courier New" pitchFamily="34" charset="-120"/>
              </a:rPr>
              <a:t>513678</a:t>
            </a:r>
            <a:endParaRPr lang="en-US" sz="1100" dirty="0"/>
          </a:p>
        </p:txBody>
      </p:sp>
      <p:sp>
        <p:nvSpPr>
          <p:cNvPr id="18" name="Shape 16"/>
          <p:cNvSpPr/>
          <p:nvPr/>
        </p:nvSpPr>
        <p:spPr>
          <a:xfrm>
            <a:off x="2267712" y="2267712"/>
            <a:ext cx="402336" cy="237744"/>
          </a:xfrm>
          <a:prstGeom prst="roundRect">
            <a:avLst>
              <a:gd name="adj" fmla="val 38462"/>
            </a:avLst>
          </a:prstGeom>
          <a:solidFill>
            <a:srgbClr val="1A6FBF">
              <a:alpha val="15000"/>
            </a:srgbClr>
          </a:solidFill>
          <a:ln/>
        </p:spPr>
      </p:sp>
      <p:sp>
        <p:nvSpPr>
          <p:cNvPr id="19" name="Text 17"/>
          <p:cNvSpPr/>
          <p:nvPr/>
        </p:nvSpPr>
        <p:spPr>
          <a:xfrm>
            <a:off x="2267712" y="2267712"/>
            <a:ext cx="402336" cy="237744"/>
          </a:xfrm>
          <a:prstGeom prst="rect">
            <a:avLst/>
          </a:prstGeom>
          <a:noFill/>
          <a:ln/>
        </p:spPr>
        <p:txBody>
          <a:bodyPr wrap="square" lIns="0" tIns="0" rIns="0" bIns="0" rtlCol="0" anchor="ctr"/>
          <a:lstStyle/>
          <a:p>
            <a:pPr algn="ctr" indent="0" marL="0">
              <a:buNone/>
            </a:pPr>
            <a:r>
              <a:rPr lang="en-US" sz="1000" b="1" dirty="0">
                <a:solidFill>
                  <a:srgbClr val="1A6FBF"/>
                </a:solidFill>
                <a:latin typeface="Calibri" pitchFamily="34" charset="0"/>
                <a:ea typeface="Calibri" pitchFamily="34" charset="-122"/>
                <a:cs typeface="Calibri" pitchFamily="34" charset="-120"/>
              </a:rPr>
              <a:t>6</a:t>
            </a:r>
            <a:endParaRPr lang="en-US" sz="1000" dirty="0"/>
          </a:p>
        </p:txBody>
      </p:sp>
      <p:sp>
        <p:nvSpPr>
          <p:cNvPr id="20" name="Shape 18"/>
          <p:cNvSpPr/>
          <p:nvPr/>
        </p:nvSpPr>
        <p:spPr>
          <a:xfrm>
            <a:off x="283464" y="2624328"/>
            <a:ext cx="3090672" cy="420624"/>
          </a:xfrm>
          <a:prstGeom prst="rect">
            <a:avLst/>
          </a:prstGeom>
          <a:solidFill>
            <a:srgbClr val="F0F3F8"/>
          </a:solidFill>
          <a:ln/>
        </p:spPr>
      </p:sp>
      <p:sp>
        <p:nvSpPr>
          <p:cNvPr id="21" name="Text 19"/>
          <p:cNvSpPr/>
          <p:nvPr/>
        </p:nvSpPr>
        <p:spPr>
          <a:xfrm>
            <a:off x="457200" y="2642616"/>
            <a:ext cx="1645920" cy="365760"/>
          </a:xfrm>
          <a:prstGeom prst="rect">
            <a:avLst/>
          </a:prstGeom>
          <a:noFill/>
          <a:ln/>
        </p:spPr>
        <p:txBody>
          <a:bodyPr wrap="square" lIns="0" tIns="0" rIns="0" bIns="0" rtlCol="0" anchor="ctr"/>
          <a:lstStyle/>
          <a:p>
            <a:pPr indent="0" marL="0">
              <a:buNone/>
            </a:pPr>
            <a:r>
              <a:rPr lang="en-US" sz="1100" b="1" dirty="0">
                <a:solidFill>
                  <a:srgbClr val="E85D04"/>
                </a:solidFill>
                <a:latin typeface="Courier New" pitchFamily="34" charset="0"/>
                <a:ea typeface="Courier New" pitchFamily="34" charset="-122"/>
                <a:cs typeface="Courier New" pitchFamily="34" charset="-120"/>
              </a:rPr>
              <a:t>45321099</a:t>
            </a:r>
            <a:endParaRPr lang="en-US" sz="1100" dirty="0"/>
          </a:p>
        </p:txBody>
      </p:sp>
      <p:sp>
        <p:nvSpPr>
          <p:cNvPr id="22" name="Shape 20"/>
          <p:cNvSpPr/>
          <p:nvPr/>
        </p:nvSpPr>
        <p:spPr>
          <a:xfrm>
            <a:off x="2267712" y="2706624"/>
            <a:ext cx="402336" cy="237744"/>
          </a:xfrm>
          <a:prstGeom prst="roundRect">
            <a:avLst>
              <a:gd name="adj" fmla="val 38462"/>
            </a:avLst>
          </a:prstGeom>
          <a:solidFill>
            <a:srgbClr val="E85D04">
              <a:alpha val="15000"/>
            </a:srgbClr>
          </a:solidFill>
          <a:ln/>
        </p:spPr>
      </p:sp>
      <p:sp>
        <p:nvSpPr>
          <p:cNvPr id="23" name="Text 21"/>
          <p:cNvSpPr/>
          <p:nvPr/>
        </p:nvSpPr>
        <p:spPr>
          <a:xfrm>
            <a:off x="2267712" y="2706624"/>
            <a:ext cx="402336" cy="237744"/>
          </a:xfrm>
          <a:prstGeom prst="rect">
            <a:avLst/>
          </a:prstGeom>
          <a:noFill/>
          <a:ln/>
        </p:spPr>
        <p:txBody>
          <a:bodyPr wrap="square" lIns="0" tIns="0" rIns="0" bIns="0" rtlCol="0" anchor="ctr"/>
          <a:lstStyle/>
          <a:p>
            <a:pPr algn="ctr" indent="0" marL="0">
              <a:buNone/>
            </a:pPr>
            <a:r>
              <a:rPr lang="en-US" sz="1000" b="1" dirty="0">
                <a:solidFill>
                  <a:srgbClr val="E85D04"/>
                </a:solidFill>
                <a:latin typeface="Calibri" pitchFamily="34" charset="0"/>
                <a:ea typeface="Calibri" pitchFamily="34" charset="-122"/>
                <a:cs typeface="Calibri" pitchFamily="34" charset="-120"/>
              </a:rPr>
              <a:t>8</a:t>
            </a:r>
            <a:endParaRPr lang="en-US" sz="1000" dirty="0"/>
          </a:p>
        </p:txBody>
      </p:sp>
      <p:sp>
        <p:nvSpPr>
          <p:cNvPr id="24" name="Text 22"/>
          <p:cNvSpPr/>
          <p:nvPr/>
        </p:nvSpPr>
        <p:spPr>
          <a:xfrm>
            <a:off x="457200" y="3081528"/>
            <a:ext cx="1645920" cy="365760"/>
          </a:xfrm>
          <a:prstGeom prst="rect">
            <a:avLst/>
          </a:prstGeom>
          <a:noFill/>
          <a:ln/>
        </p:spPr>
        <p:txBody>
          <a:bodyPr wrap="square" lIns="0" tIns="0" rIns="0" bIns="0" rtlCol="0" anchor="ctr"/>
          <a:lstStyle/>
          <a:p>
            <a:pPr indent="0" marL="0">
              <a:buNone/>
            </a:pPr>
            <a:r>
              <a:rPr lang="en-US" sz="1100" b="1" dirty="0">
                <a:solidFill>
                  <a:srgbClr val="1A6FBF"/>
                </a:solidFill>
                <a:latin typeface="Courier New" pitchFamily="34" charset="0"/>
                <a:ea typeface="Courier New" pitchFamily="34" charset="-122"/>
                <a:cs typeface="Courier New" pitchFamily="34" charset="-120"/>
              </a:rPr>
              <a:t>411122</a:t>
            </a:r>
            <a:endParaRPr lang="en-US" sz="1100" dirty="0"/>
          </a:p>
        </p:txBody>
      </p:sp>
      <p:sp>
        <p:nvSpPr>
          <p:cNvPr id="25" name="Shape 23"/>
          <p:cNvSpPr/>
          <p:nvPr/>
        </p:nvSpPr>
        <p:spPr>
          <a:xfrm>
            <a:off x="2267712" y="3145536"/>
            <a:ext cx="402336" cy="237744"/>
          </a:xfrm>
          <a:prstGeom prst="roundRect">
            <a:avLst>
              <a:gd name="adj" fmla="val 38462"/>
            </a:avLst>
          </a:prstGeom>
          <a:solidFill>
            <a:srgbClr val="1A6FBF">
              <a:alpha val="15000"/>
            </a:srgbClr>
          </a:solidFill>
          <a:ln/>
        </p:spPr>
      </p:sp>
      <p:sp>
        <p:nvSpPr>
          <p:cNvPr id="26" name="Text 24"/>
          <p:cNvSpPr/>
          <p:nvPr/>
        </p:nvSpPr>
        <p:spPr>
          <a:xfrm>
            <a:off x="2267712" y="3145536"/>
            <a:ext cx="402336" cy="237744"/>
          </a:xfrm>
          <a:prstGeom prst="rect">
            <a:avLst/>
          </a:prstGeom>
          <a:noFill/>
          <a:ln/>
        </p:spPr>
        <p:txBody>
          <a:bodyPr wrap="square" lIns="0" tIns="0" rIns="0" bIns="0" rtlCol="0" anchor="ctr"/>
          <a:lstStyle/>
          <a:p>
            <a:pPr algn="ctr" indent="0" marL="0">
              <a:buNone/>
            </a:pPr>
            <a:r>
              <a:rPr lang="en-US" sz="1000" b="1" dirty="0">
                <a:solidFill>
                  <a:srgbClr val="1A6FBF"/>
                </a:solidFill>
                <a:latin typeface="Calibri" pitchFamily="34" charset="0"/>
                <a:ea typeface="Calibri" pitchFamily="34" charset="-122"/>
                <a:cs typeface="Calibri" pitchFamily="34" charset="-120"/>
              </a:rPr>
              <a:t>6</a:t>
            </a:r>
            <a:endParaRPr lang="en-US" sz="1000" dirty="0"/>
          </a:p>
        </p:txBody>
      </p:sp>
      <p:sp>
        <p:nvSpPr>
          <p:cNvPr id="27" name="Shape 25"/>
          <p:cNvSpPr/>
          <p:nvPr/>
        </p:nvSpPr>
        <p:spPr>
          <a:xfrm>
            <a:off x="283464" y="3502152"/>
            <a:ext cx="3090672" cy="420624"/>
          </a:xfrm>
          <a:prstGeom prst="rect">
            <a:avLst/>
          </a:prstGeom>
          <a:solidFill>
            <a:srgbClr val="F0F3F8"/>
          </a:solidFill>
          <a:ln/>
        </p:spPr>
      </p:sp>
      <p:sp>
        <p:nvSpPr>
          <p:cNvPr id="28" name="Text 26"/>
          <p:cNvSpPr/>
          <p:nvPr/>
        </p:nvSpPr>
        <p:spPr>
          <a:xfrm>
            <a:off x="457200" y="3520440"/>
            <a:ext cx="1645920" cy="365760"/>
          </a:xfrm>
          <a:prstGeom prst="rect">
            <a:avLst/>
          </a:prstGeom>
          <a:noFill/>
          <a:ln/>
        </p:spPr>
        <p:txBody>
          <a:bodyPr wrap="square" lIns="0" tIns="0" rIns="0" bIns="0" rtlCol="0" anchor="ctr"/>
          <a:lstStyle/>
          <a:p>
            <a:pPr indent="0" marL="0">
              <a:buNone/>
            </a:pPr>
            <a:r>
              <a:rPr lang="en-US" sz="1100" b="1" dirty="0">
                <a:solidFill>
                  <a:srgbClr val="E85D04"/>
                </a:solidFill>
                <a:latin typeface="Courier New" pitchFamily="34" charset="0"/>
                <a:ea typeface="Courier New" pitchFamily="34" charset="-122"/>
                <a:cs typeface="Courier New" pitchFamily="34" charset="-120"/>
              </a:rPr>
              <a:t>55556677</a:t>
            </a:r>
            <a:endParaRPr lang="en-US" sz="1100" dirty="0"/>
          </a:p>
        </p:txBody>
      </p:sp>
      <p:sp>
        <p:nvSpPr>
          <p:cNvPr id="29" name="Shape 27"/>
          <p:cNvSpPr/>
          <p:nvPr/>
        </p:nvSpPr>
        <p:spPr>
          <a:xfrm>
            <a:off x="2267712" y="3584448"/>
            <a:ext cx="402336" cy="237744"/>
          </a:xfrm>
          <a:prstGeom prst="roundRect">
            <a:avLst>
              <a:gd name="adj" fmla="val 38462"/>
            </a:avLst>
          </a:prstGeom>
          <a:solidFill>
            <a:srgbClr val="E85D04">
              <a:alpha val="15000"/>
            </a:srgbClr>
          </a:solidFill>
          <a:ln/>
        </p:spPr>
      </p:sp>
      <p:sp>
        <p:nvSpPr>
          <p:cNvPr id="30" name="Text 28"/>
          <p:cNvSpPr/>
          <p:nvPr/>
        </p:nvSpPr>
        <p:spPr>
          <a:xfrm>
            <a:off x="2267712" y="3584448"/>
            <a:ext cx="402336" cy="237744"/>
          </a:xfrm>
          <a:prstGeom prst="rect">
            <a:avLst/>
          </a:prstGeom>
          <a:noFill/>
          <a:ln/>
        </p:spPr>
        <p:txBody>
          <a:bodyPr wrap="square" lIns="0" tIns="0" rIns="0" bIns="0" rtlCol="0" anchor="ctr"/>
          <a:lstStyle/>
          <a:p>
            <a:pPr algn="ctr" indent="0" marL="0">
              <a:buNone/>
            </a:pPr>
            <a:r>
              <a:rPr lang="en-US" sz="1000" b="1" dirty="0">
                <a:solidFill>
                  <a:srgbClr val="E85D04"/>
                </a:solidFill>
                <a:latin typeface="Calibri" pitchFamily="34" charset="0"/>
                <a:ea typeface="Calibri" pitchFamily="34" charset="-122"/>
                <a:cs typeface="Calibri" pitchFamily="34" charset="-120"/>
              </a:rPr>
              <a:t>8</a:t>
            </a:r>
            <a:endParaRPr lang="en-US" sz="1000" dirty="0"/>
          </a:p>
        </p:txBody>
      </p:sp>
      <p:sp>
        <p:nvSpPr>
          <p:cNvPr id="31" name="Shape 29"/>
          <p:cNvSpPr/>
          <p:nvPr/>
        </p:nvSpPr>
        <p:spPr>
          <a:xfrm>
            <a:off x="5760720" y="960120"/>
            <a:ext cx="3108960" cy="3566160"/>
          </a:xfrm>
          <a:prstGeom prst="roundRect">
            <a:avLst>
              <a:gd name="adj" fmla="val 3529"/>
            </a:avLst>
          </a:prstGeom>
          <a:solidFill>
            <a:srgbClr val="FFFFFF"/>
          </a:solidFill>
          <a:ln w="12700">
            <a:solidFill>
              <a:srgbClr val="E2E8F0"/>
            </a:solidFill>
            <a:prstDash val="solid"/>
          </a:ln>
          <a:effectLst>
            <a:outerShdw sx="100000" sy="100000" kx="0" ky="0" algn="bl" rotWithShape="0" blurRad="127000" dist="25400" dir="5400000">
              <a:srgbClr val="000000">
                <a:alpha val="7000"/>
              </a:srgbClr>
            </a:outerShdw>
          </a:effectLst>
        </p:spPr>
      </p:sp>
      <p:sp>
        <p:nvSpPr>
          <p:cNvPr id="32" name="Shape 30"/>
          <p:cNvSpPr/>
          <p:nvPr/>
        </p:nvSpPr>
        <p:spPr>
          <a:xfrm>
            <a:off x="5760720" y="960120"/>
            <a:ext cx="3108960" cy="402336"/>
          </a:xfrm>
          <a:prstGeom prst="roundRect">
            <a:avLst>
              <a:gd name="adj" fmla="val 27273"/>
            </a:avLst>
          </a:prstGeom>
          <a:solidFill>
            <a:srgbClr val="E85D04"/>
          </a:solidFill>
          <a:ln/>
        </p:spPr>
      </p:sp>
      <p:sp>
        <p:nvSpPr>
          <p:cNvPr id="33" name="Text 31"/>
          <p:cNvSpPr/>
          <p:nvPr/>
        </p:nvSpPr>
        <p:spPr>
          <a:xfrm>
            <a:off x="5760720" y="960120"/>
            <a:ext cx="310896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TABLE BINs</a:t>
            </a:r>
            <a:endParaRPr lang="en-US" sz="1100" dirty="0"/>
          </a:p>
        </p:txBody>
      </p:sp>
      <p:sp>
        <p:nvSpPr>
          <p:cNvPr id="34" name="Text 32"/>
          <p:cNvSpPr/>
          <p:nvPr/>
        </p:nvSpPr>
        <p:spPr>
          <a:xfrm>
            <a:off x="5870448" y="1435608"/>
            <a:ext cx="841248"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bin_min</a:t>
            </a:r>
            <a:endParaRPr lang="en-US" sz="900" dirty="0"/>
          </a:p>
        </p:txBody>
      </p:sp>
      <p:sp>
        <p:nvSpPr>
          <p:cNvPr id="35" name="Text 33"/>
          <p:cNvSpPr/>
          <p:nvPr/>
        </p:nvSpPr>
        <p:spPr>
          <a:xfrm>
            <a:off x="6748272" y="1435608"/>
            <a:ext cx="841248"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bin_max</a:t>
            </a:r>
            <a:endParaRPr lang="en-US" sz="900" dirty="0"/>
          </a:p>
        </p:txBody>
      </p:sp>
      <p:sp>
        <p:nvSpPr>
          <p:cNvPr id="36" name="Text 34"/>
          <p:cNvSpPr/>
          <p:nvPr/>
        </p:nvSpPr>
        <p:spPr>
          <a:xfrm>
            <a:off x="7662672" y="1435608"/>
            <a:ext cx="100584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banque</a:t>
            </a:r>
            <a:endParaRPr lang="en-US" sz="900" dirty="0"/>
          </a:p>
        </p:txBody>
      </p:sp>
      <p:sp>
        <p:nvSpPr>
          <p:cNvPr id="37" name="Shape 35"/>
          <p:cNvSpPr/>
          <p:nvPr/>
        </p:nvSpPr>
        <p:spPr>
          <a:xfrm>
            <a:off x="5788152" y="1719072"/>
            <a:ext cx="3054096" cy="0"/>
          </a:xfrm>
          <a:prstGeom prst="line">
            <a:avLst/>
          </a:prstGeom>
          <a:noFill/>
          <a:ln w="10160">
            <a:solidFill>
              <a:srgbClr val="E2E8F0"/>
            </a:solidFill>
            <a:prstDash val="solid"/>
          </a:ln>
        </p:spPr>
      </p:sp>
      <p:sp>
        <p:nvSpPr>
          <p:cNvPr id="38" name="Shape 36"/>
          <p:cNvSpPr/>
          <p:nvPr/>
        </p:nvSpPr>
        <p:spPr>
          <a:xfrm>
            <a:off x="5769864" y="1746504"/>
            <a:ext cx="3090672" cy="420624"/>
          </a:xfrm>
          <a:prstGeom prst="rect">
            <a:avLst/>
          </a:prstGeom>
          <a:solidFill>
            <a:srgbClr val="F0F3F8"/>
          </a:solidFill>
          <a:ln/>
        </p:spPr>
      </p:sp>
      <p:sp>
        <p:nvSpPr>
          <p:cNvPr id="39" name="Text 37"/>
          <p:cNvSpPr/>
          <p:nvPr/>
        </p:nvSpPr>
        <p:spPr>
          <a:xfrm>
            <a:off x="5870448" y="1764792"/>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456780</a:t>
            </a:r>
            <a:endParaRPr lang="en-US" sz="900" dirty="0"/>
          </a:p>
        </p:txBody>
      </p:sp>
      <p:sp>
        <p:nvSpPr>
          <p:cNvPr id="40" name="Text 38"/>
          <p:cNvSpPr/>
          <p:nvPr/>
        </p:nvSpPr>
        <p:spPr>
          <a:xfrm>
            <a:off x="6748272" y="1764792"/>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456799</a:t>
            </a:r>
            <a:endParaRPr lang="en-US" sz="900" dirty="0"/>
          </a:p>
        </p:txBody>
      </p:sp>
      <p:sp>
        <p:nvSpPr>
          <p:cNvPr id="41" name="Text 39"/>
          <p:cNvSpPr/>
          <p:nvPr/>
        </p:nvSpPr>
        <p:spPr>
          <a:xfrm>
            <a:off x="7662672" y="1764792"/>
            <a:ext cx="1005840" cy="365760"/>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CIC</a:t>
            </a:r>
            <a:endParaRPr lang="en-US" sz="1100" dirty="0"/>
          </a:p>
        </p:txBody>
      </p:sp>
      <p:sp>
        <p:nvSpPr>
          <p:cNvPr id="42" name="Text 40"/>
          <p:cNvSpPr/>
          <p:nvPr/>
        </p:nvSpPr>
        <p:spPr>
          <a:xfrm>
            <a:off x="5870448" y="2203704"/>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513670</a:t>
            </a:r>
            <a:endParaRPr lang="en-US" sz="900" dirty="0"/>
          </a:p>
        </p:txBody>
      </p:sp>
      <p:sp>
        <p:nvSpPr>
          <p:cNvPr id="43" name="Text 41"/>
          <p:cNvSpPr/>
          <p:nvPr/>
        </p:nvSpPr>
        <p:spPr>
          <a:xfrm>
            <a:off x="6748272" y="2203704"/>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513689</a:t>
            </a:r>
            <a:endParaRPr lang="en-US" sz="900" dirty="0"/>
          </a:p>
        </p:txBody>
      </p:sp>
      <p:sp>
        <p:nvSpPr>
          <p:cNvPr id="44" name="Text 42"/>
          <p:cNvSpPr/>
          <p:nvPr/>
        </p:nvSpPr>
        <p:spPr>
          <a:xfrm>
            <a:off x="7662672" y="2203704"/>
            <a:ext cx="1005840" cy="365760"/>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BNP</a:t>
            </a:r>
            <a:endParaRPr lang="en-US" sz="1100" dirty="0"/>
          </a:p>
        </p:txBody>
      </p:sp>
      <p:sp>
        <p:nvSpPr>
          <p:cNvPr id="45" name="Shape 43"/>
          <p:cNvSpPr/>
          <p:nvPr/>
        </p:nvSpPr>
        <p:spPr>
          <a:xfrm>
            <a:off x="5769864" y="2624328"/>
            <a:ext cx="3090672" cy="420624"/>
          </a:xfrm>
          <a:prstGeom prst="rect">
            <a:avLst/>
          </a:prstGeom>
          <a:solidFill>
            <a:srgbClr val="F0F3F8"/>
          </a:solidFill>
          <a:ln/>
        </p:spPr>
      </p:sp>
      <p:sp>
        <p:nvSpPr>
          <p:cNvPr id="46" name="Text 44"/>
          <p:cNvSpPr/>
          <p:nvPr/>
        </p:nvSpPr>
        <p:spPr>
          <a:xfrm>
            <a:off x="5870448" y="2642616"/>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45321090</a:t>
            </a:r>
            <a:endParaRPr lang="en-US" sz="900" dirty="0"/>
          </a:p>
        </p:txBody>
      </p:sp>
      <p:sp>
        <p:nvSpPr>
          <p:cNvPr id="47" name="Text 45"/>
          <p:cNvSpPr/>
          <p:nvPr/>
        </p:nvSpPr>
        <p:spPr>
          <a:xfrm>
            <a:off x="6748272" y="2642616"/>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45321110</a:t>
            </a:r>
            <a:endParaRPr lang="en-US" sz="900" dirty="0"/>
          </a:p>
        </p:txBody>
      </p:sp>
      <p:sp>
        <p:nvSpPr>
          <p:cNvPr id="48" name="Text 46"/>
          <p:cNvSpPr/>
          <p:nvPr/>
        </p:nvSpPr>
        <p:spPr>
          <a:xfrm>
            <a:off x="7662672" y="2642616"/>
            <a:ext cx="1005840" cy="365760"/>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SG</a:t>
            </a:r>
            <a:endParaRPr lang="en-US" sz="1100" dirty="0"/>
          </a:p>
        </p:txBody>
      </p:sp>
      <p:sp>
        <p:nvSpPr>
          <p:cNvPr id="49" name="Text 47"/>
          <p:cNvSpPr/>
          <p:nvPr/>
        </p:nvSpPr>
        <p:spPr>
          <a:xfrm>
            <a:off x="5870448" y="3081528"/>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411100</a:t>
            </a:r>
            <a:endParaRPr lang="en-US" sz="900" dirty="0"/>
          </a:p>
        </p:txBody>
      </p:sp>
      <p:sp>
        <p:nvSpPr>
          <p:cNvPr id="50" name="Text 48"/>
          <p:cNvSpPr/>
          <p:nvPr/>
        </p:nvSpPr>
        <p:spPr>
          <a:xfrm>
            <a:off x="6748272" y="3081528"/>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411199</a:t>
            </a:r>
            <a:endParaRPr lang="en-US" sz="900" dirty="0"/>
          </a:p>
        </p:txBody>
      </p:sp>
      <p:sp>
        <p:nvSpPr>
          <p:cNvPr id="51" name="Text 49"/>
          <p:cNvSpPr/>
          <p:nvPr/>
        </p:nvSpPr>
        <p:spPr>
          <a:xfrm>
            <a:off x="7662672" y="3081528"/>
            <a:ext cx="1005840" cy="36576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LBP</a:t>
            </a:r>
            <a:endParaRPr lang="en-US" sz="1100" dirty="0"/>
          </a:p>
        </p:txBody>
      </p:sp>
      <p:sp>
        <p:nvSpPr>
          <p:cNvPr id="52" name="Shape 50"/>
          <p:cNvSpPr/>
          <p:nvPr/>
        </p:nvSpPr>
        <p:spPr>
          <a:xfrm>
            <a:off x="5769864" y="3502152"/>
            <a:ext cx="3090672" cy="420624"/>
          </a:xfrm>
          <a:prstGeom prst="rect">
            <a:avLst/>
          </a:prstGeom>
          <a:solidFill>
            <a:srgbClr val="F0F3F8"/>
          </a:solidFill>
          <a:ln/>
        </p:spPr>
      </p:sp>
      <p:sp>
        <p:nvSpPr>
          <p:cNvPr id="53" name="Text 51"/>
          <p:cNvSpPr/>
          <p:nvPr/>
        </p:nvSpPr>
        <p:spPr>
          <a:xfrm>
            <a:off x="5870448" y="3520440"/>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55556670</a:t>
            </a:r>
            <a:endParaRPr lang="en-US" sz="900" dirty="0"/>
          </a:p>
        </p:txBody>
      </p:sp>
      <p:sp>
        <p:nvSpPr>
          <p:cNvPr id="54" name="Text 52"/>
          <p:cNvSpPr/>
          <p:nvPr/>
        </p:nvSpPr>
        <p:spPr>
          <a:xfrm>
            <a:off x="6748272" y="3520440"/>
            <a:ext cx="841248" cy="365760"/>
          </a:xfrm>
          <a:prstGeom prst="rect">
            <a:avLst/>
          </a:prstGeom>
          <a:noFill/>
          <a:ln/>
        </p:spPr>
        <p:txBody>
          <a:bodyPr wrap="square" lIns="0" tIns="0" rIns="0" bIns="0" rtlCol="0" anchor="ctr"/>
          <a:lstStyle/>
          <a:p>
            <a:pPr indent="0" marL="0">
              <a:buNone/>
            </a:pPr>
            <a:r>
              <a:rPr lang="en-US" sz="900" dirty="0">
                <a:solidFill>
                  <a:srgbClr val="8B9AB0"/>
                </a:solidFill>
                <a:latin typeface="Courier New" pitchFamily="34" charset="0"/>
                <a:ea typeface="Courier New" pitchFamily="34" charset="-122"/>
                <a:cs typeface="Courier New" pitchFamily="34" charset="-120"/>
              </a:rPr>
              <a:t>55556699</a:t>
            </a:r>
            <a:endParaRPr lang="en-US" sz="900" dirty="0"/>
          </a:p>
        </p:txBody>
      </p:sp>
      <p:sp>
        <p:nvSpPr>
          <p:cNvPr id="55" name="Text 53"/>
          <p:cNvSpPr/>
          <p:nvPr/>
        </p:nvSpPr>
        <p:spPr>
          <a:xfrm>
            <a:off x="7662672" y="3520440"/>
            <a:ext cx="1005840" cy="365760"/>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CA</a:t>
            </a:r>
            <a:endParaRPr lang="en-US" sz="1100" dirty="0"/>
          </a:p>
        </p:txBody>
      </p:sp>
      <p:sp>
        <p:nvSpPr>
          <p:cNvPr id="56" name="Shape 54"/>
          <p:cNvSpPr/>
          <p:nvPr/>
        </p:nvSpPr>
        <p:spPr>
          <a:xfrm>
            <a:off x="3383280" y="1947672"/>
            <a:ext cx="2377440" cy="0"/>
          </a:xfrm>
          <a:prstGeom prst="line">
            <a:avLst/>
          </a:prstGeom>
          <a:noFill/>
          <a:ln w="15240">
            <a:solidFill>
              <a:srgbClr val="0EA470"/>
            </a:solidFill>
            <a:prstDash val="solid"/>
          </a:ln>
        </p:spPr>
      </p:sp>
      <p:sp>
        <p:nvSpPr>
          <p:cNvPr id="57" name="Shape 55"/>
          <p:cNvSpPr/>
          <p:nvPr/>
        </p:nvSpPr>
        <p:spPr>
          <a:xfrm>
            <a:off x="5650992" y="1865376"/>
            <a:ext cx="128016" cy="82296"/>
          </a:xfrm>
          <a:prstGeom prst="line">
            <a:avLst/>
          </a:prstGeom>
          <a:noFill/>
          <a:ln w="15240">
            <a:solidFill>
              <a:srgbClr val="0EA470"/>
            </a:solidFill>
            <a:prstDash val="solid"/>
          </a:ln>
        </p:spPr>
      </p:sp>
      <p:sp>
        <p:nvSpPr>
          <p:cNvPr id="58" name="Shape 56"/>
          <p:cNvSpPr/>
          <p:nvPr/>
        </p:nvSpPr>
        <p:spPr>
          <a:xfrm>
            <a:off x="5650992" y="1947672"/>
            <a:ext cx="128016" cy="82296"/>
          </a:xfrm>
          <a:prstGeom prst="line">
            <a:avLst/>
          </a:prstGeom>
          <a:noFill/>
          <a:ln w="15240">
            <a:solidFill>
              <a:srgbClr val="0EA470"/>
            </a:solidFill>
            <a:prstDash val="solid"/>
          </a:ln>
        </p:spPr>
      </p:sp>
      <p:sp>
        <p:nvSpPr>
          <p:cNvPr id="59" name="Shape 57"/>
          <p:cNvSpPr/>
          <p:nvPr/>
        </p:nvSpPr>
        <p:spPr>
          <a:xfrm>
            <a:off x="3383280" y="2386584"/>
            <a:ext cx="2377440" cy="0"/>
          </a:xfrm>
          <a:prstGeom prst="line">
            <a:avLst/>
          </a:prstGeom>
          <a:noFill/>
          <a:ln w="15240">
            <a:solidFill>
              <a:srgbClr val="0EA470"/>
            </a:solidFill>
            <a:prstDash val="solid"/>
          </a:ln>
        </p:spPr>
      </p:sp>
      <p:sp>
        <p:nvSpPr>
          <p:cNvPr id="60" name="Shape 58"/>
          <p:cNvSpPr/>
          <p:nvPr/>
        </p:nvSpPr>
        <p:spPr>
          <a:xfrm>
            <a:off x="5650992" y="2304288"/>
            <a:ext cx="128016" cy="82296"/>
          </a:xfrm>
          <a:prstGeom prst="line">
            <a:avLst/>
          </a:prstGeom>
          <a:noFill/>
          <a:ln w="15240">
            <a:solidFill>
              <a:srgbClr val="0EA470"/>
            </a:solidFill>
            <a:prstDash val="solid"/>
          </a:ln>
        </p:spPr>
      </p:sp>
      <p:sp>
        <p:nvSpPr>
          <p:cNvPr id="61" name="Shape 59"/>
          <p:cNvSpPr/>
          <p:nvPr/>
        </p:nvSpPr>
        <p:spPr>
          <a:xfrm>
            <a:off x="5650992" y="2386584"/>
            <a:ext cx="128016" cy="82296"/>
          </a:xfrm>
          <a:prstGeom prst="line">
            <a:avLst/>
          </a:prstGeom>
          <a:noFill/>
          <a:ln w="15240">
            <a:solidFill>
              <a:srgbClr val="0EA470"/>
            </a:solidFill>
            <a:prstDash val="solid"/>
          </a:ln>
        </p:spPr>
      </p:sp>
      <p:sp>
        <p:nvSpPr>
          <p:cNvPr id="62" name="Shape 60"/>
          <p:cNvSpPr/>
          <p:nvPr/>
        </p:nvSpPr>
        <p:spPr>
          <a:xfrm>
            <a:off x="3383280" y="2825496"/>
            <a:ext cx="2377440" cy="0"/>
          </a:xfrm>
          <a:prstGeom prst="line">
            <a:avLst/>
          </a:prstGeom>
          <a:noFill/>
          <a:ln w="15240">
            <a:solidFill>
              <a:srgbClr val="0EA470"/>
            </a:solidFill>
            <a:prstDash val="solid"/>
          </a:ln>
        </p:spPr>
      </p:sp>
      <p:sp>
        <p:nvSpPr>
          <p:cNvPr id="63" name="Shape 61"/>
          <p:cNvSpPr/>
          <p:nvPr/>
        </p:nvSpPr>
        <p:spPr>
          <a:xfrm>
            <a:off x="5650992" y="2743200"/>
            <a:ext cx="128016" cy="82296"/>
          </a:xfrm>
          <a:prstGeom prst="line">
            <a:avLst/>
          </a:prstGeom>
          <a:noFill/>
          <a:ln w="15240">
            <a:solidFill>
              <a:srgbClr val="0EA470"/>
            </a:solidFill>
            <a:prstDash val="solid"/>
          </a:ln>
        </p:spPr>
      </p:sp>
      <p:sp>
        <p:nvSpPr>
          <p:cNvPr id="64" name="Shape 62"/>
          <p:cNvSpPr/>
          <p:nvPr/>
        </p:nvSpPr>
        <p:spPr>
          <a:xfrm>
            <a:off x="5650992" y="2825496"/>
            <a:ext cx="128016" cy="82296"/>
          </a:xfrm>
          <a:prstGeom prst="line">
            <a:avLst/>
          </a:prstGeom>
          <a:noFill/>
          <a:ln w="15240">
            <a:solidFill>
              <a:srgbClr val="0EA470"/>
            </a:solidFill>
            <a:prstDash val="solid"/>
          </a:ln>
        </p:spPr>
      </p:sp>
      <p:sp>
        <p:nvSpPr>
          <p:cNvPr id="65" name="Shape 63"/>
          <p:cNvSpPr/>
          <p:nvPr/>
        </p:nvSpPr>
        <p:spPr>
          <a:xfrm>
            <a:off x="3383280" y="3264408"/>
            <a:ext cx="2377440" cy="0"/>
          </a:xfrm>
          <a:prstGeom prst="line">
            <a:avLst/>
          </a:prstGeom>
          <a:noFill/>
          <a:ln w="15240">
            <a:solidFill>
              <a:srgbClr val="0EA470"/>
            </a:solidFill>
            <a:prstDash val="solid"/>
          </a:ln>
        </p:spPr>
      </p:sp>
      <p:sp>
        <p:nvSpPr>
          <p:cNvPr id="66" name="Shape 64"/>
          <p:cNvSpPr/>
          <p:nvPr/>
        </p:nvSpPr>
        <p:spPr>
          <a:xfrm>
            <a:off x="5650992" y="3182112"/>
            <a:ext cx="128016" cy="82296"/>
          </a:xfrm>
          <a:prstGeom prst="line">
            <a:avLst/>
          </a:prstGeom>
          <a:noFill/>
          <a:ln w="15240">
            <a:solidFill>
              <a:srgbClr val="0EA470"/>
            </a:solidFill>
            <a:prstDash val="solid"/>
          </a:ln>
        </p:spPr>
      </p:sp>
      <p:sp>
        <p:nvSpPr>
          <p:cNvPr id="67" name="Shape 65"/>
          <p:cNvSpPr/>
          <p:nvPr/>
        </p:nvSpPr>
        <p:spPr>
          <a:xfrm>
            <a:off x="5650992" y="3264408"/>
            <a:ext cx="128016" cy="82296"/>
          </a:xfrm>
          <a:prstGeom prst="line">
            <a:avLst/>
          </a:prstGeom>
          <a:noFill/>
          <a:ln w="15240">
            <a:solidFill>
              <a:srgbClr val="0EA470"/>
            </a:solidFill>
            <a:prstDash val="solid"/>
          </a:ln>
        </p:spPr>
      </p:sp>
      <p:sp>
        <p:nvSpPr>
          <p:cNvPr id="68" name="Shape 66"/>
          <p:cNvSpPr/>
          <p:nvPr/>
        </p:nvSpPr>
        <p:spPr>
          <a:xfrm>
            <a:off x="3383280" y="3703320"/>
            <a:ext cx="2377440" cy="0"/>
          </a:xfrm>
          <a:prstGeom prst="line">
            <a:avLst/>
          </a:prstGeom>
          <a:noFill/>
          <a:ln w="15240">
            <a:solidFill>
              <a:srgbClr val="0EA470"/>
            </a:solidFill>
            <a:prstDash val="solid"/>
          </a:ln>
        </p:spPr>
      </p:sp>
      <p:sp>
        <p:nvSpPr>
          <p:cNvPr id="69" name="Shape 67"/>
          <p:cNvSpPr/>
          <p:nvPr/>
        </p:nvSpPr>
        <p:spPr>
          <a:xfrm>
            <a:off x="5650992" y="3621024"/>
            <a:ext cx="128016" cy="82296"/>
          </a:xfrm>
          <a:prstGeom prst="line">
            <a:avLst/>
          </a:prstGeom>
          <a:noFill/>
          <a:ln w="15240">
            <a:solidFill>
              <a:srgbClr val="0EA470"/>
            </a:solidFill>
            <a:prstDash val="solid"/>
          </a:ln>
        </p:spPr>
      </p:sp>
      <p:sp>
        <p:nvSpPr>
          <p:cNvPr id="70" name="Shape 68"/>
          <p:cNvSpPr/>
          <p:nvPr/>
        </p:nvSpPr>
        <p:spPr>
          <a:xfrm>
            <a:off x="5650992" y="3703320"/>
            <a:ext cx="128016" cy="82296"/>
          </a:xfrm>
          <a:prstGeom prst="line">
            <a:avLst/>
          </a:prstGeom>
          <a:noFill/>
          <a:ln w="15240">
            <a:solidFill>
              <a:srgbClr val="0EA470"/>
            </a:solidFill>
            <a:prstDash val="solid"/>
          </a:ln>
        </p:spPr>
      </p:sp>
      <p:sp>
        <p:nvSpPr>
          <p:cNvPr id="71" name="Shape 69"/>
          <p:cNvSpPr/>
          <p:nvPr/>
        </p:nvSpPr>
        <p:spPr>
          <a:xfrm>
            <a:off x="3520440" y="2514600"/>
            <a:ext cx="2103120" cy="530352"/>
          </a:xfrm>
          <a:prstGeom prst="roundRect">
            <a:avLst>
              <a:gd name="adj" fmla="val 15517"/>
            </a:avLst>
          </a:prstGeom>
          <a:solidFill>
            <a:srgbClr val="EDF7F2"/>
          </a:solidFill>
          <a:ln w="12700">
            <a:solidFill>
              <a:srgbClr val="0EA470"/>
            </a:solidFill>
            <a:prstDash val="solid"/>
          </a:ln>
        </p:spPr>
      </p:sp>
      <p:sp>
        <p:nvSpPr>
          <p:cNvPr id="72" name="Text 70"/>
          <p:cNvSpPr/>
          <p:nvPr/>
        </p:nvSpPr>
        <p:spPr>
          <a:xfrm>
            <a:off x="3520440" y="2514600"/>
            <a:ext cx="2103120" cy="530352"/>
          </a:xfrm>
          <a:prstGeom prst="rect">
            <a:avLst/>
          </a:prstGeom>
          <a:noFill/>
          <a:ln/>
        </p:spPr>
        <p:txBody>
          <a:bodyPr wrap="square" lIns="0" tIns="0" rIns="0" bIns="0" rtlCol="0" anchor="ctr"/>
          <a:lstStyle/>
          <a:p>
            <a:pPr algn="ctr" indent="0" marL="0">
              <a:buNone/>
            </a:pPr>
            <a:r>
              <a:rPr lang="en-US" sz="1200" b="1" dirty="0">
                <a:solidFill>
                  <a:srgbClr val="0EA470"/>
                </a:solidFill>
                <a:latin typeface="Calibri" pitchFamily="34" charset="0"/>
                <a:ea typeface="Calibri" pitchFamily="34" charset="-122"/>
                <a:cs typeface="Calibri" pitchFamily="34" charset="-120"/>
              </a:rPr>
              <a:t>BETWEEN</a:t>
            </a:r>
            <a:pPr algn="ctr" indent="0" marL="0">
              <a:buNone/>
            </a:pPr>
            <a:r>
              <a:rPr lang="en-US" sz="1000" dirty="0">
                <a:solidFill>
                  <a:srgbClr val="8B9AB0"/>
                </a:solidFill>
                <a:latin typeface="Calibri" pitchFamily="34" charset="0"/>
                <a:ea typeface="Calibri" pitchFamily="34" charset="-122"/>
                <a:cs typeface="Calibri" pitchFamily="34" charset="-120"/>
              </a:rPr>
              <a:t>  bin_min</a:t>
            </a:r>
            <a:endParaRPr lang="en-US" sz="1200" dirty="0"/>
          </a:p>
          <a:p>
            <a:pPr algn="ctr" indent="0" marL="0">
              <a:buNone/>
            </a:pPr>
            <a:r>
              <a:rPr lang="en-US" sz="1000" dirty="0">
                <a:solidFill>
                  <a:srgbClr val="8B9AB0"/>
                </a:solidFill>
                <a:latin typeface="Calibri" pitchFamily="34" charset="0"/>
                <a:ea typeface="Calibri" pitchFamily="34" charset="-122"/>
                <a:cs typeface="Calibri" pitchFamily="34" charset="-120"/>
              </a:rPr>
              <a:t>AND bin_max</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470"/>
          </a:solidFill>
          <a:ln/>
        </p:spPr>
      </p:sp>
      <p:sp>
        <p:nvSpPr>
          <p:cNvPr id="3" name="Text 1"/>
          <p:cNvSpPr/>
          <p:nvPr/>
        </p:nvSpPr>
        <p:spPr>
          <a:xfrm>
            <a:off x="365760" y="182880"/>
            <a:ext cx="548640" cy="411480"/>
          </a:xfrm>
          <a:prstGeom prst="rect">
            <a:avLst/>
          </a:prstGeom>
          <a:noFill/>
          <a:ln/>
        </p:spPr>
        <p:txBody>
          <a:bodyPr wrap="square" lIns="0" tIns="0" rIns="0" bIns="0" rtlCol="0" anchor="ctr"/>
          <a:lstStyle/>
          <a:p>
            <a:pPr indent="0" marL="0">
              <a:buNone/>
            </a:pPr>
            <a:r>
              <a:rPr lang="en-US" sz="2800" b="1" dirty="0">
                <a:solidFill>
                  <a:srgbClr val="0EA470"/>
                </a:solidFill>
                <a:latin typeface="Calibri" pitchFamily="34" charset="0"/>
                <a:ea typeface="Calibri" pitchFamily="34" charset="-122"/>
                <a:cs typeface="Calibri" pitchFamily="34" charset="-120"/>
              </a:rPr>
              <a:t>03</a:t>
            </a:r>
            <a:endParaRPr lang="en-US" sz="2800" dirty="0"/>
          </a:p>
        </p:txBody>
      </p:sp>
      <p:sp>
        <p:nvSpPr>
          <p:cNvPr id="4" name="Shape 2"/>
          <p:cNvSpPr/>
          <p:nvPr/>
        </p:nvSpPr>
        <p:spPr>
          <a:xfrm>
            <a:off x="960120" y="384048"/>
            <a:ext cx="0" cy="201168"/>
          </a:xfrm>
          <a:prstGeom prst="line">
            <a:avLst/>
          </a:prstGeom>
          <a:noFill/>
          <a:ln w="19050">
            <a:solidFill>
              <a:srgbClr val="E2E8F0"/>
            </a:solidFill>
            <a:prstDash val="solid"/>
          </a:ln>
        </p:spPr>
      </p:sp>
      <p:sp>
        <p:nvSpPr>
          <p:cNvPr id="5" name="Text 3"/>
          <p:cNvSpPr/>
          <p:nvPr/>
        </p:nvSpPr>
        <p:spPr>
          <a:xfrm>
            <a:off x="1097280" y="201168"/>
            <a:ext cx="6400800" cy="384048"/>
          </a:xfrm>
          <a:prstGeom prst="rect">
            <a:avLst/>
          </a:prstGeom>
          <a:noFill/>
          <a:ln/>
        </p:spPr>
        <p:txBody>
          <a:bodyPr wrap="square" lIns="0" tIns="0" rIns="0" bIns="0" rtlCol="0" anchor="ctr"/>
          <a:lstStyle/>
          <a:p>
            <a:pPr indent="0" marL="0">
              <a:buNone/>
            </a:pPr>
            <a:r>
              <a:rPr lang="en-US" sz="2000" b="1" dirty="0">
                <a:solidFill>
                  <a:srgbClr val="2D3748"/>
                </a:solidFill>
                <a:latin typeface="Calibri" pitchFamily="34" charset="0"/>
                <a:ea typeface="Calibri" pitchFamily="34" charset="-122"/>
                <a:cs typeface="Calibri" pitchFamily="34" charset="-120"/>
              </a:rPr>
              <a:t>Resultat : Table de Sortie</a:t>
            </a:r>
            <a:endParaRPr lang="en-US" sz="2000" dirty="0"/>
          </a:p>
        </p:txBody>
      </p:sp>
      <p:sp>
        <p:nvSpPr>
          <p:cNvPr id="6" name="Text 4"/>
          <p:cNvSpPr/>
          <p:nvPr/>
        </p:nvSpPr>
        <p:spPr>
          <a:xfrm>
            <a:off x="1097280" y="566928"/>
            <a:ext cx="7315200" cy="274320"/>
          </a:xfrm>
          <a:prstGeom prst="rect">
            <a:avLst/>
          </a:prstGeom>
          <a:noFill/>
          <a:ln/>
        </p:spPr>
        <p:txBody>
          <a:bodyPr wrap="square" lIns="0" tIns="0" rIns="0" bIns="0" rtlCol="0" anchor="ctr"/>
          <a:lstStyle/>
          <a:p>
            <a:pPr indent="0" marL="0">
              <a:buNone/>
            </a:pPr>
            <a:r>
              <a:rPr lang="en-US" sz="1100" dirty="0">
                <a:solidFill>
                  <a:srgbClr val="8B9AB0"/>
                </a:solidFill>
                <a:latin typeface="Calibri" pitchFamily="34" charset="0"/>
                <a:ea typeface="Calibri" pitchFamily="34" charset="-122"/>
                <a:cs typeface="Calibri" pitchFamily="34" charset="-120"/>
              </a:rPr>
              <a:t>Chaque retrait est enrichi avec la banque identifiee et le type de porteur</a:t>
            </a:r>
            <a:endParaRPr lang="en-US" sz="1100" dirty="0"/>
          </a:p>
        </p:txBody>
      </p:sp>
      <p:sp>
        <p:nvSpPr>
          <p:cNvPr id="7" name="Shape 5"/>
          <p:cNvSpPr/>
          <p:nvPr/>
        </p:nvSpPr>
        <p:spPr>
          <a:xfrm>
            <a:off x="365760" y="960120"/>
            <a:ext cx="8412480" cy="3474720"/>
          </a:xfrm>
          <a:prstGeom prst="roundRect">
            <a:avLst>
              <a:gd name="adj" fmla="val 3158"/>
            </a:avLst>
          </a:prstGeom>
          <a:solidFill>
            <a:srgbClr val="FFFFFF"/>
          </a:solidFill>
          <a:ln w="12700">
            <a:solidFill>
              <a:srgbClr val="E2E8F0"/>
            </a:solidFill>
            <a:prstDash val="solid"/>
          </a:ln>
          <a:effectLst>
            <a:outerShdw sx="100000" sy="100000" kx="0" ky="0" algn="bl" rotWithShape="0" blurRad="127000" dist="25400" dir="5400000">
              <a:srgbClr val="000000">
                <a:alpha val="7000"/>
              </a:srgbClr>
            </a:outerShdw>
          </a:effectLst>
        </p:spPr>
      </p:sp>
      <p:sp>
        <p:nvSpPr>
          <p:cNvPr id="8" name="Shape 6"/>
          <p:cNvSpPr/>
          <p:nvPr/>
        </p:nvSpPr>
        <p:spPr>
          <a:xfrm>
            <a:off x="365760" y="960120"/>
            <a:ext cx="8412480" cy="402336"/>
          </a:xfrm>
          <a:prstGeom prst="roundRect">
            <a:avLst>
              <a:gd name="adj" fmla="val 27273"/>
            </a:avLst>
          </a:prstGeom>
          <a:solidFill>
            <a:srgbClr val="1A5C2E"/>
          </a:solidFill>
          <a:ln/>
        </p:spPr>
      </p:sp>
      <p:sp>
        <p:nvSpPr>
          <p:cNvPr id="9" name="Text 7"/>
          <p:cNvSpPr/>
          <p:nvPr/>
        </p:nvSpPr>
        <p:spPr>
          <a:xfrm>
            <a:off x="365760" y="960120"/>
            <a:ext cx="8412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TABLE DE SORTIE</a:t>
            </a:r>
            <a:endParaRPr lang="en-US" sz="1200" dirty="0"/>
          </a:p>
        </p:txBody>
      </p:sp>
      <p:sp>
        <p:nvSpPr>
          <p:cNvPr id="10" name="Text 8"/>
          <p:cNvSpPr/>
          <p:nvPr/>
        </p:nvSpPr>
        <p:spPr>
          <a:xfrm>
            <a:off x="502920" y="1435608"/>
            <a:ext cx="128016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bin_clean</a:t>
            </a:r>
            <a:endParaRPr lang="en-US" sz="900" dirty="0"/>
          </a:p>
        </p:txBody>
      </p:sp>
      <p:sp>
        <p:nvSpPr>
          <p:cNvPr id="11" name="Text 9"/>
          <p:cNvSpPr/>
          <p:nvPr/>
        </p:nvSpPr>
        <p:spPr>
          <a:xfrm>
            <a:off x="1874520" y="1435608"/>
            <a:ext cx="77724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type</a:t>
            </a:r>
            <a:endParaRPr lang="en-US" sz="900" dirty="0"/>
          </a:p>
        </p:txBody>
      </p:sp>
      <p:sp>
        <p:nvSpPr>
          <p:cNvPr id="12" name="Text 10"/>
          <p:cNvSpPr/>
          <p:nvPr/>
        </p:nvSpPr>
        <p:spPr>
          <a:xfrm>
            <a:off x="2834640" y="1435608"/>
            <a:ext cx="114300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banque</a:t>
            </a:r>
            <a:endParaRPr lang="en-US" sz="900" dirty="0"/>
          </a:p>
        </p:txBody>
      </p:sp>
      <p:sp>
        <p:nvSpPr>
          <p:cNvPr id="13" name="Text 11"/>
          <p:cNvSpPr/>
          <p:nvPr/>
        </p:nvSpPr>
        <p:spPr>
          <a:xfrm>
            <a:off x="4160520" y="1435608"/>
            <a:ext cx="155448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type_porteur</a:t>
            </a:r>
            <a:endParaRPr lang="en-US" sz="900" dirty="0"/>
          </a:p>
        </p:txBody>
      </p:sp>
      <p:sp>
        <p:nvSpPr>
          <p:cNvPr id="14" name="Text 12"/>
          <p:cNvSpPr/>
          <p:nvPr/>
        </p:nvSpPr>
        <p:spPr>
          <a:xfrm>
            <a:off x="6080760" y="1435608"/>
            <a:ext cx="118872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nb_retraits</a:t>
            </a:r>
            <a:endParaRPr lang="en-US" sz="900" dirty="0"/>
          </a:p>
        </p:txBody>
      </p:sp>
      <p:sp>
        <p:nvSpPr>
          <p:cNvPr id="15" name="Text 13"/>
          <p:cNvSpPr/>
          <p:nvPr/>
        </p:nvSpPr>
        <p:spPr>
          <a:xfrm>
            <a:off x="7406640" y="1435608"/>
            <a:ext cx="1463040" cy="256032"/>
          </a:xfrm>
          <a:prstGeom prst="rect">
            <a:avLst/>
          </a:prstGeom>
          <a:noFill/>
          <a:ln/>
        </p:spPr>
        <p:txBody>
          <a:bodyPr wrap="square" lIns="0" tIns="0" rIns="0" bIns="0" rtlCol="0" anchor="ctr"/>
          <a:lstStyle/>
          <a:p>
            <a:pPr indent="0" marL="0">
              <a:buNone/>
            </a:pPr>
            <a:r>
              <a:rPr lang="en-US" sz="900" dirty="0">
                <a:solidFill>
                  <a:srgbClr val="8B9AB0"/>
                </a:solidFill>
                <a:latin typeface="Calibri" pitchFamily="34" charset="0"/>
                <a:ea typeface="Calibri" pitchFamily="34" charset="-122"/>
                <a:cs typeface="Calibri" pitchFamily="34" charset="-120"/>
              </a:rPr>
              <a:t>montant_total</a:t>
            </a:r>
            <a:endParaRPr lang="en-US" sz="900" dirty="0"/>
          </a:p>
        </p:txBody>
      </p:sp>
      <p:sp>
        <p:nvSpPr>
          <p:cNvPr id="16" name="Shape 14"/>
          <p:cNvSpPr/>
          <p:nvPr/>
        </p:nvSpPr>
        <p:spPr>
          <a:xfrm>
            <a:off x="411480" y="1719072"/>
            <a:ext cx="8321040" cy="0"/>
          </a:xfrm>
          <a:prstGeom prst="line">
            <a:avLst/>
          </a:prstGeom>
          <a:noFill/>
          <a:ln w="10160">
            <a:solidFill>
              <a:srgbClr val="E2E8F0"/>
            </a:solidFill>
            <a:prstDash val="solid"/>
          </a:ln>
        </p:spPr>
      </p:sp>
      <p:sp>
        <p:nvSpPr>
          <p:cNvPr id="17" name="Shape 15"/>
          <p:cNvSpPr/>
          <p:nvPr/>
        </p:nvSpPr>
        <p:spPr>
          <a:xfrm>
            <a:off x="374904" y="1737360"/>
            <a:ext cx="8394192" cy="438912"/>
          </a:xfrm>
          <a:prstGeom prst="rect">
            <a:avLst/>
          </a:prstGeom>
          <a:solidFill>
            <a:srgbClr val="F0F3F8"/>
          </a:solidFill>
          <a:ln/>
        </p:spPr>
      </p:sp>
      <p:sp>
        <p:nvSpPr>
          <p:cNvPr id="18" name="Text 16"/>
          <p:cNvSpPr/>
          <p:nvPr/>
        </p:nvSpPr>
        <p:spPr>
          <a:xfrm>
            <a:off x="502920" y="1764792"/>
            <a:ext cx="1280160" cy="384048"/>
          </a:xfrm>
          <a:prstGeom prst="rect">
            <a:avLst/>
          </a:prstGeom>
          <a:noFill/>
          <a:ln/>
        </p:spPr>
        <p:txBody>
          <a:bodyPr wrap="square" lIns="0" tIns="0" rIns="0" bIns="0" rtlCol="0" anchor="ctr"/>
          <a:lstStyle/>
          <a:p>
            <a:pPr indent="0" marL="0">
              <a:buNone/>
            </a:pPr>
            <a:r>
              <a:rPr lang="en-US" sz="1100" b="1" dirty="0">
                <a:solidFill>
                  <a:srgbClr val="2D3748"/>
                </a:solidFill>
                <a:latin typeface="Courier New" pitchFamily="34" charset="0"/>
                <a:ea typeface="Courier New" pitchFamily="34" charset="-122"/>
                <a:cs typeface="Courier New" pitchFamily="34" charset="-120"/>
              </a:rPr>
              <a:t>456789</a:t>
            </a:r>
            <a:endParaRPr lang="en-US" sz="1100" dirty="0"/>
          </a:p>
        </p:txBody>
      </p:sp>
      <p:sp>
        <p:nvSpPr>
          <p:cNvPr id="19" name="Shape 17"/>
          <p:cNvSpPr/>
          <p:nvPr/>
        </p:nvSpPr>
        <p:spPr>
          <a:xfrm>
            <a:off x="1920240" y="1847088"/>
            <a:ext cx="365760" cy="237744"/>
          </a:xfrm>
          <a:prstGeom prst="roundRect">
            <a:avLst>
              <a:gd name="adj" fmla="val 38462"/>
            </a:avLst>
          </a:prstGeom>
          <a:solidFill>
            <a:srgbClr val="E85D04">
              <a:alpha val="12000"/>
            </a:srgbClr>
          </a:solidFill>
          <a:ln/>
        </p:spPr>
      </p:sp>
      <p:sp>
        <p:nvSpPr>
          <p:cNvPr id="20" name="Text 18"/>
          <p:cNvSpPr/>
          <p:nvPr/>
        </p:nvSpPr>
        <p:spPr>
          <a:xfrm>
            <a:off x="1920240" y="1847088"/>
            <a:ext cx="365760" cy="237744"/>
          </a:xfrm>
          <a:prstGeom prst="rect">
            <a:avLst/>
          </a:prstGeom>
          <a:noFill/>
          <a:ln/>
        </p:spPr>
        <p:txBody>
          <a:bodyPr wrap="square" lIns="0" tIns="0" rIns="0" bIns="0" rtlCol="0" anchor="ctr"/>
          <a:lstStyle/>
          <a:p>
            <a:pPr algn="ctr" indent="0" marL="0">
              <a:buNone/>
            </a:pPr>
            <a:r>
              <a:rPr lang="en-US" sz="1000" b="1" dirty="0">
                <a:solidFill>
                  <a:srgbClr val="E85D04"/>
                </a:solidFill>
                <a:latin typeface="Calibri" pitchFamily="34" charset="0"/>
                <a:ea typeface="Calibri" pitchFamily="34" charset="-122"/>
                <a:cs typeface="Calibri" pitchFamily="34" charset="-120"/>
              </a:rPr>
              <a:t>6</a:t>
            </a:r>
            <a:endParaRPr lang="en-US" sz="1000" dirty="0"/>
          </a:p>
        </p:txBody>
      </p:sp>
      <p:sp>
        <p:nvSpPr>
          <p:cNvPr id="21" name="Text 19"/>
          <p:cNvSpPr/>
          <p:nvPr/>
        </p:nvSpPr>
        <p:spPr>
          <a:xfrm>
            <a:off x="2834640" y="1764792"/>
            <a:ext cx="1143000" cy="384048"/>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CIC</a:t>
            </a:r>
            <a:endParaRPr lang="en-US" sz="1100" dirty="0"/>
          </a:p>
        </p:txBody>
      </p:sp>
      <p:sp>
        <p:nvSpPr>
          <p:cNvPr id="22" name="Shape 20"/>
          <p:cNvSpPr/>
          <p:nvPr/>
        </p:nvSpPr>
        <p:spPr>
          <a:xfrm>
            <a:off x="4160520" y="1847088"/>
            <a:ext cx="1325880" cy="237744"/>
          </a:xfrm>
          <a:prstGeom prst="roundRect">
            <a:avLst>
              <a:gd name="adj" fmla="val 46154"/>
            </a:avLst>
          </a:prstGeom>
          <a:solidFill>
            <a:srgbClr val="E85D04">
              <a:alpha val="12000"/>
            </a:srgbClr>
          </a:solidFill>
          <a:ln/>
        </p:spPr>
      </p:sp>
      <p:sp>
        <p:nvSpPr>
          <p:cNvPr id="23" name="Text 21"/>
          <p:cNvSpPr/>
          <p:nvPr/>
        </p:nvSpPr>
        <p:spPr>
          <a:xfrm>
            <a:off x="4160520" y="1847088"/>
            <a:ext cx="1325880" cy="237744"/>
          </a:xfrm>
          <a:prstGeom prst="rect">
            <a:avLst/>
          </a:prstGeom>
          <a:noFill/>
          <a:ln/>
        </p:spPr>
        <p:txBody>
          <a:bodyPr wrap="square" lIns="0" tIns="0" rIns="0" bIns="0" rtlCol="0" anchor="ctr"/>
          <a:lstStyle/>
          <a:p>
            <a:pPr algn="ctr" indent="0" marL="0">
              <a:buNone/>
            </a:pPr>
            <a:r>
              <a:rPr lang="en-US" sz="900" b="1" dirty="0">
                <a:solidFill>
                  <a:srgbClr val="E85D04"/>
                </a:solidFill>
                <a:latin typeface="Calibri" pitchFamily="34" charset="0"/>
                <a:ea typeface="Calibri" pitchFamily="34" charset="-122"/>
                <a:cs typeface="Calibri" pitchFamily="34" charset="-120"/>
              </a:rPr>
              <a:t>Confrere</a:t>
            </a:r>
            <a:endParaRPr lang="en-US" sz="900" dirty="0"/>
          </a:p>
        </p:txBody>
      </p:sp>
      <p:sp>
        <p:nvSpPr>
          <p:cNvPr id="24" name="Text 22"/>
          <p:cNvSpPr/>
          <p:nvPr/>
        </p:nvSpPr>
        <p:spPr>
          <a:xfrm>
            <a:off x="6080760" y="1764792"/>
            <a:ext cx="1188720" cy="384048"/>
          </a:xfrm>
          <a:prstGeom prst="rect">
            <a:avLst/>
          </a:prstGeom>
          <a:noFill/>
          <a:ln/>
        </p:spPr>
        <p:txBody>
          <a:bodyPr wrap="square" lIns="0" tIns="0" rIns="0" bIns="0" rtlCol="0" anchor="ctr"/>
          <a:lstStyle/>
          <a:p>
            <a:pPr algn="r" indent="0" marL="0">
              <a:buNone/>
            </a:pPr>
            <a:r>
              <a:rPr lang="en-US" sz="1100" dirty="0">
                <a:solidFill>
                  <a:srgbClr val="2D3748"/>
                </a:solidFill>
                <a:latin typeface="Calibri" pitchFamily="34" charset="0"/>
                <a:ea typeface="Calibri" pitchFamily="34" charset="-122"/>
                <a:cs typeface="Calibri" pitchFamily="34" charset="-120"/>
              </a:rPr>
              <a:t>243</a:t>
            </a:r>
            <a:endParaRPr lang="en-US" sz="1100" dirty="0"/>
          </a:p>
        </p:txBody>
      </p:sp>
      <p:sp>
        <p:nvSpPr>
          <p:cNvPr id="25" name="Text 23"/>
          <p:cNvSpPr/>
          <p:nvPr/>
        </p:nvSpPr>
        <p:spPr>
          <a:xfrm>
            <a:off x="7406640" y="1764792"/>
            <a:ext cx="1463040" cy="384048"/>
          </a:xfrm>
          <a:prstGeom prst="rect">
            <a:avLst/>
          </a:prstGeom>
          <a:noFill/>
          <a:ln/>
        </p:spPr>
        <p:txBody>
          <a:bodyPr wrap="square" lIns="0" tIns="0" rIns="0" bIns="0" rtlCol="0" anchor="ctr"/>
          <a:lstStyle/>
          <a:p>
            <a:pPr algn="r" indent="0" marL="0">
              <a:buNone/>
            </a:pPr>
            <a:r>
              <a:rPr lang="en-US" sz="1000" dirty="0">
                <a:solidFill>
                  <a:srgbClr val="2D3748"/>
                </a:solidFill>
                <a:latin typeface="Calibri" pitchFamily="34" charset="0"/>
                <a:ea typeface="Calibri" pitchFamily="34" charset="-122"/>
                <a:cs typeface="Calibri" pitchFamily="34" charset="-120"/>
              </a:rPr>
              <a:t>18 225 EUR</a:t>
            </a:r>
            <a:endParaRPr lang="en-US" sz="1000" dirty="0"/>
          </a:p>
        </p:txBody>
      </p:sp>
      <p:sp>
        <p:nvSpPr>
          <p:cNvPr id="26" name="Text 24"/>
          <p:cNvSpPr/>
          <p:nvPr/>
        </p:nvSpPr>
        <p:spPr>
          <a:xfrm>
            <a:off x="502920" y="2221992"/>
            <a:ext cx="1280160" cy="384048"/>
          </a:xfrm>
          <a:prstGeom prst="rect">
            <a:avLst/>
          </a:prstGeom>
          <a:noFill/>
          <a:ln/>
        </p:spPr>
        <p:txBody>
          <a:bodyPr wrap="square" lIns="0" tIns="0" rIns="0" bIns="0" rtlCol="0" anchor="ctr"/>
          <a:lstStyle/>
          <a:p>
            <a:pPr indent="0" marL="0">
              <a:buNone/>
            </a:pPr>
            <a:r>
              <a:rPr lang="en-US" sz="1100" b="1" dirty="0">
                <a:solidFill>
                  <a:srgbClr val="2D3748"/>
                </a:solidFill>
                <a:latin typeface="Courier New" pitchFamily="34" charset="0"/>
                <a:ea typeface="Courier New" pitchFamily="34" charset="-122"/>
                <a:cs typeface="Courier New" pitchFamily="34" charset="-120"/>
              </a:rPr>
              <a:t>513678</a:t>
            </a:r>
            <a:endParaRPr lang="en-US" sz="1100" dirty="0"/>
          </a:p>
        </p:txBody>
      </p:sp>
      <p:sp>
        <p:nvSpPr>
          <p:cNvPr id="27" name="Shape 25"/>
          <p:cNvSpPr/>
          <p:nvPr/>
        </p:nvSpPr>
        <p:spPr>
          <a:xfrm>
            <a:off x="1920240" y="2304288"/>
            <a:ext cx="365760" cy="237744"/>
          </a:xfrm>
          <a:prstGeom prst="roundRect">
            <a:avLst>
              <a:gd name="adj" fmla="val 38462"/>
            </a:avLst>
          </a:prstGeom>
          <a:solidFill>
            <a:srgbClr val="1A6FBF">
              <a:alpha val="12000"/>
            </a:srgbClr>
          </a:solidFill>
          <a:ln/>
        </p:spPr>
      </p:sp>
      <p:sp>
        <p:nvSpPr>
          <p:cNvPr id="28" name="Text 26"/>
          <p:cNvSpPr/>
          <p:nvPr/>
        </p:nvSpPr>
        <p:spPr>
          <a:xfrm>
            <a:off x="1920240" y="2304288"/>
            <a:ext cx="365760" cy="237744"/>
          </a:xfrm>
          <a:prstGeom prst="rect">
            <a:avLst/>
          </a:prstGeom>
          <a:noFill/>
          <a:ln/>
        </p:spPr>
        <p:txBody>
          <a:bodyPr wrap="square" lIns="0" tIns="0" rIns="0" bIns="0" rtlCol="0" anchor="ctr"/>
          <a:lstStyle/>
          <a:p>
            <a:pPr algn="ctr" indent="0" marL="0">
              <a:buNone/>
            </a:pPr>
            <a:r>
              <a:rPr lang="en-US" sz="1000" b="1" dirty="0">
                <a:solidFill>
                  <a:srgbClr val="1A6FBF"/>
                </a:solidFill>
                <a:latin typeface="Calibri" pitchFamily="34" charset="0"/>
                <a:ea typeface="Calibri" pitchFamily="34" charset="-122"/>
                <a:cs typeface="Calibri" pitchFamily="34" charset="-120"/>
              </a:rPr>
              <a:t>6</a:t>
            </a:r>
            <a:endParaRPr lang="en-US" sz="1000" dirty="0"/>
          </a:p>
        </p:txBody>
      </p:sp>
      <p:sp>
        <p:nvSpPr>
          <p:cNvPr id="29" name="Text 27"/>
          <p:cNvSpPr/>
          <p:nvPr/>
        </p:nvSpPr>
        <p:spPr>
          <a:xfrm>
            <a:off x="2834640" y="2221992"/>
            <a:ext cx="1143000" cy="384048"/>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BNP</a:t>
            </a:r>
            <a:endParaRPr lang="en-US" sz="1100" dirty="0"/>
          </a:p>
        </p:txBody>
      </p:sp>
      <p:sp>
        <p:nvSpPr>
          <p:cNvPr id="30" name="Shape 28"/>
          <p:cNvSpPr/>
          <p:nvPr/>
        </p:nvSpPr>
        <p:spPr>
          <a:xfrm>
            <a:off x="4160520" y="2304288"/>
            <a:ext cx="1325880" cy="237744"/>
          </a:xfrm>
          <a:prstGeom prst="roundRect">
            <a:avLst>
              <a:gd name="adj" fmla="val 46154"/>
            </a:avLst>
          </a:prstGeom>
          <a:solidFill>
            <a:srgbClr val="E85D04">
              <a:alpha val="12000"/>
            </a:srgbClr>
          </a:solidFill>
          <a:ln/>
        </p:spPr>
      </p:sp>
      <p:sp>
        <p:nvSpPr>
          <p:cNvPr id="31" name="Text 29"/>
          <p:cNvSpPr/>
          <p:nvPr/>
        </p:nvSpPr>
        <p:spPr>
          <a:xfrm>
            <a:off x="4160520" y="2304288"/>
            <a:ext cx="1325880" cy="237744"/>
          </a:xfrm>
          <a:prstGeom prst="rect">
            <a:avLst/>
          </a:prstGeom>
          <a:noFill/>
          <a:ln/>
        </p:spPr>
        <p:txBody>
          <a:bodyPr wrap="square" lIns="0" tIns="0" rIns="0" bIns="0" rtlCol="0" anchor="ctr"/>
          <a:lstStyle/>
          <a:p>
            <a:pPr algn="ctr" indent="0" marL="0">
              <a:buNone/>
            </a:pPr>
            <a:r>
              <a:rPr lang="en-US" sz="900" b="1" dirty="0">
                <a:solidFill>
                  <a:srgbClr val="E85D04"/>
                </a:solidFill>
                <a:latin typeface="Calibri" pitchFamily="34" charset="0"/>
                <a:ea typeface="Calibri" pitchFamily="34" charset="-122"/>
                <a:cs typeface="Calibri" pitchFamily="34" charset="-120"/>
              </a:rPr>
              <a:t>Confrere</a:t>
            </a:r>
            <a:endParaRPr lang="en-US" sz="900" dirty="0"/>
          </a:p>
        </p:txBody>
      </p:sp>
      <p:sp>
        <p:nvSpPr>
          <p:cNvPr id="32" name="Text 30"/>
          <p:cNvSpPr/>
          <p:nvPr/>
        </p:nvSpPr>
        <p:spPr>
          <a:xfrm>
            <a:off x="6080760" y="2221992"/>
            <a:ext cx="1188720" cy="384048"/>
          </a:xfrm>
          <a:prstGeom prst="rect">
            <a:avLst/>
          </a:prstGeom>
          <a:noFill/>
          <a:ln/>
        </p:spPr>
        <p:txBody>
          <a:bodyPr wrap="square" lIns="0" tIns="0" rIns="0" bIns="0" rtlCol="0" anchor="ctr"/>
          <a:lstStyle/>
          <a:p>
            <a:pPr algn="r" indent="0" marL="0">
              <a:buNone/>
            </a:pPr>
            <a:r>
              <a:rPr lang="en-US" sz="1100" dirty="0">
                <a:solidFill>
                  <a:srgbClr val="2D3748"/>
                </a:solidFill>
                <a:latin typeface="Calibri" pitchFamily="34" charset="0"/>
                <a:ea typeface="Calibri" pitchFamily="34" charset="-122"/>
                <a:cs typeface="Calibri" pitchFamily="34" charset="-120"/>
              </a:rPr>
              <a:t>87</a:t>
            </a:r>
            <a:endParaRPr lang="en-US" sz="1100" dirty="0"/>
          </a:p>
        </p:txBody>
      </p:sp>
      <p:sp>
        <p:nvSpPr>
          <p:cNvPr id="33" name="Text 31"/>
          <p:cNvSpPr/>
          <p:nvPr/>
        </p:nvSpPr>
        <p:spPr>
          <a:xfrm>
            <a:off x="7406640" y="2221992"/>
            <a:ext cx="1463040" cy="384048"/>
          </a:xfrm>
          <a:prstGeom prst="rect">
            <a:avLst/>
          </a:prstGeom>
          <a:noFill/>
          <a:ln/>
        </p:spPr>
        <p:txBody>
          <a:bodyPr wrap="square" lIns="0" tIns="0" rIns="0" bIns="0" rtlCol="0" anchor="ctr"/>
          <a:lstStyle/>
          <a:p>
            <a:pPr algn="r" indent="0" marL="0">
              <a:buNone/>
            </a:pPr>
            <a:r>
              <a:rPr lang="en-US" sz="1000" dirty="0">
                <a:solidFill>
                  <a:srgbClr val="2D3748"/>
                </a:solidFill>
                <a:latin typeface="Calibri" pitchFamily="34" charset="0"/>
                <a:ea typeface="Calibri" pitchFamily="34" charset="-122"/>
                <a:cs typeface="Calibri" pitchFamily="34" charset="-120"/>
              </a:rPr>
              <a:t>6 525 EUR</a:t>
            </a:r>
            <a:endParaRPr lang="en-US" sz="1000" dirty="0"/>
          </a:p>
        </p:txBody>
      </p:sp>
      <p:sp>
        <p:nvSpPr>
          <p:cNvPr id="34" name="Shape 32"/>
          <p:cNvSpPr/>
          <p:nvPr/>
        </p:nvSpPr>
        <p:spPr>
          <a:xfrm>
            <a:off x="374904" y="2651760"/>
            <a:ext cx="8394192" cy="438912"/>
          </a:xfrm>
          <a:prstGeom prst="rect">
            <a:avLst/>
          </a:prstGeom>
          <a:solidFill>
            <a:srgbClr val="F0F3F8"/>
          </a:solidFill>
          <a:ln/>
        </p:spPr>
      </p:sp>
      <p:sp>
        <p:nvSpPr>
          <p:cNvPr id="35" name="Text 33"/>
          <p:cNvSpPr/>
          <p:nvPr/>
        </p:nvSpPr>
        <p:spPr>
          <a:xfrm>
            <a:off x="502920" y="2679192"/>
            <a:ext cx="1280160" cy="384048"/>
          </a:xfrm>
          <a:prstGeom prst="rect">
            <a:avLst/>
          </a:prstGeom>
          <a:noFill/>
          <a:ln/>
        </p:spPr>
        <p:txBody>
          <a:bodyPr wrap="square" lIns="0" tIns="0" rIns="0" bIns="0" rtlCol="0" anchor="ctr"/>
          <a:lstStyle/>
          <a:p>
            <a:pPr indent="0" marL="0">
              <a:buNone/>
            </a:pPr>
            <a:r>
              <a:rPr lang="en-US" sz="1100" b="1" dirty="0">
                <a:solidFill>
                  <a:srgbClr val="2D3748"/>
                </a:solidFill>
                <a:latin typeface="Courier New" pitchFamily="34" charset="0"/>
                <a:ea typeface="Courier New" pitchFamily="34" charset="-122"/>
                <a:cs typeface="Courier New" pitchFamily="34" charset="-120"/>
              </a:rPr>
              <a:t>45321099</a:t>
            </a:r>
            <a:endParaRPr lang="en-US" sz="1100" dirty="0"/>
          </a:p>
        </p:txBody>
      </p:sp>
      <p:sp>
        <p:nvSpPr>
          <p:cNvPr id="36" name="Shape 34"/>
          <p:cNvSpPr/>
          <p:nvPr/>
        </p:nvSpPr>
        <p:spPr>
          <a:xfrm>
            <a:off x="1920240" y="2761488"/>
            <a:ext cx="365760" cy="237744"/>
          </a:xfrm>
          <a:prstGeom prst="roundRect">
            <a:avLst>
              <a:gd name="adj" fmla="val 38462"/>
            </a:avLst>
          </a:prstGeom>
          <a:solidFill>
            <a:srgbClr val="E85D04">
              <a:alpha val="12000"/>
            </a:srgbClr>
          </a:solidFill>
          <a:ln/>
        </p:spPr>
      </p:sp>
      <p:sp>
        <p:nvSpPr>
          <p:cNvPr id="37" name="Text 35"/>
          <p:cNvSpPr/>
          <p:nvPr/>
        </p:nvSpPr>
        <p:spPr>
          <a:xfrm>
            <a:off x="1920240" y="2761488"/>
            <a:ext cx="365760" cy="237744"/>
          </a:xfrm>
          <a:prstGeom prst="rect">
            <a:avLst/>
          </a:prstGeom>
          <a:noFill/>
          <a:ln/>
        </p:spPr>
        <p:txBody>
          <a:bodyPr wrap="square" lIns="0" tIns="0" rIns="0" bIns="0" rtlCol="0" anchor="ctr"/>
          <a:lstStyle/>
          <a:p>
            <a:pPr algn="ctr" indent="0" marL="0">
              <a:buNone/>
            </a:pPr>
            <a:r>
              <a:rPr lang="en-US" sz="1000" b="1" dirty="0">
                <a:solidFill>
                  <a:srgbClr val="E85D04"/>
                </a:solidFill>
                <a:latin typeface="Calibri" pitchFamily="34" charset="0"/>
                <a:ea typeface="Calibri" pitchFamily="34" charset="-122"/>
                <a:cs typeface="Calibri" pitchFamily="34" charset="-120"/>
              </a:rPr>
              <a:t>8</a:t>
            </a:r>
            <a:endParaRPr lang="en-US" sz="1000" dirty="0"/>
          </a:p>
        </p:txBody>
      </p:sp>
      <p:sp>
        <p:nvSpPr>
          <p:cNvPr id="38" name="Text 36"/>
          <p:cNvSpPr/>
          <p:nvPr/>
        </p:nvSpPr>
        <p:spPr>
          <a:xfrm>
            <a:off x="2834640" y="2679192"/>
            <a:ext cx="1143000" cy="384048"/>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SG</a:t>
            </a:r>
            <a:endParaRPr lang="en-US" sz="1100" dirty="0"/>
          </a:p>
        </p:txBody>
      </p:sp>
      <p:sp>
        <p:nvSpPr>
          <p:cNvPr id="39" name="Shape 37"/>
          <p:cNvSpPr/>
          <p:nvPr/>
        </p:nvSpPr>
        <p:spPr>
          <a:xfrm>
            <a:off x="4160520" y="2761488"/>
            <a:ext cx="1325880" cy="237744"/>
          </a:xfrm>
          <a:prstGeom prst="roundRect">
            <a:avLst>
              <a:gd name="adj" fmla="val 46154"/>
            </a:avLst>
          </a:prstGeom>
          <a:solidFill>
            <a:srgbClr val="E85D04">
              <a:alpha val="12000"/>
            </a:srgbClr>
          </a:solidFill>
          <a:ln/>
        </p:spPr>
      </p:sp>
      <p:sp>
        <p:nvSpPr>
          <p:cNvPr id="40" name="Text 38"/>
          <p:cNvSpPr/>
          <p:nvPr/>
        </p:nvSpPr>
        <p:spPr>
          <a:xfrm>
            <a:off x="4160520" y="2761488"/>
            <a:ext cx="1325880" cy="237744"/>
          </a:xfrm>
          <a:prstGeom prst="rect">
            <a:avLst/>
          </a:prstGeom>
          <a:noFill/>
          <a:ln/>
        </p:spPr>
        <p:txBody>
          <a:bodyPr wrap="square" lIns="0" tIns="0" rIns="0" bIns="0" rtlCol="0" anchor="ctr"/>
          <a:lstStyle/>
          <a:p>
            <a:pPr algn="ctr" indent="0" marL="0">
              <a:buNone/>
            </a:pPr>
            <a:r>
              <a:rPr lang="en-US" sz="900" b="1" dirty="0">
                <a:solidFill>
                  <a:srgbClr val="E85D04"/>
                </a:solidFill>
                <a:latin typeface="Calibri" pitchFamily="34" charset="0"/>
                <a:ea typeface="Calibri" pitchFamily="34" charset="-122"/>
                <a:cs typeface="Calibri" pitchFamily="34" charset="-120"/>
              </a:rPr>
              <a:t>Confrere</a:t>
            </a:r>
            <a:endParaRPr lang="en-US" sz="900" dirty="0"/>
          </a:p>
        </p:txBody>
      </p:sp>
      <p:sp>
        <p:nvSpPr>
          <p:cNvPr id="41" name="Text 39"/>
          <p:cNvSpPr/>
          <p:nvPr/>
        </p:nvSpPr>
        <p:spPr>
          <a:xfrm>
            <a:off x="6080760" y="2679192"/>
            <a:ext cx="1188720" cy="384048"/>
          </a:xfrm>
          <a:prstGeom prst="rect">
            <a:avLst/>
          </a:prstGeom>
          <a:noFill/>
          <a:ln/>
        </p:spPr>
        <p:txBody>
          <a:bodyPr wrap="square" lIns="0" tIns="0" rIns="0" bIns="0" rtlCol="0" anchor="ctr"/>
          <a:lstStyle/>
          <a:p>
            <a:pPr algn="r" indent="0" marL="0">
              <a:buNone/>
            </a:pPr>
            <a:r>
              <a:rPr lang="en-US" sz="1100" dirty="0">
                <a:solidFill>
                  <a:srgbClr val="2D3748"/>
                </a:solidFill>
                <a:latin typeface="Calibri" pitchFamily="34" charset="0"/>
                <a:ea typeface="Calibri" pitchFamily="34" charset="-122"/>
                <a:cs typeface="Calibri" pitchFamily="34" charset="-120"/>
              </a:rPr>
              <a:t>512</a:t>
            </a:r>
            <a:endParaRPr lang="en-US" sz="1100" dirty="0"/>
          </a:p>
        </p:txBody>
      </p:sp>
      <p:sp>
        <p:nvSpPr>
          <p:cNvPr id="42" name="Text 40"/>
          <p:cNvSpPr/>
          <p:nvPr/>
        </p:nvSpPr>
        <p:spPr>
          <a:xfrm>
            <a:off x="7406640" y="2679192"/>
            <a:ext cx="1463040" cy="384048"/>
          </a:xfrm>
          <a:prstGeom prst="rect">
            <a:avLst/>
          </a:prstGeom>
          <a:noFill/>
          <a:ln/>
        </p:spPr>
        <p:txBody>
          <a:bodyPr wrap="square" lIns="0" tIns="0" rIns="0" bIns="0" rtlCol="0" anchor="ctr"/>
          <a:lstStyle/>
          <a:p>
            <a:pPr algn="r" indent="0" marL="0">
              <a:buNone/>
            </a:pPr>
            <a:r>
              <a:rPr lang="en-US" sz="1000" dirty="0">
                <a:solidFill>
                  <a:srgbClr val="2D3748"/>
                </a:solidFill>
                <a:latin typeface="Calibri" pitchFamily="34" charset="0"/>
                <a:ea typeface="Calibri" pitchFamily="34" charset="-122"/>
                <a:cs typeface="Calibri" pitchFamily="34" charset="-120"/>
              </a:rPr>
              <a:t>38 400 EUR</a:t>
            </a:r>
            <a:endParaRPr lang="en-US" sz="1000" dirty="0"/>
          </a:p>
        </p:txBody>
      </p:sp>
      <p:sp>
        <p:nvSpPr>
          <p:cNvPr id="43" name="Text 41"/>
          <p:cNvSpPr/>
          <p:nvPr/>
        </p:nvSpPr>
        <p:spPr>
          <a:xfrm>
            <a:off x="502920" y="3136392"/>
            <a:ext cx="1280160" cy="384048"/>
          </a:xfrm>
          <a:prstGeom prst="rect">
            <a:avLst/>
          </a:prstGeom>
          <a:noFill/>
          <a:ln/>
        </p:spPr>
        <p:txBody>
          <a:bodyPr wrap="square" lIns="0" tIns="0" rIns="0" bIns="0" rtlCol="0" anchor="ctr"/>
          <a:lstStyle/>
          <a:p>
            <a:pPr indent="0" marL="0">
              <a:buNone/>
            </a:pPr>
            <a:r>
              <a:rPr lang="en-US" sz="1100" b="1" dirty="0">
                <a:solidFill>
                  <a:srgbClr val="2D3748"/>
                </a:solidFill>
                <a:latin typeface="Courier New" pitchFamily="34" charset="0"/>
                <a:ea typeface="Courier New" pitchFamily="34" charset="-122"/>
                <a:cs typeface="Courier New" pitchFamily="34" charset="-120"/>
              </a:rPr>
              <a:t>411122</a:t>
            </a:r>
            <a:endParaRPr lang="en-US" sz="1100" dirty="0"/>
          </a:p>
        </p:txBody>
      </p:sp>
      <p:sp>
        <p:nvSpPr>
          <p:cNvPr id="44" name="Shape 42"/>
          <p:cNvSpPr/>
          <p:nvPr/>
        </p:nvSpPr>
        <p:spPr>
          <a:xfrm>
            <a:off x="1920240" y="3218688"/>
            <a:ext cx="365760" cy="237744"/>
          </a:xfrm>
          <a:prstGeom prst="roundRect">
            <a:avLst>
              <a:gd name="adj" fmla="val 38462"/>
            </a:avLst>
          </a:prstGeom>
          <a:solidFill>
            <a:srgbClr val="1A6FBF">
              <a:alpha val="12000"/>
            </a:srgbClr>
          </a:solidFill>
          <a:ln/>
        </p:spPr>
      </p:sp>
      <p:sp>
        <p:nvSpPr>
          <p:cNvPr id="45" name="Text 43"/>
          <p:cNvSpPr/>
          <p:nvPr/>
        </p:nvSpPr>
        <p:spPr>
          <a:xfrm>
            <a:off x="1920240" y="3218688"/>
            <a:ext cx="365760" cy="237744"/>
          </a:xfrm>
          <a:prstGeom prst="rect">
            <a:avLst/>
          </a:prstGeom>
          <a:noFill/>
          <a:ln/>
        </p:spPr>
        <p:txBody>
          <a:bodyPr wrap="square" lIns="0" tIns="0" rIns="0" bIns="0" rtlCol="0" anchor="ctr"/>
          <a:lstStyle/>
          <a:p>
            <a:pPr algn="ctr" indent="0" marL="0">
              <a:buNone/>
            </a:pPr>
            <a:r>
              <a:rPr lang="en-US" sz="1000" b="1" dirty="0">
                <a:solidFill>
                  <a:srgbClr val="1A6FBF"/>
                </a:solidFill>
                <a:latin typeface="Calibri" pitchFamily="34" charset="0"/>
                <a:ea typeface="Calibri" pitchFamily="34" charset="-122"/>
                <a:cs typeface="Calibri" pitchFamily="34" charset="-120"/>
              </a:rPr>
              <a:t>6</a:t>
            </a:r>
            <a:endParaRPr lang="en-US" sz="1000" dirty="0"/>
          </a:p>
        </p:txBody>
      </p:sp>
      <p:sp>
        <p:nvSpPr>
          <p:cNvPr id="46" name="Text 44"/>
          <p:cNvSpPr/>
          <p:nvPr/>
        </p:nvSpPr>
        <p:spPr>
          <a:xfrm>
            <a:off x="2834640" y="3136392"/>
            <a:ext cx="1143000" cy="384048"/>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LBP 20041</a:t>
            </a:r>
            <a:endParaRPr lang="en-US" sz="1100" dirty="0"/>
          </a:p>
        </p:txBody>
      </p:sp>
      <p:sp>
        <p:nvSpPr>
          <p:cNvPr id="47" name="Shape 45"/>
          <p:cNvSpPr/>
          <p:nvPr/>
        </p:nvSpPr>
        <p:spPr>
          <a:xfrm>
            <a:off x="4160520" y="3218688"/>
            <a:ext cx="1325880" cy="237744"/>
          </a:xfrm>
          <a:prstGeom prst="roundRect">
            <a:avLst>
              <a:gd name="adj" fmla="val 46154"/>
            </a:avLst>
          </a:prstGeom>
          <a:solidFill>
            <a:srgbClr val="1A6FBF">
              <a:alpha val="12000"/>
            </a:srgbClr>
          </a:solidFill>
          <a:ln/>
        </p:spPr>
      </p:sp>
      <p:sp>
        <p:nvSpPr>
          <p:cNvPr id="48" name="Text 46"/>
          <p:cNvSpPr/>
          <p:nvPr/>
        </p:nvSpPr>
        <p:spPr>
          <a:xfrm>
            <a:off x="4160520" y="3218688"/>
            <a:ext cx="1325880" cy="237744"/>
          </a:xfrm>
          <a:prstGeom prst="rect">
            <a:avLst/>
          </a:prstGeom>
          <a:noFill/>
          <a:ln/>
        </p:spPr>
        <p:txBody>
          <a:bodyPr wrap="square" lIns="0" tIns="0" rIns="0" bIns="0" rtlCol="0" anchor="ctr"/>
          <a:lstStyle/>
          <a:p>
            <a:pPr algn="ctr" indent="0" marL="0">
              <a:buNone/>
            </a:pPr>
            <a:r>
              <a:rPr lang="en-US" sz="900" b="1" dirty="0">
                <a:solidFill>
                  <a:srgbClr val="1A6FBF"/>
                </a:solidFill>
                <a:latin typeface="Calibri" pitchFamily="34" charset="0"/>
                <a:ea typeface="Calibri" pitchFamily="34" charset="-122"/>
                <a:cs typeface="Calibri" pitchFamily="34" charset="-120"/>
              </a:rPr>
              <a:t>Nos porteurs</a:t>
            </a:r>
            <a:endParaRPr lang="en-US" sz="900" dirty="0"/>
          </a:p>
        </p:txBody>
      </p:sp>
      <p:sp>
        <p:nvSpPr>
          <p:cNvPr id="49" name="Text 47"/>
          <p:cNvSpPr/>
          <p:nvPr/>
        </p:nvSpPr>
        <p:spPr>
          <a:xfrm>
            <a:off x="6080760" y="3136392"/>
            <a:ext cx="1188720" cy="384048"/>
          </a:xfrm>
          <a:prstGeom prst="rect">
            <a:avLst/>
          </a:prstGeom>
          <a:noFill/>
          <a:ln/>
        </p:spPr>
        <p:txBody>
          <a:bodyPr wrap="square" lIns="0" tIns="0" rIns="0" bIns="0" rtlCol="0" anchor="ctr"/>
          <a:lstStyle/>
          <a:p>
            <a:pPr algn="r" indent="0" marL="0">
              <a:buNone/>
            </a:pPr>
            <a:r>
              <a:rPr lang="en-US" sz="1100" dirty="0">
                <a:solidFill>
                  <a:srgbClr val="2D3748"/>
                </a:solidFill>
                <a:latin typeface="Calibri" pitchFamily="34" charset="0"/>
                <a:ea typeface="Calibri" pitchFamily="34" charset="-122"/>
                <a:cs typeface="Calibri" pitchFamily="34" charset="-120"/>
              </a:rPr>
              <a:t>1204</a:t>
            </a:r>
            <a:endParaRPr lang="en-US" sz="1100" dirty="0"/>
          </a:p>
        </p:txBody>
      </p:sp>
      <p:sp>
        <p:nvSpPr>
          <p:cNvPr id="50" name="Text 48"/>
          <p:cNvSpPr/>
          <p:nvPr/>
        </p:nvSpPr>
        <p:spPr>
          <a:xfrm>
            <a:off x="7406640" y="3136392"/>
            <a:ext cx="1463040" cy="384048"/>
          </a:xfrm>
          <a:prstGeom prst="rect">
            <a:avLst/>
          </a:prstGeom>
          <a:noFill/>
          <a:ln/>
        </p:spPr>
        <p:txBody>
          <a:bodyPr wrap="square" lIns="0" tIns="0" rIns="0" bIns="0" rtlCol="0" anchor="ctr"/>
          <a:lstStyle/>
          <a:p>
            <a:pPr algn="r" indent="0" marL="0">
              <a:buNone/>
            </a:pPr>
            <a:r>
              <a:rPr lang="en-US" sz="1000" dirty="0">
                <a:solidFill>
                  <a:srgbClr val="2D3748"/>
                </a:solidFill>
                <a:latin typeface="Calibri" pitchFamily="34" charset="0"/>
                <a:ea typeface="Calibri" pitchFamily="34" charset="-122"/>
                <a:cs typeface="Calibri" pitchFamily="34" charset="-120"/>
              </a:rPr>
              <a:t>90 300 EUR</a:t>
            </a:r>
            <a:endParaRPr lang="en-US" sz="1000" dirty="0"/>
          </a:p>
        </p:txBody>
      </p:sp>
      <p:sp>
        <p:nvSpPr>
          <p:cNvPr id="51" name="Shape 49"/>
          <p:cNvSpPr/>
          <p:nvPr/>
        </p:nvSpPr>
        <p:spPr>
          <a:xfrm>
            <a:off x="374904" y="3566160"/>
            <a:ext cx="8394192" cy="438912"/>
          </a:xfrm>
          <a:prstGeom prst="rect">
            <a:avLst/>
          </a:prstGeom>
          <a:solidFill>
            <a:srgbClr val="F0F3F8"/>
          </a:solidFill>
          <a:ln/>
        </p:spPr>
      </p:sp>
      <p:sp>
        <p:nvSpPr>
          <p:cNvPr id="52" name="Text 50"/>
          <p:cNvSpPr/>
          <p:nvPr/>
        </p:nvSpPr>
        <p:spPr>
          <a:xfrm>
            <a:off x="502920" y="3593592"/>
            <a:ext cx="1280160" cy="384048"/>
          </a:xfrm>
          <a:prstGeom prst="rect">
            <a:avLst/>
          </a:prstGeom>
          <a:noFill/>
          <a:ln/>
        </p:spPr>
        <p:txBody>
          <a:bodyPr wrap="square" lIns="0" tIns="0" rIns="0" bIns="0" rtlCol="0" anchor="ctr"/>
          <a:lstStyle/>
          <a:p>
            <a:pPr indent="0" marL="0">
              <a:buNone/>
            </a:pPr>
            <a:r>
              <a:rPr lang="en-US" sz="1100" b="1" dirty="0">
                <a:solidFill>
                  <a:srgbClr val="2D3748"/>
                </a:solidFill>
                <a:latin typeface="Courier New" pitchFamily="34" charset="0"/>
                <a:ea typeface="Courier New" pitchFamily="34" charset="-122"/>
                <a:cs typeface="Courier New" pitchFamily="34" charset="-120"/>
              </a:rPr>
              <a:t>55556677</a:t>
            </a:r>
            <a:endParaRPr lang="en-US" sz="1100" dirty="0"/>
          </a:p>
        </p:txBody>
      </p:sp>
      <p:sp>
        <p:nvSpPr>
          <p:cNvPr id="53" name="Shape 51"/>
          <p:cNvSpPr/>
          <p:nvPr/>
        </p:nvSpPr>
        <p:spPr>
          <a:xfrm>
            <a:off x="1920240" y="3675888"/>
            <a:ext cx="365760" cy="237744"/>
          </a:xfrm>
          <a:prstGeom prst="roundRect">
            <a:avLst>
              <a:gd name="adj" fmla="val 38462"/>
            </a:avLst>
          </a:prstGeom>
          <a:solidFill>
            <a:srgbClr val="E85D04">
              <a:alpha val="12000"/>
            </a:srgbClr>
          </a:solidFill>
          <a:ln/>
        </p:spPr>
      </p:sp>
      <p:sp>
        <p:nvSpPr>
          <p:cNvPr id="54" name="Text 52"/>
          <p:cNvSpPr/>
          <p:nvPr/>
        </p:nvSpPr>
        <p:spPr>
          <a:xfrm>
            <a:off x="1920240" y="3675888"/>
            <a:ext cx="365760" cy="237744"/>
          </a:xfrm>
          <a:prstGeom prst="rect">
            <a:avLst/>
          </a:prstGeom>
          <a:noFill/>
          <a:ln/>
        </p:spPr>
        <p:txBody>
          <a:bodyPr wrap="square" lIns="0" tIns="0" rIns="0" bIns="0" rtlCol="0" anchor="ctr"/>
          <a:lstStyle/>
          <a:p>
            <a:pPr algn="ctr" indent="0" marL="0">
              <a:buNone/>
            </a:pPr>
            <a:r>
              <a:rPr lang="en-US" sz="1000" b="1" dirty="0">
                <a:solidFill>
                  <a:srgbClr val="E85D04"/>
                </a:solidFill>
                <a:latin typeface="Calibri" pitchFamily="34" charset="0"/>
                <a:ea typeface="Calibri" pitchFamily="34" charset="-122"/>
                <a:cs typeface="Calibri" pitchFamily="34" charset="-120"/>
              </a:rPr>
              <a:t>8</a:t>
            </a:r>
            <a:endParaRPr lang="en-US" sz="1000" dirty="0"/>
          </a:p>
        </p:txBody>
      </p:sp>
      <p:sp>
        <p:nvSpPr>
          <p:cNvPr id="55" name="Text 53"/>
          <p:cNvSpPr/>
          <p:nvPr/>
        </p:nvSpPr>
        <p:spPr>
          <a:xfrm>
            <a:off x="2834640" y="3593592"/>
            <a:ext cx="1143000" cy="384048"/>
          </a:xfrm>
          <a:prstGeom prst="rect">
            <a:avLst/>
          </a:prstGeom>
          <a:noFill/>
          <a:ln/>
        </p:spPr>
        <p:txBody>
          <a:bodyPr wrap="square" lIns="0" tIns="0" rIns="0" bIns="0" rtlCol="0" anchor="ctr"/>
          <a:lstStyle/>
          <a:p>
            <a:pPr indent="0" marL="0">
              <a:buNone/>
            </a:pPr>
            <a:r>
              <a:rPr lang="en-US" sz="1100" b="1" dirty="0">
                <a:solidFill>
                  <a:srgbClr val="0EA470"/>
                </a:solidFill>
                <a:latin typeface="Calibri" pitchFamily="34" charset="0"/>
                <a:ea typeface="Calibri" pitchFamily="34" charset="-122"/>
                <a:cs typeface="Calibri" pitchFamily="34" charset="-120"/>
              </a:rPr>
              <a:t>CA</a:t>
            </a:r>
            <a:endParaRPr lang="en-US" sz="1100" dirty="0"/>
          </a:p>
        </p:txBody>
      </p:sp>
      <p:sp>
        <p:nvSpPr>
          <p:cNvPr id="56" name="Shape 54"/>
          <p:cNvSpPr/>
          <p:nvPr/>
        </p:nvSpPr>
        <p:spPr>
          <a:xfrm>
            <a:off x="4160520" y="3675888"/>
            <a:ext cx="1325880" cy="237744"/>
          </a:xfrm>
          <a:prstGeom prst="roundRect">
            <a:avLst>
              <a:gd name="adj" fmla="val 46154"/>
            </a:avLst>
          </a:prstGeom>
          <a:solidFill>
            <a:srgbClr val="E85D04">
              <a:alpha val="12000"/>
            </a:srgbClr>
          </a:solidFill>
          <a:ln/>
        </p:spPr>
      </p:sp>
      <p:sp>
        <p:nvSpPr>
          <p:cNvPr id="57" name="Text 55"/>
          <p:cNvSpPr/>
          <p:nvPr/>
        </p:nvSpPr>
        <p:spPr>
          <a:xfrm>
            <a:off x="4160520" y="3675888"/>
            <a:ext cx="1325880" cy="237744"/>
          </a:xfrm>
          <a:prstGeom prst="rect">
            <a:avLst/>
          </a:prstGeom>
          <a:noFill/>
          <a:ln/>
        </p:spPr>
        <p:txBody>
          <a:bodyPr wrap="square" lIns="0" tIns="0" rIns="0" bIns="0" rtlCol="0" anchor="ctr"/>
          <a:lstStyle/>
          <a:p>
            <a:pPr algn="ctr" indent="0" marL="0">
              <a:buNone/>
            </a:pPr>
            <a:r>
              <a:rPr lang="en-US" sz="900" b="1" dirty="0">
                <a:solidFill>
                  <a:srgbClr val="E85D04"/>
                </a:solidFill>
                <a:latin typeface="Calibri" pitchFamily="34" charset="0"/>
                <a:ea typeface="Calibri" pitchFamily="34" charset="-122"/>
                <a:cs typeface="Calibri" pitchFamily="34" charset="-120"/>
              </a:rPr>
              <a:t>Confrere</a:t>
            </a:r>
            <a:endParaRPr lang="en-US" sz="900" dirty="0"/>
          </a:p>
        </p:txBody>
      </p:sp>
      <p:sp>
        <p:nvSpPr>
          <p:cNvPr id="58" name="Text 56"/>
          <p:cNvSpPr/>
          <p:nvPr/>
        </p:nvSpPr>
        <p:spPr>
          <a:xfrm>
            <a:off x="6080760" y="3593592"/>
            <a:ext cx="1188720" cy="384048"/>
          </a:xfrm>
          <a:prstGeom prst="rect">
            <a:avLst/>
          </a:prstGeom>
          <a:noFill/>
          <a:ln/>
        </p:spPr>
        <p:txBody>
          <a:bodyPr wrap="square" lIns="0" tIns="0" rIns="0" bIns="0" rtlCol="0" anchor="ctr"/>
          <a:lstStyle/>
          <a:p>
            <a:pPr algn="r" indent="0" marL="0">
              <a:buNone/>
            </a:pPr>
            <a:r>
              <a:rPr lang="en-US" sz="1100" dirty="0">
                <a:solidFill>
                  <a:srgbClr val="2D3748"/>
                </a:solidFill>
                <a:latin typeface="Calibri" pitchFamily="34" charset="0"/>
                <a:ea typeface="Calibri" pitchFamily="34" charset="-122"/>
                <a:cs typeface="Calibri" pitchFamily="34" charset="-120"/>
              </a:rPr>
              <a:t>331</a:t>
            </a:r>
            <a:endParaRPr lang="en-US" sz="1100" dirty="0"/>
          </a:p>
        </p:txBody>
      </p:sp>
      <p:sp>
        <p:nvSpPr>
          <p:cNvPr id="59" name="Text 57"/>
          <p:cNvSpPr/>
          <p:nvPr/>
        </p:nvSpPr>
        <p:spPr>
          <a:xfrm>
            <a:off x="7406640" y="3593592"/>
            <a:ext cx="1463040" cy="384048"/>
          </a:xfrm>
          <a:prstGeom prst="rect">
            <a:avLst/>
          </a:prstGeom>
          <a:noFill/>
          <a:ln/>
        </p:spPr>
        <p:txBody>
          <a:bodyPr wrap="square" lIns="0" tIns="0" rIns="0" bIns="0" rtlCol="0" anchor="ctr"/>
          <a:lstStyle/>
          <a:p>
            <a:pPr algn="r" indent="0" marL="0">
              <a:buNone/>
            </a:pPr>
            <a:r>
              <a:rPr lang="en-US" sz="1000" dirty="0">
                <a:solidFill>
                  <a:srgbClr val="2D3748"/>
                </a:solidFill>
                <a:latin typeface="Calibri" pitchFamily="34" charset="0"/>
                <a:ea typeface="Calibri" pitchFamily="34" charset="-122"/>
                <a:cs typeface="Calibri" pitchFamily="34" charset="-120"/>
              </a:rPr>
              <a:t>24 825 EUR</a:t>
            </a:r>
            <a:endParaRPr lang="en-US" sz="1000" dirty="0"/>
          </a:p>
        </p:txBody>
      </p:sp>
      <p:sp>
        <p:nvSpPr>
          <p:cNvPr id="60" name="Shape 58"/>
          <p:cNvSpPr/>
          <p:nvPr/>
        </p:nvSpPr>
        <p:spPr>
          <a:xfrm>
            <a:off x="365760" y="4553712"/>
            <a:ext cx="1371600" cy="256032"/>
          </a:xfrm>
          <a:prstGeom prst="roundRect">
            <a:avLst>
              <a:gd name="adj" fmla="val 42857"/>
            </a:avLst>
          </a:prstGeom>
          <a:solidFill>
            <a:srgbClr val="1A6FBF">
              <a:alpha val="12000"/>
            </a:srgbClr>
          </a:solidFill>
          <a:ln/>
        </p:spPr>
      </p:sp>
      <p:sp>
        <p:nvSpPr>
          <p:cNvPr id="61" name="Text 59"/>
          <p:cNvSpPr/>
          <p:nvPr/>
        </p:nvSpPr>
        <p:spPr>
          <a:xfrm>
            <a:off x="365760" y="4553712"/>
            <a:ext cx="1371600" cy="256032"/>
          </a:xfrm>
          <a:prstGeom prst="rect">
            <a:avLst/>
          </a:prstGeom>
          <a:noFill/>
          <a:ln/>
        </p:spPr>
        <p:txBody>
          <a:bodyPr wrap="square" lIns="0" tIns="0" rIns="0" bIns="0" rtlCol="0" anchor="ctr"/>
          <a:lstStyle/>
          <a:p>
            <a:pPr algn="ctr" indent="0" marL="0">
              <a:buNone/>
            </a:pPr>
            <a:r>
              <a:rPr lang="en-US" sz="800" b="1" dirty="0">
                <a:solidFill>
                  <a:srgbClr val="1A6FBF"/>
                </a:solidFill>
                <a:latin typeface="Calibri" pitchFamily="34" charset="0"/>
                <a:ea typeface="Calibri" pitchFamily="34" charset="-122"/>
                <a:cs typeface="Calibri" pitchFamily="34" charset="-120"/>
              </a:rPr>
              <a:t>Nos porteurs = 20041</a:t>
            </a:r>
            <a:endParaRPr lang="en-US" sz="800" dirty="0"/>
          </a:p>
        </p:txBody>
      </p:sp>
      <p:sp>
        <p:nvSpPr>
          <p:cNvPr id="62" name="Shape 60"/>
          <p:cNvSpPr/>
          <p:nvPr/>
        </p:nvSpPr>
        <p:spPr>
          <a:xfrm>
            <a:off x="1920240" y="4553712"/>
            <a:ext cx="1371600" cy="256032"/>
          </a:xfrm>
          <a:prstGeom prst="roundRect">
            <a:avLst>
              <a:gd name="adj" fmla="val 42857"/>
            </a:avLst>
          </a:prstGeom>
          <a:solidFill>
            <a:srgbClr val="E85D04">
              <a:alpha val="12000"/>
            </a:srgbClr>
          </a:solidFill>
          <a:ln/>
        </p:spPr>
      </p:sp>
      <p:sp>
        <p:nvSpPr>
          <p:cNvPr id="63" name="Text 61"/>
          <p:cNvSpPr/>
          <p:nvPr/>
        </p:nvSpPr>
        <p:spPr>
          <a:xfrm>
            <a:off x="1920240" y="4553712"/>
            <a:ext cx="1371600" cy="256032"/>
          </a:xfrm>
          <a:prstGeom prst="rect">
            <a:avLst/>
          </a:prstGeom>
          <a:noFill/>
          <a:ln/>
        </p:spPr>
        <p:txBody>
          <a:bodyPr wrap="square" lIns="0" tIns="0" rIns="0" bIns="0" rtlCol="0" anchor="ctr"/>
          <a:lstStyle/>
          <a:p>
            <a:pPr algn="ctr" indent="0" marL="0">
              <a:buNone/>
            </a:pPr>
            <a:r>
              <a:rPr lang="en-US" sz="800" b="1" dirty="0">
                <a:solidFill>
                  <a:srgbClr val="E85D04"/>
                </a:solidFill>
                <a:latin typeface="Calibri" pitchFamily="34" charset="0"/>
                <a:ea typeface="Calibri" pitchFamily="34" charset="-122"/>
                <a:cs typeface="Calibri" pitchFamily="34" charset="-120"/>
              </a:rPr>
              <a:t>Confreres = autres banques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2026-06-11T07:21:06Z</dcterms:created>
  <dcterms:modified xsi:type="dcterms:W3CDTF">2026-06-11T07:21:06Z</dcterms:modified>
</cp:coreProperties>
</file>