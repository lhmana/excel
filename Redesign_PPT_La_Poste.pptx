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481" y="800100"/>
            <a:ext cx="7852588" cy="7429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0481" y="1683067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9EE0"/>
          </a:solidFill>
          <a:ln/>
        </p:spPr>
      </p:sp>
      <p:sp>
        <p:nvSpPr>
          <p:cNvPr id="4" name="Text 1"/>
          <p:cNvSpPr/>
          <p:nvPr/>
        </p:nvSpPr>
        <p:spPr>
          <a:xfrm>
            <a:off x="1638062" y="1543050"/>
            <a:ext cx="54116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300" kern="0" dirty="0">
                <a:solidFill>
                  <a:srgbClr val="008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TECHNIQUE · DATA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990481" y="2061150"/>
            <a:ext cx="8088166" cy="183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200" b="1" spc="-144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Jointure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90481" y="4081760"/>
            <a:ext cx="80881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Retraits × Table BINs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90481" y="4767560"/>
            <a:ext cx="6278818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25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identifier la banque confrère à partir du numéro de carte ?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90481" y="5895201"/>
            <a:ext cx="891361" cy="491490"/>
          </a:xfrm>
          <a:prstGeom prst="roundRect">
            <a:avLst>
              <a:gd name="adj" fmla="val 17442"/>
            </a:avLst>
          </a:prstGeom>
          <a:solidFill>
            <a:srgbClr val="E7F2FB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3361" y="5992356"/>
            <a:ext cx="60180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BIN6</a:t>
            </a:r>
            <a:endParaRPr lang="en-US" sz="1725" dirty="0"/>
          </a:p>
        </p:txBody>
      </p:sp>
      <p:sp>
        <p:nvSpPr>
          <p:cNvPr id="10" name="Shape 7"/>
          <p:cNvSpPr/>
          <p:nvPr/>
        </p:nvSpPr>
        <p:spPr>
          <a:xfrm>
            <a:off x="1996142" y="5895201"/>
            <a:ext cx="891361" cy="491490"/>
          </a:xfrm>
          <a:prstGeom prst="roundRect">
            <a:avLst>
              <a:gd name="adj" fmla="val 17442"/>
            </a:avLst>
          </a:prstGeom>
          <a:solidFill>
            <a:srgbClr val="E7F2FB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79022" y="5992356"/>
            <a:ext cx="60180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BIN8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3001804" y="5895201"/>
            <a:ext cx="1285696" cy="491490"/>
          </a:xfrm>
          <a:prstGeom prst="roundRect">
            <a:avLst>
              <a:gd name="adj" fmla="val 17442"/>
            </a:avLst>
          </a:prstGeom>
          <a:solidFill>
            <a:srgbClr val="E7F2FB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84684" y="5992356"/>
            <a:ext cx="9961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4401800" y="5895201"/>
            <a:ext cx="1548408" cy="491490"/>
          </a:xfrm>
          <a:prstGeom prst="roundRect">
            <a:avLst>
              <a:gd name="adj" fmla="val 17442"/>
            </a:avLst>
          </a:prstGeom>
          <a:solidFill>
            <a:srgbClr val="E7F2FB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84680" y="5992356"/>
            <a:ext cx="12588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9509760" y="0"/>
            <a:ext cx="8778240" cy="7091422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17" name="Shape 14"/>
          <p:cNvSpPr/>
          <p:nvPr/>
        </p:nvSpPr>
        <p:spPr>
          <a:xfrm>
            <a:off x="9509760" y="0"/>
            <a:ext cx="11430" cy="7091422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28035" y="553105"/>
            <a:ext cx="4952940" cy="1196221"/>
          </a:xfrm>
          <a:prstGeom prst="roundRect">
            <a:avLst>
              <a:gd name="adj" fmla="val 12740"/>
            </a:avLst>
          </a:prstGeom>
          <a:solidFill>
            <a:srgbClr val="FFFFFF"/>
          </a:solidFill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323850" dist="133350" dir="5400000">
              <a:srgbClr val="0C235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706105" y="793135"/>
            <a:ext cx="45287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 DE CARTE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706105" y="1120676"/>
            <a:ext cx="452870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 89XX XXXX</a:t>
            </a:r>
            <a:endParaRPr lang="en-US" sz="2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540" y="1806476"/>
            <a:ext cx="285750" cy="28575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428035" y="2149376"/>
            <a:ext cx="4952940" cy="1196221"/>
          </a:xfrm>
          <a:prstGeom prst="roundRect">
            <a:avLst>
              <a:gd name="adj" fmla="val 12740"/>
            </a:avLst>
          </a:prstGeom>
          <a:solidFill>
            <a:srgbClr val="FFFFFF"/>
          </a:solidFill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323850" dist="133350" dir="5400000">
              <a:srgbClr val="0C2350">
                <a:alpha val="4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1706105" y="2389406"/>
            <a:ext cx="45287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NETTOYÉ · TYPE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1706105" y="2716947"/>
            <a:ext cx="452870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456789 · bin_type 6</a:t>
            </a:r>
            <a:endParaRPr lang="en-US" sz="2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540" y="3402747"/>
            <a:ext cx="285750" cy="28575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428035" y="3745646"/>
            <a:ext cx="4952940" cy="1196221"/>
          </a:xfrm>
          <a:prstGeom prst="roundRect">
            <a:avLst>
              <a:gd name="adj" fmla="val 12740"/>
            </a:avLst>
          </a:prstGeom>
          <a:solidFill>
            <a:srgbClr val="FFFFFF"/>
          </a:solidFill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323850" dist="133350" dir="5400000">
              <a:srgbClr val="0C2350">
                <a:alpha val="4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1706105" y="3985676"/>
            <a:ext cx="45287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PLAGE BIN CORRESPONDANTE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1706105" y="4313218"/>
            <a:ext cx="452870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456780 → 456799</a:t>
            </a:r>
            <a:endParaRPr lang="en-US" sz="22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540" y="4999018"/>
            <a:ext cx="285750" cy="28575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428035" y="5341918"/>
            <a:ext cx="4952940" cy="1196221"/>
          </a:xfrm>
          <a:prstGeom prst="roundRect">
            <a:avLst>
              <a:gd name="adj" fmla="val 12740"/>
            </a:avLst>
          </a:prstGeom>
          <a:solidFill>
            <a:srgbClr val="16356E"/>
          </a:solidFill>
          <a:ln w="11430">
            <a:solidFill>
              <a:srgbClr val="16356E"/>
            </a:solidFill>
            <a:prstDash val="solid"/>
          </a:ln>
          <a:effectLst>
            <a:outerShdw sx="100000" sy="100000" kx="0" ky="0" algn="bl" rotWithShape="0" blurRad="323850" dist="133350" dir="5400000">
              <a:srgbClr val="0C2350">
                <a:alpha val="4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1706105" y="5581947"/>
            <a:ext cx="45287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34A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IDENTIFIÉE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1706105" y="5909488"/>
            <a:ext cx="452870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 · Confrère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481" y="800100"/>
            <a:ext cx="438090" cy="438090"/>
          </a:xfrm>
          <a:prstGeom prst="ellipse">
            <a:avLst/>
          </a:prstGeom>
          <a:solidFill>
            <a:srgbClr val="009EE0"/>
          </a:solidFill>
          <a:ln/>
        </p:spPr>
      </p:sp>
      <p:sp>
        <p:nvSpPr>
          <p:cNvPr id="3" name="Text 1"/>
          <p:cNvSpPr/>
          <p:nvPr/>
        </p:nvSpPr>
        <p:spPr>
          <a:xfrm>
            <a:off x="952381" y="800100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1802" y="864751"/>
            <a:ext cx="308781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63" kern="0" dirty="0">
                <a:solidFill>
                  <a:srgbClr val="008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 · DÉTECTION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481" y="1371441"/>
            <a:ext cx="11576623" cy="659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72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du type de BIN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481" y="2126357"/>
            <a:ext cx="115766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numéro de carte est masqué pour des raisons de sécurité — on identifie un BIN6 ou un BIN8 selon les positions 7–8.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319" y="8001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0481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3811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1666637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39967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2342793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16123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850" dirty="0"/>
          </a:p>
        </p:txBody>
      </p:sp>
      <p:sp>
        <p:nvSpPr>
          <p:cNvPr id="14" name="Shape 11"/>
          <p:cNvSpPr/>
          <p:nvPr/>
        </p:nvSpPr>
        <p:spPr>
          <a:xfrm>
            <a:off x="3018949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2279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850" dirty="0"/>
          </a:p>
        </p:txBody>
      </p:sp>
      <p:sp>
        <p:nvSpPr>
          <p:cNvPr id="16" name="Shape 13"/>
          <p:cNvSpPr/>
          <p:nvPr/>
        </p:nvSpPr>
        <p:spPr>
          <a:xfrm>
            <a:off x="3695104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68434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850" dirty="0"/>
          </a:p>
        </p:txBody>
      </p:sp>
      <p:sp>
        <p:nvSpPr>
          <p:cNvPr id="18" name="Shape 15"/>
          <p:cNvSpPr/>
          <p:nvPr/>
        </p:nvSpPr>
        <p:spPr>
          <a:xfrm>
            <a:off x="4371261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E7F2FB"/>
          </a:solidFill>
          <a:ln w="11430">
            <a:solidFill>
              <a:srgbClr val="009E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4591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1648876" y="4108393"/>
            <a:ext cx="265442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1–6 </a:t>
            </a:r>
            <a:pPr algn="ctr" indent="0" marL="0">
              <a:buNone/>
            </a:pPr>
            <a:r>
              <a:rPr lang="en-US" sz="1575" b="1" spc="63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préfixe émetteur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5726966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16356E"/>
          </a:solidFill>
          <a:ln w="11430">
            <a:solidFill>
              <a:srgbClr val="1635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00296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23" name="Shape 20"/>
          <p:cNvSpPr/>
          <p:nvPr/>
        </p:nvSpPr>
        <p:spPr>
          <a:xfrm>
            <a:off x="6403121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16356E"/>
          </a:solidFill>
          <a:ln w="11430">
            <a:solidFill>
              <a:srgbClr val="1635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6451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25" name="Text 22"/>
          <p:cNvSpPr/>
          <p:nvPr/>
        </p:nvSpPr>
        <p:spPr>
          <a:xfrm>
            <a:off x="5247381" y="4108393"/>
            <a:ext cx="2225933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7–8 </a:t>
            </a:r>
            <a:pPr algn="ctr" indent="0" marL="0">
              <a:buNone/>
            </a:pPr>
            <a:r>
              <a:rPr lang="en-US" sz="1575" b="1" spc="63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discriminant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7759005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FFFFFF"/>
          </a:solidFill>
          <a:ln w="11430">
            <a:solidFill>
              <a:srgbClr val="C2D6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32335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28" name="Shape 25"/>
          <p:cNvSpPr/>
          <p:nvPr/>
        </p:nvSpPr>
        <p:spPr>
          <a:xfrm>
            <a:off x="8435161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FFFFFF"/>
          </a:solidFill>
          <a:ln w="11430">
            <a:solidFill>
              <a:srgbClr val="C2D6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08491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30" name="Shape 27"/>
          <p:cNvSpPr/>
          <p:nvPr/>
        </p:nvSpPr>
        <p:spPr>
          <a:xfrm>
            <a:off x="9111317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FFFFFF"/>
          </a:solidFill>
          <a:ln w="11430">
            <a:solidFill>
              <a:srgbClr val="C2D6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84647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32" name="Shape 29"/>
          <p:cNvSpPr/>
          <p:nvPr/>
        </p:nvSpPr>
        <p:spPr>
          <a:xfrm>
            <a:off x="9787472" y="3241677"/>
            <a:ext cx="590431" cy="742950"/>
          </a:xfrm>
          <a:prstGeom prst="roundRect">
            <a:avLst>
              <a:gd name="adj" fmla="val 17746"/>
            </a:avLst>
          </a:prstGeom>
          <a:solidFill>
            <a:srgbClr val="FFFFFF"/>
          </a:solidFill>
          <a:ln w="11430">
            <a:solidFill>
              <a:srgbClr val="C2D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60802" y="3253107"/>
            <a:ext cx="6437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850" dirty="0"/>
          </a:p>
        </p:txBody>
      </p:sp>
      <p:sp>
        <p:nvSpPr>
          <p:cNvPr id="34" name="Text 31"/>
          <p:cNvSpPr/>
          <p:nvPr/>
        </p:nvSpPr>
        <p:spPr>
          <a:xfrm>
            <a:off x="8652271" y="4108393"/>
            <a:ext cx="832366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masqué</a:t>
            </a:r>
            <a:endParaRPr lang="en-US" sz="1575" dirty="0"/>
          </a:p>
        </p:txBody>
      </p:sp>
      <p:sp>
        <p:nvSpPr>
          <p:cNvPr id="35" name="Shape 32"/>
          <p:cNvSpPr/>
          <p:nvPr/>
        </p:nvSpPr>
        <p:spPr>
          <a:xfrm>
            <a:off x="990481" y="4754872"/>
            <a:ext cx="7782044" cy="4830961"/>
          </a:xfrm>
          <a:prstGeom prst="roundRect">
            <a:avLst>
              <a:gd name="adj" fmla="val 3549"/>
            </a:avLst>
          </a:prstGeom>
          <a:solidFill>
            <a:srgbClr val="FFFFFF">
              <a:alpha val="98000"/>
            </a:srgbClr>
          </a:solidFill>
          <a:ln w="11430">
            <a:solidFill>
              <a:srgbClr val="D8E5F1">
                <a:alpha val="98000"/>
              </a:srgbClr>
            </a:solidFill>
            <a:prstDash val="solid"/>
          </a:ln>
          <a:effectLst>
            <a:outerShdw sx="100000" sy="100000" kx="0" ky="0" algn="bl" rotWithShape="0" blurRad="304800" dist="114300" dir="5400000">
              <a:srgbClr val="0C2350">
                <a:alpha val="33293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344811" y="5082413"/>
            <a:ext cx="113811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BIN6</a:t>
            </a:r>
            <a:endParaRPr lang="en-US" sz="1950" dirty="0"/>
          </a:p>
        </p:txBody>
      </p:sp>
      <p:sp>
        <p:nvSpPr>
          <p:cNvPr id="37" name="Shape 34"/>
          <p:cNvSpPr/>
          <p:nvPr/>
        </p:nvSpPr>
        <p:spPr>
          <a:xfrm>
            <a:off x="2559070" y="5070983"/>
            <a:ext cx="1786473" cy="354330"/>
          </a:xfrm>
          <a:prstGeom prst="roundRect">
            <a:avLst>
              <a:gd name="adj" fmla="val 21505"/>
            </a:avLst>
          </a:prstGeom>
          <a:solidFill>
            <a:srgbClr val="009EE0"/>
          </a:solidFill>
          <a:ln/>
        </p:spPr>
      </p:sp>
      <p:sp>
        <p:nvSpPr>
          <p:cNvPr id="38" name="Text 35"/>
          <p:cNvSpPr/>
          <p:nvPr/>
        </p:nvSpPr>
        <p:spPr>
          <a:xfrm>
            <a:off x="2692420" y="5128133"/>
            <a:ext cx="159597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7–8 = 'XX'</a:t>
            </a:r>
            <a:endParaRPr lang="en-US" sz="1425" dirty="0"/>
          </a:p>
        </p:txBody>
      </p:sp>
      <p:sp>
        <p:nvSpPr>
          <p:cNvPr id="39" name="Text 36"/>
          <p:cNvSpPr/>
          <p:nvPr/>
        </p:nvSpPr>
        <p:spPr>
          <a:xfrm>
            <a:off x="1344811" y="5710885"/>
            <a:ext cx="728558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1344811" y="6030925"/>
            <a:ext cx="72855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 </a:t>
            </a:r>
            <a:pPr algn="l" indent="0" marL="0">
              <a:buNone/>
            </a:pPr>
            <a:r>
              <a:rPr lang="en-US" sz="1950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 XXXX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1344811" y="6560455"/>
            <a:ext cx="728558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</a:t>
            </a:r>
            <a:endParaRPr lang="en-US" sz="1575" dirty="0"/>
          </a:p>
        </p:txBody>
      </p:sp>
      <p:sp>
        <p:nvSpPr>
          <p:cNvPr id="42" name="Text 39"/>
          <p:cNvSpPr/>
          <p:nvPr/>
        </p:nvSpPr>
        <p:spPr>
          <a:xfrm>
            <a:off x="1344811" y="6880495"/>
            <a:ext cx="72855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prend les </a:t>
            </a:r>
            <a:pPr algn="l" indent="0" marL="0">
              <a:buNone/>
            </a:pPr>
            <a:r>
              <a:rPr lang="en-US" sz="1950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premiers </a:t>
            </a:r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chiffres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1344811" y="8286921"/>
            <a:ext cx="3470076" cy="982801"/>
          </a:xfrm>
          <a:prstGeom prst="roundRect">
            <a:avLst>
              <a:gd name="adj" fmla="val 11630"/>
            </a:avLst>
          </a:prstGeom>
          <a:solidFill>
            <a:srgbClr val="F2F8FC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546622" y="8450692"/>
            <a:ext cx="3158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bin_clean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1546622" y="8717332"/>
            <a:ext cx="31584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456789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4948118" y="8286921"/>
            <a:ext cx="3470076" cy="982801"/>
          </a:xfrm>
          <a:prstGeom prst="roundRect">
            <a:avLst>
              <a:gd name="adj" fmla="val 11630"/>
            </a:avLst>
          </a:prstGeom>
          <a:solidFill>
            <a:srgbClr val="F2F8FC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49929" y="8450692"/>
            <a:ext cx="3158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bin_type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5149929" y="8717332"/>
            <a:ext cx="31584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50" dirty="0"/>
          </a:p>
        </p:txBody>
      </p:sp>
      <p:sp>
        <p:nvSpPr>
          <p:cNvPr id="49" name="Shape 46"/>
          <p:cNvSpPr/>
          <p:nvPr/>
        </p:nvSpPr>
        <p:spPr>
          <a:xfrm>
            <a:off x="8839140" y="6861929"/>
            <a:ext cx="609540" cy="609540"/>
          </a:xfrm>
          <a:prstGeom prst="ellipse">
            <a:avLst/>
          </a:prstGeom>
          <a:solidFill>
            <a:srgbClr val="16356E"/>
          </a:solidFill>
          <a:ln/>
          <a:effectLst>
            <a:outerShdw sx="100000" sy="100000" kx="0" ky="0" algn="bl" rotWithShape="0" blurRad="190500" dist="76200" dir="5400000">
              <a:srgbClr val="0C2350">
                <a:alpha val="5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8801040" y="6861929"/>
            <a:ext cx="685740" cy="64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9515474" y="4760170"/>
            <a:ext cx="7782044" cy="4830961"/>
          </a:xfrm>
          <a:prstGeom prst="roundRect">
            <a:avLst>
              <a:gd name="adj" fmla="val 3549"/>
            </a:avLst>
          </a:prstGeom>
          <a:solidFill>
            <a:srgbClr val="FFFFFF">
              <a:alpha val="95000"/>
            </a:srgbClr>
          </a:solidFill>
          <a:ln w="11430">
            <a:solidFill>
              <a:srgbClr val="D8E5F1">
                <a:alpha val="95000"/>
              </a:srgbClr>
            </a:solidFill>
            <a:prstDash val="solid"/>
          </a:ln>
          <a:effectLst>
            <a:outerShdw sx="100000" sy="100000" kx="0" ky="0" algn="bl" rotWithShape="0" blurRad="304800" dist="114300" dir="5400000">
              <a:srgbClr val="0C2350">
                <a:alpha val="32243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9869805" y="5087711"/>
            <a:ext cx="113811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BIN8</a:t>
            </a:r>
            <a:endParaRPr lang="en-US" sz="1950" dirty="0"/>
          </a:p>
        </p:txBody>
      </p:sp>
      <p:sp>
        <p:nvSpPr>
          <p:cNvPr id="53" name="Shape 50"/>
          <p:cNvSpPr/>
          <p:nvPr/>
        </p:nvSpPr>
        <p:spPr>
          <a:xfrm>
            <a:off x="11084063" y="5076281"/>
            <a:ext cx="1777365" cy="354330"/>
          </a:xfrm>
          <a:prstGeom prst="roundRect">
            <a:avLst>
              <a:gd name="adj" fmla="val 21505"/>
            </a:avLst>
          </a:prstGeom>
          <a:solidFill>
            <a:srgbClr val="009EE0"/>
          </a:solidFill>
          <a:ln/>
        </p:spPr>
      </p:sp>
      <p:sp>
        <p:nvSpPr>
          <p:cNvPr id="54" name="Text 51"/>
          <p:cNvSpPr/>
          <p:nvPr/>
        </p:nvSpPr>
        <p:spPr>
          <a:xfrm>
            <a:off x="11217413" y="5133431"/>
            <a:ext cx="158686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7–8 ≠ 'XX'</a:t>
            </a:r>
            <a:endParaRPr lang="en-US" sz="1425" dirty="0"/>
          </a:p>
        </p:txBody>
      </p:sp>
      <p:sp>
        <p:nvSpPr>
          <p:cNvPr id="55" name="Text 52"/>
          <p:cNvSpPr/>
          <p:nvPr/>
        </p:nvSpPr>
        <p:spPr>
          <a:xfrm>
            <a:off x="9869805" y="5716182"/>
            <a:ext cx="728558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575" dirty="0"/>
          </a:p>
        </p:txBody>
      </p:sp>
      <p:sp>
        <p:nvSpPr>
          <p:cNvPr id="56" name="Text 53"/>
          <p:cNvSpPr/>
          <p:nvPr/>
        </p:nvSpPr>
        <p:spPr>
          <a:xfrm>
            <a:off x="9869805" y="6036222"/>
            <a:ext cx="72855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 </a:t>
            </a:r>
            <a:pPr algn="l" indent="0" marL="0">
              <a:buNone/>
            </a:pPr>
            <a:r>
              <a:rPr lang="en-US" sz="1950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99 8712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9869805" y="6565753"/>
            <a:ext cx="728558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</a:t>
            </a:r>
            <a:endParaRPr lang="en-US" sz="1575" dirty="0"/>
          </a:p>
        </p:txBody>
      </p:sp>
      <p:sp>
        <p:nvSpPr>
          <p:cNvPr id="58" name="Text 55"/>
          <p:cNvSpPr/>
          <p:nvPr/>
        </p:nvSpPr>
        <p:spPr>
          <a:xfrm>
            <a:off x="9869805" y="6885792"/>
            <a:ext cx="72855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prend les </a:t>
            </a:r>
            <a:pPr algn="l" indent="0" marL="0">
              <a:buNone/>
            </a:pPr>
            <a:r>
              <a:rPr lang="en-US" sz="1950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premiers </a:t>
            </a:r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chiffres</a:t>
            </a:r>
            <a:endParaRPr lang="en-US" sz="1950" dirty="0"/>
          </a:p>
        </p:txBody>
      </p:sp>
      <p:sp>
        <p:nvSpPr>
          <p:cNvPr id="59" name="Shape 56"/>
          <p:cNvSpPr/>
          <p:nvPr/>
        </p:nvSpPr>
        <p:spPr>
          <a:xfrm>
            <a:off x="9869805" y="8292218"/>
            <a:ext cx="3470076" cy="982801"/>
          </a:xfrm>
          <a:prstGeom prst="roundRect">
            <a:avLst>
              <a:gd name="adj" fmla="val 11630"/>
            </a:avLst>
          </a:prstGeom>
          <a:solidFill>
            <a:srgbClr val="F2F8FC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071615" y="8455989"/>
            <a:ext cx="3158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bin_clean</a:t>
            </a:r>
            <a:endParaRPr lang="en-US" sz="1350" dirty="0"/>
          </a:p>
        </p:txBody>
      </p:sp>
      <p:sp>
        <p:nvSpPr>
          <p:cNvPr id="61" name="Text 58"/>
          <p:cNvSpPr/>
          <p:nvPr/>
        </p:nvSpPr>
        <p:spPr>
          <a:xfrm>
            <a:off x="10071615" y="8722629"/>
            <a:ext cx="31584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45321099</a:t>
            </a:r>
            <a:endParaRPr lang="en-US" sz="2250" dirty="0"/>
          </a:p>
        </p:txBody>
      </p:sp>
      <p:sp>
        <p:nvSpPr>
          <p:cNvPr id="62" name="Shape 59"/>
          <p:cNvSpPr/>
          <p:nvPr/>
        </p:nvSpPr>
        <p:spPr>
          <a:xfrm>
            <a:off x="13473111" y="8292218"/>
            <a:ext cx="3470076" cy="982801"/>
          </a:xfrm>
          <a:prstGeom prst="roundRect">
            <a:avLst>
              <a:gd name="adj" fmla="val 11630"/>
            </a:avLst>
          </a:prstGeom>
          <a:solidFill>
            <a:srgbClr val="F2F8FC"/>
          </a:solidFill>
          <a:ln w="11430">
            <a:solidFill>
              <a:srgbClr val="D8E5F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674922" y="8455989"/>
            <a:ext cx="3158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47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bin_type</a:t>
            </a:r>
            <a:endParaRPr lang="en-US" sz="1350" dirty="0"/>
          </a:p>
        </p:txBody>
      </p:sp>
      <p:sp>
        <p:nvSpPr>
          <p:cNvPr id="64" name="Text 61"/>
          <p:cNvSpPr/>
          <p:nvPr/>
        </p:nvSpPr>
        <p:spPr>
          <a:xfrm>
            <a:off x="13674922" y="8722629"/>
            <a:ext cx="31584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50" dirty="0"/>
          </a:p>
        </p:txBody>
      </p:sp>
      <p:sp>
        <p:nvSpPr>
          <p:cNvPr id="65" name="Text 62"/>
          <p:cNvSpPr/>
          <p:nvPr/>
        </p:nvSpPr>
        <p:spPr>
          <a:xfrm>
            <a:off x="990481" y="9586019"/>
            <a:ext cx="446156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Jointure · Table Retraits × Table BINs</a:t>
            </a:r>
            <a:endParaRPr lang="en-US" sz="1575" dirty="0"/>
          </a:p>
        </p:txBody>
      </p:sp>
      <p:sp>
        <p:nvSpPr>
          <p:cNvPr id="66" name="Shape 63"/>
          <p:cNvSpPr/>
          <p:nvPr/>
        </p:nvSpPr>
        <p:spPr>
          <a:xfrm>
            <a:off x="16535816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  <p:sp>
        <p:nvSpPr>
          <p:cNvPr id="67" name="Shape 64"/>
          <p:cNvSpPr/>
          <p:nvPr/>
        </p:nvSpPr>
        <p:spPr>
          <a:xfrm>
            <a:off x="16754771" y="9734609"/>
            <a:ext cx="323790" cy="114300"/>
          </a:xfrm>
          <a:prstGeom prst="roundRect">
            <a:avLst>
              <a:gd name="adj" fmla="val 50000"/>
            </a:avLst>
          </a:prstGeom>
          <a:solidFill>
            <a:srgbClr val="009EE0"/>
          </a:solidFill>
          <a:ln/>
        </p:spPr>
      </p:sp>
      <p:sp>
        <p:nvSpPr>
          <p:cNvPr id="68" name="Shape 65"/>
          <p:cNvSpPr/>
          <p:nvPr/>
        </p:nvSpPr>
        <p:spPr>
          <a:xfrm>
            <a:off x="17183219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481" y="800100"/>
            <a:ext cx="438090" cy="438090"/>
          </a:xfrm>
          <a:prstGeom prst="ellipse">
            <a:avLst/>
          </a:prstGeom>
          <a:solidFill>
            <a:srgbClr val="009EE0"/>
          </a:solidFill>
          <a:ln/>
        </p:spPr>
      </p:sp>
      <p:sp>
        <p:nvSpPr>
          <p:cNvPr id="3" name="Text 1"/>
          <p:cNvSpPr/>
          <p:nvPr/>
        </p:nvSpPr>
        <p:spPr>
          <a:xfrm>
            <a:off x="952381" y="800100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1802" y="864751"/>
            <a:ext cx="287773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63" kern="0" dirty="0">
                <a:solidFill>
                  <a:srgbClr val="008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· JOINTURE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481" y="1371441"/>
            <a:ext cx="11576623" cy="659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72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Jointure BETWEEN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481" y="2126356"/>
            <a:ext cx="11576623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retrait, on cherche la plage BIN dans laquelle tombe le </a:t>
            </a:r>
            <a:pPr algn="l" indent="0" marL="0">
              <a:lnSpc>
                <a:spcPct val="128000"/>
              </a:lnSpc>
              <a:buNone/>
            </a:pPr>
            <a:r>
              <a:rPr lang="en-US" sz="2550" b="1" dirty="0">
                <a:solidFill>
                  <a:srgbClr val="00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bin_clean </a:t>
            </a:r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plage donne la banque.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319" y="8001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0481" y="4603093"/>
            <a:ext cx="775061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spc="75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RETRAITS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990481" y="5064044"/>
            <a:ext cx="7524869" cy="3207187"/>
          </a:xfrm>
          <a:prstGeom prst="roundRect">
            <a:avLst>
              <a:gd name="adj" fmla="val 4158"/>
            </a:avLst>
          </a:prstGeom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285750" dist="95250" dir="5400000">
              <a:srgbClr val="0C235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1911" y="5075473"/>
            <a:ext cx="3951565" cy="529352"/>
          </a:xfrm>
          <a:prstGeom prst="roundRect">
            <a:avLst>
              <a:gd name="adj" fmla="val 21592"/>
            </a:avLst>
          </a:prstGeom>
          <a:solidFill>
            <a:srgbClr val="16356E"/>
          </a:solidFill>
          <a:ln/>
        </p:spPr>
      </p:sp>
      <p:sp>
        <p:nvSpPr>
          <p:cNvPr id="11" name="Text 8"/>
          <p:cNvSpPr/>
          <p:nvPr/>
        </p:nvSpPr>
        <p:spPr>
          <a:xfrm>
            <a:off x="1173361" y="5208823"/>
            <a:ext cx="3727212" cy="30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bin_clean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4953476" y="5075473"/>
            <a:ext cx="3550443" cy="52935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13" name="Text 10"/>
          <p:cNvSpPr/>
          <p:nvPr/>
        </p:nvSpPr>
        <p:spPr>
          <a:xfrm>
            <a:off x="5124926" y="5208823"/>
            <a:ext cx="3314057" cy="30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bin_type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001911" y="5604825"/>
            <a:ext cx="3951565" cy="567571"/>
          </a:xfrm>
          <a:prstGeom prst="rect">
            <a:avLst/>
          </a:prstGeom>
          <a:solidFill>
            <a:srgbClr val="E7F2F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1911" y="6160966"/>
            <a:ext cx="395156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361" y="5728650"/>
            <a:ext cx="3727212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456789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4953476" y="5604825"/>
            <a:ext cx="3550443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953476" y="6160966"/>
            <a:ext cx="3550443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9" name="Text 16"/>
          <p:cNvSpPr/>
          <p:nvPr/>
        </p:nvSpPr>
        <p:spPr>
          <a:xfrm>
            <a:off x="5124926" y="5728650"/>
            <a:ext cx="331405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1001911" y="6172396"/>
            <a:ext cx="3951565" cy="52185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1911" y="6682817"/>
            <a:ext cx="395156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2" name="Text 19"/>
          <p:cNvSpPr/>
          <p:nvPr/>
        </p:nvSpPr>
        <p:spPr>
          <a:xfrm>
            <a:off x="1173361" y="6296221"/>
            <a:ext cx="3727212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513678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4953476" y="6172396"/>
            <a:ext cx="3550443" cy="52185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24" name="Shape 21"/>
          <p:cNvSpPr/>
          <p:nvPr/>
        </p:nvSpPr>
        <p:spPr>
          <a:xfrm>
            <a:off x="4953476" y="6682817"/>
            <a:ext cx="3550443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5" name="Text 22"/>
          <p:cNvSpPr/>
          <p:nvPr/>
        </p:nvSpPr>
        <p:spPr>
          <a:xfrm>
            <a:off x="5124926" y="6296221"/>
            <a:ext cx="3314057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001911" y="6694247"/>
            <a:ext cx="3951565" cy="521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1001911" y="7204668"/>
            <a:ext cx="395156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8" name="Text 25"/>
          <p:cNvSpPr/>
          <p:nvPr/>
        </p:nvSpPr>
        <p:spPr>
          <a:xfrm>
            <a:off x="1173361" y="6818072"/>
            <a:ext cx="3727212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45321099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4953476" y="6694247"/>
            <a:ext cx="3550443" cy="521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953476" y="7204668"/>
            <a:ext cx="3550443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1" name="Text 28"/>
          <p:cNvSpPr/>
          <p:nvPr/>
        </p:nvSpPr>
        <p:spPr>
          <a:xfrm>
            <a:off x="5124926" y="6818072"/>
            <a:ext cx="3314057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001911" y="7216098"/>
            <a:ext cx="3951565" cy="52185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33" name="Shape 30"/>
          <p:cNvSpPr/>
          <p:nvPr/>
        </p:nvSpPr>
        <p:spPr>
          <a:xfrm>
            <a:off x="1001911" y="7726519"/>
            <a:ext cx="395156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4" name="Text 31"/>
          <p:cNvSpPr/>
          <p:nvPr/>
        </p:nvSpPr>
        <p:spPr>
          <a:xfrm>
            <a:off x="1173361" y="7339923"/>
            <a:ext cx="3727212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411122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4953476" y="7216098"/>
            <a:ext cx="3550443" cy="52185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36" name="Shape 33"/>
          <p:cNvSpPr/>
          <p:nvPr/>
        </p:nvSpPr>
        <p:spPr>
          <a:xfrm>
            <a:off x="4953476" y="7726519"/>
            <a:ext cx="3550443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7" name="Text 34"/>
          <p:cNvSpPr/>
          <p:nvPr/>
        </p:nvSpPr>
        <p:spPr>
          <a:xfrm>
            <a:off x="5124926" y="7339923"/>
            <a:ext cx="3314057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75" dirty="0"/>
          </a:p>
        </p:txBody>
      </p:sp>
      <p:sp>
        <p:nvSpPr>
          <p:cNvPr id="38" name="Shape 35"/>
          <p:cNvSpPr/>
          <p:nvPr/>
        </p:nvSpPr>
        <p:spPr>
          <a:xfrm>
            <a:off x="1001911" y="7737949"/>
            <a:ext cx="3951565" cy="521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1001911" y="8248370"/>
            <a:ext cx="395156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40" name="Text 37"/>
          <p:cNvSpPr/>
          <p:nvPr/>
        </p:nvSpPr>
        <p:spPr>
          <a:xfrm>
            <a:off x="1173361" y="7861774"/>
            <a:ext cx="3727212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55556677</a:t>
            </a:r>
            <a:endParaRPr lang="en-US" sz="1875" dirty="0"/>
          </a:p>
        </p:txBody>
      </p:sp>
      <p:sp>
        <p:nvSpPr>
          <p:cNvPr id="41" name="Shape 38"/>
          <p:cNvSpPr/>
          <p:nvPr/>
        </p:nvSpPr>
        <p:spPr>
          <a:xfrm>
            <a:off x="4953476" y="7737949"/>
            <a:ext cx="3550443" cy="521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4953476" y="8248370"/>
            <a:ext cx="3550443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43" name="Text 40"/>
          <p:cNvSpPr/>
          <p:nvPr/>
        </p:nvSpPr>
        <p:spPr>
          <a:xfrm>
            <a:off x="5124926" y="7861774"/>
            <a:ext cx="3314057" cy="30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75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865" y="5593182"/>
            <a:ext cx="438090" cy="247531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8581965" y="6008234"/>
            <a:ext cx="1123890" cy="1278017"/>
          </a:xfrm>
          <a:prstGeom prst="roundRect">
            <a:avLst>
              <a:gd name="adj" fmla="val 11865"/>
            </a:avLst>
          </a:prstGeom>
          <a:solidFill>
            <a:srgbClr val="16356E"/>
          </a:solidFill>
          <a:ln/>
          <a:effectLst>
            <a:outerShdw sx="100000" sy="100000" kx="0" ky="0" algn="bl" rotWithShape="0" blurRad="285750" dist="114300" dir="5400000">
              <a:srgbClr val="0C2350">
                <a:alpha val="55000"/>
              </a:srgbClr>
            </a:outerShdw>
          </a:effectLst>
        </p:spPr>
      </p:sp>
      <p:sp>
        <p:nvSpPr>
          <p:cNvPr id="46" name="Text 42"/>
          <p:cNvSpPr/>
          <p:nvPr/>
        </p:nvSpPr>
        <p:spPr>
          <a:xfrm>
            <a:off x="8619946" y="6160575"/>
            <a:ext cx="104792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" kern="0" dirty="0">
                <a:solidFill>
                  <a:srgbClr val="34A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8619946" y="6533836"/>
            <a:ext cx="104792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bin_min AND bin_max</a:t>
            </a:r>
            <a:endParaRPr lang="en-US" sz="1125" dirty="0"/>
          </a:p>
        </p:txBody>
      </p:sp>
      <p:sp>
        <p:nvSpPr>
          <p:cNvPr id="48" name="Text 44"/>
          <p:cNvSpPr/>
          <p:nvPr/>
        </p:nvSpPr>
        <p:spPr>
          <a:xfrm>
            <a:off x="9772649" y="4511653"/>
            <a:ext cx="775061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spc="75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BINS</a:t>
            </a:r>
            <a:endParaRPr lang="en-US" sz="1875" dirty="0"/>
          </a:p>
        </p:txBody>
      </p:sp>
      <p:sp>
        <p:nvSpPr>
          <p:cNvPr id="49" name="Shape 45"/>
          <p:cNvSpPr/>
          <p:nvPr/>
        </p:nvSpPr>
        <p:spPr>
          <a:xfrm>
            <a:off x="9772649" y="4972603"/>
            <a:ext cx="7524869" cy="3390066"/>
          </a:xfrm>
          <a:prstGeom prst="roundRect">
            <a:avLst>
              <a:gd name="adj" fmla="val 3934"/>
            </a:avLst>
          </a:prstGeom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285750" dist="95250" dir="5400000">
              <a:srgbClr val="0C2350">
                <a:alpha val="28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9784080" y="4984034"/>
            <a:ext cx="2746415" cy="529352"/>
          </a:xfrm>
          <a:prstGeom prst="roundRect">
            <a:avLst>
              <a:gd name="adj" fmla="val 21592"/>
            </a:avLst>
          </a:prstGeom>
          <a:solidFill>
            <a:srgbClr val="16356E"/>
          </a:solidFill>
          <a:ln/>
        </p:spPr>
      </p:sp>
      <p:sp>
        <p:nvSpPr>
          <p:cNvPr id="51" name="Text 47"/>
          <p:cNvSpPr/>
          <p:nvPr/>
        </p:nvSpPr>
        <p:spPr>
          <a:xfrm>
            <a:off x="9955530" y="5117384"/>
            <a:ext cx="2485907" cy="30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bin_min</a:t>
            </a:r>
            <a:endParaRPr lang="en-US" sz="1575" dirty="0"/>
          </a:p>
        </p:txBody>
      </p:sp>
      <p:sp>
        <p:nvSpPr>
          <p:cNvPr id="52" name="Shape 48"/>
          <p:cNvSpPr/>
          <p:nvPr/>
        </p:nvSpPr>
        <p:spPr>
          <a:xfrm>
            <a:off x="12530494" y="4984034"/>
            <a:ext cx="2746415" cy="52935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53" name="Text 49"/>
          <p:cNvSpPr/>
          <p:nvPr/>
        </p:nvSpPr>
        <p:spPr>
          <a:xfrm>
            <a:off x="12701944" y="5117384"/>
            <a:ext cx="2485907" cy="30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bin_max</a:t>
            </a:r>
            <a:endParaRPr lang="en-US" sz="1575" dirty="0"/>
          </a:p>
        </p:txBody>
      </p:sp>
      <p:sp>
        <p:nvSpPr>
          <p:cNvPr id="54" name="Shape 50"/>
          <p:cNvSpPr/>
          <p:nvPr/>
        </p:nvSpPr>
        <p:spPr>
          <a:xfrm>
            <a:off x="15276908" y="4984034"/>
            <a:ext cx="2009180" cy="52935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55" name="Text 51"/>
          <p:cNvSpPr/>
          <p:nvPr/>
        </p:nvSpPr>
        <p:spPr>
          <a:xfrm>
            <a:off x="15448358" y="5117384"/>
            <a:ext cx="1742480" cy="30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banque</a:t>
            </a:r>
            <a:endParaRPr lang="en-US" sz="1575" dirty="0"/>
          </a:p>
        </p:txBody>
      </p:sp>
      <p:sp>
        <p:nvSpPr>
          <p:cNvPr id="56" name="Shape 52"/>
          <p:cNvSpPr/>
          <p:nvPr/>
        </p:nvSpPr>
        <p:spPr>
          <a:xfrm>
            <a:off x="9784080" y="5513386"/>
            <a:ext cx="2746415" cy="567571"/>
          </a:xfrm>
          <a:prstGeom prst="rect">
            <a:avLst/>
          </a:prstGeom>
          <a:solidFill>
            <a:srgbClr val="E7F2FB"/>
          </a:solidFill>
          <a:ln/>
        </p:spPr>
      </p:sp>
      <p:sp>
        <p:nvSpPr>
          <p:cNvPr id="57" name="Shape 53"/>
          <p:cNvSpPr/>
          <p:nvPr/>
        </p:nvSpPr>
        <p:spPr>
          <a:xfrm>
            <a:off x="9784080" y="6069526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58" name="Text 54"/>
          <p:cNvSpPr/>
          <p:nvPr/>
        </p:nvSpPr>
        <p:spPr>
          <a:xfrm>
            <a:off x="9955530" y="5637211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456780</a:t>
            </a:r>
            <a:endParaRPr lang="en-US" sz="1875" dirty="0"/>
          </a:p>
        </p:txBody>
      </p:sp>
      <p:sp>
        <p:nvSpPr>
          <p:cNvPr id="59" name="Shape 55"/>
          <p:cNvSpPr/>
          <p:nvPr/>
        </p:nvSpPr>
        <p:spPr>
          <a:xfrm>
            <a:off x="12530494" y="5513386"/>
            <a:ext cx="2746415" cy="567571"/>
          </a:xfrm>
          <a:prstGeom prst="rect">
            <a:avLst/>
          </a:prstGeom>
          <a:solidFill>
            <a:srgbClr val="E7F2FB"/>
          </a:solidFill>
          <a:ln/>
        </p:spPr>
      </p:sp>
      <p:sp>
        <p:nvSpPr>
          <p:cNvPr id="60" name="Shape 56"/>
          <p:cNvSpPr/>
          <p:nvPr/>
        </p:nvSpPr>
        <p:spPr>
          <a:xfrm>
            <a:off x="12530494" y="6069526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1" name="Text 57"/>
          <p:cNvSpPr/>
          <p:nvPr/>
        </p:nvSpPr>
        <p:spPr>
          <a:xfrm>
            <a:off x="12701944" y="5637211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456799</a:t>
            </a:r>
            <a:endParaRPr lang="en-US" sz="1875" dirty="0"/>
          </a:p>
        </p:txBody>
      </p:sp>
      <p:sp>
        <p:nvSpPr>
          <p:cNvPr id="62" name="Shape 58"/>
          <p:cNvSpPr/>
          <p:nvPr/>
        </p:nvSpPr>
        <p:spPr>
          <a:xfrm>
            <a:off x="15276908" y="5513386"/>
            <a:ext cx="2009180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9"/>
          <p:cNvSpPr/>
          <p:nvPr/>
        </p:nvSpPr>
        <p:spPr>
          <a:xfrm>
            <a:off x="15276908" y="6069526"/>
            <a:ext cx="200918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4" name="Text 60"/>
          <p:cNvSpPr/>
          <p:nvPr/>
        </p:nvSpPr>
        <p:spPr>
          <a:xfrm>
            <a:off x="15448358" y="5637211"/>
            <a:ext cx="1742480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</a:t>
            </a:r>
            <a:endParaRPr lang="en-US" sz="1875" dirty="0"/>
          </a:p>
        </p:txBody>
      </p:sp>
      <p:sp>
        <p:nvSpPr>
          <p:cNvPr id="65" name="Shape 61"/>
          <p:cNvSpPr/>
          <p:nvPr/>
        </p:nvSpPr>
        <p:spPr>
          <a:xfrm>
            <a:off x="9784080" y="6080956"/>
            <a:ext cx="2746415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66" name="Shape 62"/>
          <p:cNvSpPr/>
          <p:nvPr/>
        </p:nvSpPr>
        <p:spPr>
          <a:xfrm>
            <a:off x="9784080" y="6637097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7" name="Text 63"/>
          <p:cNvSpPr/>
          <p:nvPr/>
        </p:nvSpPr>
        <p:spPr>
          <a:xfrm>
            <a:off x="9955530" y="6204781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513670</a:t>
            </a:r>
            <a:endParaRPr lang="en-US" sz="1875" dirty="0"/>
          </a:p>
        </p:txBody>
      </p:sp>
      <p:sp>
        <p:nvSpPr>
          <p:cNvPr id="68" name="Shape 64"/>
          <p:cNvSpPr/>
          <p:nvPr/>
        </p:nvSpPr>
        <p:spPr>
          <a:xfrm>
            <a:off x="12530494" y="6080956"/>
            <a:ext cx="2746415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69" name="Shape 65"/>
          <p:cNvSpPr/>
          <p:nvPr/>
        </p:nvSpPr>
        <p:spPr>
          <a:xfrm>
            <a:off x="12530494" y="6637097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0" name="Text 66"/>
          <p:cNvSpPr/>
          <p:nvPr/>
        </p:nvSpPr>
        <p:spPr>
          <a:xfrm>
            <a:off x="12701944" y="6204781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513689</a:t>
            </a:r>
            <a:endParaRPr lang="en-US" sz="1875" dirty="0"/>
          </a:p>
        </p:txBody>
      </p:sp>
      <p:sp>
        <p:nvSpPr>
          <p:cNvPr id="71" name="Shape 67"/>
          <p:cNvSpPr/>
          <p:nvPr/>
        </p:nvSpPr>
        <p:spPr>
          <a:xfrm>
            <a:off x="15276908" y="6080956"/>
            <a:ext cx="2009180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72" name="Shape 68"/>
          <p:cNvSpPr/>
          <p:nvPr/>
        </p:nvSpPr>
        <p:spPr>
          <a:xfrm>
            <a:off x="15276908" y="6637097"/>
            <a:ext cx="200918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3" name="Text 69"/>
          <p:cNvSpPr/>
          <p:nvPr/>
        </p:nvSpPr>
        <p:spPr>
          <a:xfrm>
            <a:off x="15448358" y="6204781"/>
            <a:ext cx="1742480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BNP</a:t>
            </a:r>
            <a:endParaRPr lang="en-US" sz="1875" dirty="0"/>
          </a:p>
        </p:txBody>
      </p:sp>
      <p:sp>
        <p:nvSpPr>
          <p:cNvPr id="74" name="Shape 70"/>
          <p:cNvSpPr/>
          <p:nvPr/>
        </p:nvSpPr>
        <p:spPr>
          <a:xfrm>
            <a:off x="9784080" y="6648527"/>
            <a:ext cx="2746415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1"/>
          <p:cNvSpPr/>
          <p:nvPr/>
        </p:nvSpPr>
        <p:spPr>
          <a:xfrm>
            <a:off x="9784080" y="7204668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6" name="Text 72"/>
          <p:cNvSpPr/>
          <p:nvPr/>
        </p:nvSpPr>
        <p:spPr>
          <a:xfrm>
            <a:off x="9955530" y="6772352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45321090</a:t>
            </a:r>
            <a:endParaRPr lang="en-US" sz="1875" dirty="0"/>
          </a:p>
        </p:txBody>
      </p:sp>
      <p:sp>
        <p:nvSpPr>
          <p:cNvPr id="77" name="Shape 73"/>
          <p:cNvSpPr/>
          <p:nvPr/>
        </p:nvSpPr>
        <p:spPr>
          <a:xfrm>
            <a:off x="12530494" y="6648527"/>
            <a:ext cx="2746415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4"/>
          <p:cNvSpPr/>
          <p:nvPr/>
        </p:nvSpPr>
        <p:spPr>
          <a:xfrm>
            <a:off x="12530494" y="7204668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9" name="Text 75"/>
          <p:cNvSpPr/>
          <p:nvPr/>
        </p:nvSpPr>
        <p:spPr>
          <a:xfrm>
            <a:off x="12701944" y="6772352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45321110</a:t>
            </a:r>
            <a:endParaRPr lang="en-US" sz="1875" dirty="0"/>
          </a:p>
        </p:txBody>
      </p:sp>
      <p:sp>
        <p:nvSpPr>
          <p:cNvPr id="80" name="Shape 76"/>
          <p:cNvSpPr/>
          <p:nvPr/>
        </p:nvSpPr>
        <p:spPr>
          <a:xfrm>
            <a:off x="15276908" y="6648527"/>
            <a:ext cx="2009180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7"/>
          <p:cNvSpPr/>
          <p:nvPr/>
        </p:nvSpPr>
        <p:spPr>
          <a:xfrm>
            <a:off x="15276908" y="7204668"/>
            <a:ext cx="200918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2" name="Text 78"/>
          <p:cNvSpPr/>
          <p:nvPr/>
        </p:nvSpPr>
        <p:spPr>
          <a:xfrm>
            <a:off x="15448358" y="6772352"/>
            <a:ext cx="1742480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endParaRPr lang="en-US" sz="1875" dirty="0"/>
          </a:p>
        </p:txBody>
      </p:sp>
      <p:sp>
        <p:nvSpPr>
          <p:cNvPr id="83" name="Shape 79"/>
          <p:cNvSpPr/>
          <p:nvPr/>
        </p:nvSpPr>
        <p:spPr>
          <a:xfrm>
            <a:off x="9784080" y="7216098"/>
            <a:ext cx="2746415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84" name="Shape 80"/>
          <p:cNvSpPr/>
          <p:nvPr/>
        </p:nvSpPr>
        <p:spPr>
          <a:xfrm>
            <a:off x="9784080" y="7772239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5" name="Text 81"/>
          <p:cNvSpPr/>
          <p:nvPr/>
        </p:nvSpPr>
        <p:spPr>
          <a:xfrm>
            <a:off x="9955530" y="7339923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411100</a:t>
            </a:r>
            <a:endParaRPr lang="en-US" sz="1875" dirty="0"/>
          </a:p>
        </p:txBody>
      </p:sp>
      <p:sp>
        <p:nvSpPr>
          <p:cNvPr id="86" name="Shape 82"/>
          <p:cNvSpPr/>
          <p:nvPr/>
        </p:nvSpPr>
        <p:spPr>
          <a:xfrm>
            <a:off x="12530494" y="7216098"/>
            <a:ext cx="2746415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87" name="Shape 83"/>
          <p:cNvSpPr/>
          <p:nvPr/>
        </p:nvSpPr>
        <p:spPr>
          <a:xfrm>
            <a:off x="12530494" y="7772239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8" name="Text 84"/>
          <p:cNvSpPr/>
          <p:nvPr/>
        </p:nvSpPr>
        <p:spPr>
          <a:xfrm>
            <a:off x="12701944" y="7339923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411199</a:t>
            </a:r>
            <a:endParaRPr lang="en-US" sz="1875" dirty="0"/>
          </a:p>
        </p:txBody>
      </p:sp>
      <p:sp>
        <p:nvSpPr>
          <p:cNvPr id="89" name="Shape 85"/>
          <p:cNvSpPr/>
          <p:nvPr/>
        </p:nvSpPr>
        <p:spPr>
          <a:xfrm>
            <a:off x="15276908" y="7216098"/>
            <a:ext cx="2009180" cy="567571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90" name="Shape 86"/>
          <p:cNvSpPr/>
          <p:nvPr/>
        </p:nvSpPr>
        <p:spPr>
          <a:xfrm>
            <a:off x="15276908" y="7772239"/>
            <a:ext cx="200918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1" name="Text 87"/>
          <p:cNvSpPr/>
          <p:nvPr/>
        </p:nvSpPr>
        <p:spPr>
          <a:xfrm>
            <a:off x="15448358" y="7339923"/>
            <a:ext cx="1742480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</a:t>
            </a:r>
            <a:endParaRPr lang="en-US" sz="1875" dirty="0"/>
          </a:p>
        </p:txBody>
      </p:sp>
      <p:sp>
        <p:nvSpPr>
          <p:cNvPr id="92" name="Shape 88"/>
          <p:cNvSpPr/>
          <p:nvPr/>
        </p:nvSpPr>
        <p:spPr>
          <a:xfrm>
            <a:off x="9784080" y="7783669"/>
            <a:ext cx="2746415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9"/>
          <p:cNvSpPr/>
          <p:nvPr/>
        </p:nvSpPr>
        <p:spPr>
          <a:xfrm>
            <a:off x="9784080" y="8339810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4" name="Text 90"/>
          <p:cNvSpPr/>
          <p:nvPr/>
        </p:nvSpPr>
        <p:spPr>
          <a:xfrm>
            <a:off x="9955530" y="7907494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55556670</a:t>
            </a:r>
            <a:endParaRPr lang="en-US" sz="1875" dirty="0"/>
          </a:p>
        </p:txBody>
      </p:sp>
      <p:sp>
        <p:nvSpPr>
          <p:cNvPr id="95" name="Shape 91"/>
          <p:cNvSpPr/>
          <p:nvPr/>
        </p:nvSpPr>
        <p:spPr>
          <a:xfrm>
            <a:off x="12530494" y="7783669"/>
            <a:ext cx="2746415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2"/>
          <p:cNvSpPr/>
          <p:nvPr/>
        </p:nvSpPr>
        <p:spPr>
          <a:xfrm>
            <a:off x="12530494" y="8339810"/>
            <a:ext cx="274641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7" name="Text 93"/>
          <p:cNvSpPr/>
          <p:nvPr/>
        </p:nvSpPr>
        <p:spPr>
          <a:xfrm>
            <a:off x="12701944" y="7907494"/>
            <a:ext cx="2485907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55556699</a:t>
            </a:r>
            <a:endParaRPr lang="en-US" sz="1875" dirty="0"/>
          </a:p>
        </p:txBody>
      </p:sp>
      <p:sp>
        <p:nvSpPr>
          <p:cNvPr id="98" name="Shape 94"/>
          <p:cNvSpPr/>
          <p:nvPr/>
        </p:nvSpPr>
        <p:spPr>
          <a:xfrm>
            <a:off x="15276908" y="7783669"/>
            <a:ext cx="2009180" cy="5675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95"/>
          <p:cNvSpPr/>
          <p:nvPr/>
        </p:nvSpPr>
        <p:spPr>
          <a:xfrm>
            <a:off x="15276908" y="8339810"/>
            <a:ext cx="200918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00" name="Text 96"/>
          <p:cNvSpPr/>
          <p:nvPr/>
        </p:nvSpPr>
        <p:spPr>
          <a:xfrm>
            <a:off x="15448358" y="7907494"/>
            <a:ext cx="1742480" cy="34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endParaRPr lang="en-US" sz="1875" dirty="0"/>
          </a:p>
        </p:txBody>
      </p:sp>
      <p:sp>
        <p:nvSpPr>
          <p:cNvPr id="101" name="Text 97"/>
          <p:cNvSpPr/>
          <p:nvPr/>
        </p:nvSpPr>
        <p:spPr>
          <a:xfrm>
            <a:off x="990481" y="9574589"/>
            <a:ext cx="42053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456789 tombe dans [456780 – 456799] → CIC</a:t>
            </a:r>
            <a:endParaRPr lang="en-US" sz="1575" dirty="0"/>
          </a:p>
        </p:txBody>
      </p:sp>
      <p:sp>
        <p:nvSpPr>
          <p:cNvPr id="102" name="Shape 98"/>
          <p:cNvSpPr/>
          <p:nvPr/>
        </p:nvSpPr>
        <p:spPr>
          <a:xfrm>
            <a:off x="16535816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  <p:sp>
        <p:nvSpPr>
          <p:cNvPr id="103" name="Shape 99"/>
          <p:cNvSpPr/>
          <p:nvPr/>
        </p:nvSpPr>
        <p:spPr>
          <a:xfrm>
            <a:off x="16754771" y="9734609"/>
            <a:ext cx="323790" cy="114300"/>
          </a:xfrm>
          <a:prstGeom prst="roundRect">
            <a:avLst>
              <a:gd name="adj" fmla="val 50000"/>
            </a:avLst>
          </a:prstGeom>
          <a:solidFill>
            <a:srgbClr val="009EE0"/>
          </a:solidFill>
          <a:ln/>
        </p:spPr>
      </p:sp>
      <p:sp>
        <p:nvSpPr>
          <p:cNvPr id="104" name="Shape 100"/>
          <p:cNvSpPr/>
          <p:nvPr/>
        </p:nvSpPr>
        <p:spPr>
          <a:xfrm>
            <a:off x="17183219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481" y="800100"/>
            <a:ext cx="438090" cy="438090"/>
          </a:xfrm>
          <a:prstGeom prst="ellipse">
            <a:avLst/>
          </a:prstGeom>
          <a:solidFill>
            <a:srgbClr val="009EE0"/>
          </a:solidFill>
          <a:ln/>
        </p:spPr>
      </p:sp>
      <p:sp>
        <p:nvSpPr>
          <p:cNvPr id="3" name="Text 1"/>
          <p:cNvSpPr/>
          <p:nvPr/>
        </p:nvSpPr>
        <p:spPr>
          <a:xfrm>
            <a:off x="952381" y="800100"/>
            <a:ext cx="514290" cy="47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1802" y="864751"/>
            <a:ext cx="282328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63" kern="0" dirty="0">
                <a:solidFill>
                  <a:srgbClr val="008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 · RÉSULTAT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481" y="1371425"/>
            <a:ext cx="11043900" cy="659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72" kern="0" dirty="0">
                <a:solidFill>
                  <a:srgbClr val="163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: la table de sortie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481" y="2126341"/>
            <a:ext cx="11043900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retrait est désormais enrichi avec la banque et le type de porteur.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319" y="8001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0481" y="2827179"/>
            <a:ext cx="16307037" cy="3861376"/>
          </a:xfrm>
          <a:prstGeom prst="roundRect">
            <a:avLst>
              <a:gd name="adj" fmla="val 3453"/>
            </a:avLst>
          </a:prstGeom>
          <a:ln w="11430">
            <a:solidFill>
              <a:srgbClr val="D8E5F1"/>
            </a:solidFill>
            <a:prstDash val="solid"/>
          </a:ln>
          <a:effectLst>
            <a:outerShdw sx="100000" sy="100000" kx="0" ky="0" algn="bl" rotWithShape="0" blurRad="285750" dist="95250" dir="5400000">
              <a:srgbClr val="0C235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1911" y="2838609"/>
            <a:ext cx="2476559" cy="597932"/>
          </a:xfrm>
          <a:prstGeom prst="roundRect">
            <a:avLst>
              <a:gd name="adj" fmla="val 19116"/>
            </a:avLst>
          </a:prstGeom>
          <a:solidFill>
            <a:srgbClr val="16356E"/>
          </a:solidFill>
          <a:ln/>
        </p:spPr>
      </p:sp>
      <p:sp>
        <p:nvSpPr>
          <p:cNvPr id="10" name="Text 7"/>
          <p:cNvSpPr/>
          <p:nvPr/>
        </p:nvSpPr>
        <p:spPr>
          <a:xfrm>
            <a:off x="1211461" y="3000534"/>
            <a:ext cx="2133659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bin_clean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3478470" y="2838609"/>
            <a:ext cx="2194560" cy="59793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12" name="Text 9"/>
          <p:cNvSpPr/>
          <p:nvPr/>
        </p:nvSpPr>
        <p:spPr>
          <a:xfrm>
            <a:off x="3688020" y="3000534"/>
            <a:ext cx="1851660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bin_type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673030" y="2838609"/>
            <a:ext cx="2704802" cy="59793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14" name="Text 11"/>
          <p:cNvSpPr/>
          <p:nvPr/>
        </p:nvSpPr>
        <p:spPr>
          <a:xfrm>
            <a:off x="5882580" y="3000534"/>
            <a:ext cx="2366846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banque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8377832" y="2838609"/>
            <a:ext cx="2969300" cy="59793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16" name="Text 13"/>
          <p:cNvSpPr/>
          <p:nvPr/>
        </p:nvSpPr>
        <p:spPr>
          <a:xfrm>
            <a:off x="8587382" y="3000534"/>
            <a:ext cx="2639279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type_porteur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1347132" y="2838609"/>
            <a:ext cx="2775525" cy="59793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18" name="Text 15"/>
          <p:cNvSpPr/>
          <p:nvPr/>
        </p:nvSpPr>
        <p:spPr>
          <a:xfrm>
            <a:off x="11556682" y="3000534"/>
            <a:ext cx="2439691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nb_retraits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4122657" y="2838609"/>
            <a:ext cx="3163431" cy="597932"/>
          </a:xfrm>
          <a:prstGeom prst="rect">
            <a:avLst/>
          </a:prstGeom>
          <a:solidFill>
            <a:srgbClr val="16356E"/>
          </a:solidFill>
          <a:ln/>
        </p:spPr>
      </p:sp>
      <p:sp>
        <p:nvSpPr>
          <p:cNvPr id="20" name="Text 17"/>
          <p:cNvSpPr/>
          <p:nvPr/>
        </p:nvSpPr>
        <p:spPr>
          <a:xfrm>
            <a:off x="14332207" y="3000534"/>
            <a:ext cx="2839234" cy="312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montant_total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001911" y="3436541"/>
            <a:ext cx="2476559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01911" y="4064834"/>
            <a:ext cx="2476559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3" name="Text 20"/>
          <p:cNvSpPr/>
          <p:nvPr/>
        </p:nvSpPr>
        <p:spPr>
          <a:xfrm>
            <a:off x="1211461" y="3598466"/>
            <a:ext cx="2133659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456789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3478470" y="3436541"/>
            <a:ext cx="219456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3478470" y="4064834"/>
            <a:ext cx="219456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6" name="Text 23"/>
          <p:cNvSpPr/>
          <p:nvPr/>
        </p:nvSpPr>
        <p:spPr>
          <a:xfrm>
            <a:off x="3688020" y="3598466"/>
            <a:ext cx="1851660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5673030" y="3436541"/>
            <a:ext cx="2704802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673030" y="4064834"/>
            <a:ext cx="2704802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82580" y="3598466"/>
            <a:ext cx="2366846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8377832" y="3436541"/>
            <a:ext cx="296930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8377832" y="4064834"/>
            <a:ext cx="296930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2" name="Shape 29"/>
          <p:cNvSpPr/>
          <p:nvPr/>
        </p:nvSpPr>
        <p:spPr>
          <a:xfrm>
            <a:off x="8587323" y="3598347"/>
            <a:ext cx="1051560" cy="304681"/>
          </a:xfrm>
          <a:prstGeom prst="roundRect">
            <a:avLst>
              <a:gd name="adj" fmla="val 21884"/>
            </a:avLst>
          </a:prstGeom>
          <a:solidFill>
            <a:srgbClr val="E7F2FB"/>
          </a:solidFill>
          <a:ln/>
        </p:spPr>
      </p:sp>
      <p:sp>
        <p:nvSpPr>
          <p:cNvPr id="33" name="Text 30"/>
          <p:cNvSpPr/>
          <p:nvPr/>
        </p:nvSpPr>
        <p:spPr>
          <a:xfrm>
            <a:off x="8701623" y="3636447"/>
            <a:ext cx="899160" cy="26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Confrère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11347132" y="3436541"/>
            <a:ext cx="2775525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11347132" y="4064834"/>
            <a:ext cx="277552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6" name="Text 33"/>
          <p:cNvSpPr/>
          <p:nvPr/>
        </p:nvSpPr>
        <p:spPr>
          <a:xfrm>
            <a:off x="11556682" y="3598466"/>
            <a:ext cx="2439691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243</a:t>
            </a:r>
            <a:endParaRPr lang="en-US" sz="1950" dirty="0"/>
          </a:p>
        </p:txBody>
      </p:sp>
      <p:sp>
        <p:nvSpPr>
          <p:cNvPr id="37" name="Shape 34"/>
          <p:cNvSpPr/>
          <p:nvPr/>
        </p:nvSpPr>
        <p:spPr>
          <a:xfrm>
            <a:off x="14122657" y="3436541"/>
            <a:ext cx="3163431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14122657" y="4064834"/>
            <a:ext cx="3163431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39" name="Text 36"/>
          <p:cNvSpPr/>
          <p:nvPr/>
        </p:nvSpPr>
        <p:spPr>
          <a:xfrm>
            <a:off x="14332207" y="3598466"/>
            <a:ext cx="2839234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18 225 €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001911" y="4076264"/>
            <a:ext cx="2476559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41" name="Shape 38"/>
          <p:cNvSpPr/>
          <p:nvPr/>
        </p:nvSpPr>
        <p:spPr>
          <a:xfrm>
            <a:off x="1001911" y="4704556"/>
            <a:ext cx="2476559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42" name="Text 39"/>
          <p:cNvSpPr/>
          <p:nvPr/>
        </p:nvSpPr>
        <p:spPr>
          <a:xfrm>
            <a:off x="1211461" y="4238189"/>
            <a:ext cx="2133659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513678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3478470" y="4076264"/>
            <a:ext cx="2194560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44" name="Shape 41"/>
          <p:cNvSpPr/>
          <p:nvPr/>
        </p:nvSpPr>
        <p:spPr>
          <a:xfrm>
            <a:off x="3478470" y="4704556"/>
            <a:ext cx="219456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45" name="Text 42"/>
          <p:cNvSpPr/>
          <p:nvPr/>
        </p:nvSpPr>
        <p:spPr>
          <a:xfrm>
            <a:off x="3688020" y="4238189"/>
            <a:ext cx="1851660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5673030" y="4076264"/>
            <a:ext cx="2704802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47" name="Shape 44"/>
          <p:cNvSpPr/>
          <p:nvPr/>
        </p:nvSpPr>
        <p:spPr>
          <a:xfrm>
            <a:off x="5673030" y="4704556"/>
            <a:ext cx="2704802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48" name="Text 45"/>
          <p:cNvSpPr/>
          <p:nvPr/>
        </p:nvSpPr>
        <p:spPr>
          <a:xfrm>
            <a:off x="5882580" y="4238189"/>
            <a:ext cx="2366846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BNP</a:t>
            </a:r>
            <a:endParaRPr lang="en-US" sz="1950" dirty="0"/>
          </a:p>
        </p:txBody>
      </p:sp>
      <p:sp>
        <p:nvSpPr>
          <p:cNvPr id="49" name="Shape 46"/>
          <p:cNvSpPr/>
          <p:nvPr/>
        </p:nvSpPr>
        <p:spPr>
          <a:xfrm>
            <a:off x="8377832" y="4076264"/>
            <a:ext cx="2969300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50" name="Shape 47"/>
          <p:cNvSpPr/>
          <p:nvPr/>
        </p:nvSpPr>
        <p:spPr>
          <a:xfrm>
            <a:off x="8377832" y="4704556"/>
            <a:ext cx="296930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51" name="Shape 48"/>
          <p:cNvSpPr/>
          <p:nvPr/>
        </p:nvSpPr>
        <p:spPr>
          <a:xfrm>
            <a:off x="8587323" y="4238070"/>
            <a:ext cx="1051560" cy="304681"/>
          </a:xfrm>
          <a:prstGeom prst="roundRect">
            <a:avLst>
              <a:gd name="adj" fmla="val 21884"/>
            </a:avLst>
          </a:prstGeom>
          <a:solidFill>
            <a:srgbClr val="E7F2FB"/>
          </a:solidFill>
          <a:ln/>
        </p:spPr>
      </p:sp>
      <p:sp>
        <p:nvSpPr>
          <p:cNvPr id="52" name="Text 49"/>
          <p:cNvSpPr/>
          <p:nvPr/>
        </p:nvSpPr>
        <p:spPr>
          <a:xfrm>
            <a:off x="8701623" y="4276170"/>
            <a:ext cx="899160" cy="26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Confrère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11347132" y="4076264"/>
            <a:ext cx="2775525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54" name="Shape 51"/>
          <p:cNvSpPr/>
          <p:nvPr/>
        </p:nvSpPr>
        <p:spPr>
          <a:xfrm>
            <a:off x="11347132" y="4704556"/>
            <a:ext cx="277552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55" name="Text 52"/>
          <p:cNvSpPr/>
          <p:nvPr/>
        </p:nvSpPr>
        <p:spPr>
          <a:xfrm>
            <a:off x="11556682" y="4238189"/>
            <a:ext cx="2439691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1950" dirty="0"/>
          </a:p>
        </p:txBody>
      </p:sp>
      <p:sp>
        <p:nvSpPr>
          <p:cNvPr id="56" name="Shape 53"/>
          <p:cNvSpPr/>
          <p:nvPr/>
        </p:nvSpPr>
        <p:spPr>
          <a:xfrm>
            <a:off x="14122657" y="4076264"/>
            <a:ext cx="3163431" cy="639723"/>
          </a:xfrm>
          <a:prstGeom prst="rect">
            <a:avLst/>
          </a:prstGeom>
          <a:solidFill>
            <a:srgbClr val="F2F8FC"/>
          </a:solidFill>
          <a:ln/>
        </p:spPr>
      </p:sp>
      <p:sp>
        <p:nvSpPr>
          <p:cNvPr id="57" name="Shape 54"/>
          <p:cNvSpPr/>
          <p:nvPr/>
        </p:nvSpPr>
        <p:spPr>
          <a:xfrm>
            <a:off x="14122657" y="4704556"/>
            <a:ext cx="3163431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58" name="Text 55"/>
          <p:cNvSpPr/>
          <p:nvPr/>
        </p:nvSpPr>
        <p:spPr>
          <a:xfrm>
            <a:off x="14332207" y="4238189"/>
            <a:ext cx="2839234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6 525 €</a:t>
            </a:r>
            <a:endParaRPr lang="en-US" sz="1950" dirty="0"/>
          </a:p>
        </p:txBody>
      </p:sp>
      <p:sp>
        <p:nvSpPr>
          <p:cNvPr id="59" name="Shape 56"/>
          <p:cNvSpPr/>
          <p:nvPr/>
        </p:nvSpPr>
        <p:spPr>
          <a:xfrm>
            <a:off x="1001911" y="4715986"/>
            <a:ext cx="2476559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1001911" y="5344279"/>
            <a:ext cx="2476559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1" name="Text 58"/>
          <p:cNvSpPr/>
          <p:nvPr/>
        </p:nvSpPr>
        <p:spPr>
          <a:xfrm>
            <a:off x="1211461" y="4877911"/>
            <a:ext cx="2133659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45321099</a:t>
            </a:r>
            <a:endParaRPr lang="en-US" sz="1950" dirty="0"/>
          </a:p>
        </p:txBody>
      </p:sp>
      <p:sp>
        <p:nvSpPr>
          <p:cNvPr id="62" name="Shape 59"/>
          <p:cNvSpPr/>
          <p:nvPr/>
        </p:nvSpPr>
        <p:spPr>
          <a:xfrm>
            <a:off x="3478470" y="4715986"/>
            <a:ext cx="219456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3478470" y="5344279"/>
            <a:ext cx="219456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4" name="Text 61"/>
          <p:cNvSpPr/>
          <p:nvPr/>
        </p:nvSpPr>
        <p:spPr>
          <a:xfrm>
            <a:off x="3688020" y="4877911"/>
            <a:ext cx="1851660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50" dirty="0"/>
          </a:p>
        </p:txBody>
      </p:sp>
      <p:sp>
        <p:nvSpPr>
          <p:cNvPr id="65" name="Shape 62"/>
          <p:cNvSpPr/>
          <p:nvPr/>
        </p:nvSpPr>
        <p:spPr>
          <a:xfrm>
            <a:off x="5673030" y="4715986"/>
            <a:ext cx="2704802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3"/>
          <p:cNvSpPr/>
          <p:nvPr/>
        </p:nvSpPr>
        <p:spPr>
          <a:xfrm>
            <a:off x="5673030" y="5344279"/>
            <a:ext cx="2704802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67" name="Text 64"/>
          <p:cNvSpPr/>
          <p:nvPr/>
        </p:nvSpPr>
        <p:spPr>
          <a:xfrm>
            <a:off x="5882580" y="4877911"/>
            <a:ext cx="2366846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endParaRPr lang="en-US" sz="1950" dirty="0"/>
          </a:p>
        </p:txBody>
      </p:sp>
      <p:sp>
        <p:nvSpPr>
          <p:cNvPr id="68" name="Shape 65"/>
          <p:cNvSpPr/>
          <p:nvPr/>
        </p:nvSpPr>
        <p:spPr>
          <a:xfrm>
            <a:off x="8377832" y="4715986"/>
            <a:ext cx="296930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6"/>
          <p:cNvSpPr/>
          <p:nvPr/>
        </p:nvSpPr>
        <p:spPr>
          <a:xfrm>
            <a:off x="8377832" y="5344279"/>
            <a:ext cx="296930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0" name="Shape 67"/>
          <p:cNvSpPr/>
          <p:nvPr/>
        </p:nvSpPr>
        <p:spPr>
          <a:xfrm>
            <a:off x="8587323" y="4877792"/>
            <a:ext cx="1051560" cy="304681"/>
          </a:xfrm>
          <a:prstGeom prst="roundRect">
            <a:avLst>
              <a:gd name="adj" fmla="val 21884"/>
            </a:avLst>
          </a:prstGeom>
          <a:solidFill>
            <a:srgbClr val="E7F2FB"/>
          </a:solidFill>
          <a:ln/>
        </p:spPr>
      </p:sp>
      <p:sp>
        <p:nvSpPr>
          <p:cNvPr id="71" name="Text 68"/>
          <p:cNvSpPr/>
          <p:nvPr/>
        </p:nvSpPr>
        <p:spPr>
          <a:xfrm>
            <a:off x="8701623" y="4915892"/>
            <a:ext cx="899160" cy="26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Confrère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11347132" y="4715986"/>
            <a:ext cx="2775525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0"/>
          <p:cNvSpPr/>
          <p:nvPr/>
        </p:nvSpPr>
        <p:spPr>
          <a:xfrm>
            <a:off x="11347132" y="5344279"/>
            <a:ext cx="277552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4" name="Text 71"/>
          <p:cNvSpPr/>
          <p:nvPr/>
        </p:nvSpPr>
        <p:spPr>
          <a:xfrm>
            <a:off x="11556682" y="4877911"/>
            <a:ext cx="2439691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950" dirty="0"/>
          </a:p>
        </p:txBody>
      </p:sp>
      <p:sp>
        <p:nvSpPr>
          <p:cNvPr id="75" name="Shape 72"/>
          <p:cNvSpPr/>
          <p:nvPr/>
        </p:nvSpPr>
        <p:spPr>
          <a:xfrm>
            <a:off x="14122657" y="4715986"/>
            <a:ext cx="3163431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3"/>
          <p:cNvSpPr/>
          <p:nvPr/>
        </p:nvSpPr>
        <p:spPr>
          <a:xfrm>
            <a:off x="14122657" y="5344279"/>
            <a:ext cx="3163431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77" name="Text 74"/>
          <p:cNvSpPr/>
          <p:nvPr/>
        </p:nvSpPr>
        <p:spPr>
          <a:xfrm>
            <a:off x="14332207" y="4877911"/>
            <a:ext cx="2839234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38 400 €</a:t>
            </a:r>
            <a:endParaRPr lang="en-US" sz="1950" dirty="0"/>
          </a:p>
        </p:txBody>
      </p:sp>
      <p:sp>
        <p:nvSpPr>
          <p:cNvPr id="78" name="Shape 75"/>
          <p:cNvSpPr/>
          <p:nvPr/>
        </p:nvSpPr>
        <p:spPr>
          <a:xfrm>
            <a:off x="1001911" y="5355709"/>
            <a:ext cx="2476559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79" name="Shape 76"/>
          <p:cNvSpPr/>
          <p:nvPr/>
        </p:nvSpPr>
        <p:spPr>
          <a:xfrm>
            <a:off x="1001911" y="6025972"/>
            <a:ext cx="2476559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0" name="Text 77"/>
          <p:cNvSpPr/>
          <p:nvPr/>
        </p:nvSpPr>
        <p:spPr>
          <a:xfrm>
            <a:off x="1211461" y="5517634"/>
            <a:ext cx="2133659" cy="384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411122</a:t>
            </a:r>
            <a:endParaRPr lang="en-US" sz="1950" dirty="0"/>
          </a:p>
        </p:txBody>
      </p:sp>
      <p:sp>
        <p:nvSpPr>
          <p:cNvPr id="81" name="Shape 78"/>
          <p:cNvSpPr/>
          <p:nvPr/>
        </p:nvSpPr>
        <p:spPr>
          <a:xfrm>
            <a:off x="3478470" y="5355709"/>
            <a:ext cx="2194560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82" name="Shape 79"/>
          <p:cNvSpPr/>
          <p:nvPr/>
        </p:nvSpPr>
        <p:spPr>
          <a:xfrm>
            <a:off x="3478470" y="6025972"/>
            <a:ext cx="219456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3" name="Text 80"/>
          <p:cNvSpPr/>
          <p:nvPr/>
        </p:nvSpPr>
        <p:spPr>
          <a:xfrm>
            <a:off x="3688020" y="5517634"/>
            <a:ext cx="1851660" cy="384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84" name="Shape 81"/>
          <p:cNvSpPr/>
          <p:nvPr/>
        </p:nvSpPr>
        <p:spPr>
          <a:xfrm>
            <a:off x="5673030" y="5355709"/>
            <a:ext cx="2704802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85" name="Shape 82"/>
          <p:cNvSpPr/>
          <p:nvPr/>
        </p:nvSpPr>
        <p:spPr>
          <a:xfrm>
            <a:off x="5673030" y="6025972"/>
            <a:ext cx="2704802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6" name="Text 83"/>
          <p:cNvSpPr/>
          <p:nvPr/>
        </p:nvSpPr>
        <p:spPr>
          <a:xfrm>
            <a:off x="5882580" y="5517634"/>
            <a:ext cx="2366846" cy="384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LBP 20041</a:t>
            </a:r>
            <a:endParaRPr lang="en-US" sz="1950" dirty="0"/>
          </a:p>
        </p:txBody>
      </p:sp>
      <p:sp>
        <p:nvSpPr>
          <p:cNvPr id="87" name="Shape 84"/>
          <p:cNvSpPr/>
          <p:nvPr/>
        </p:nvSpPr>
        <p:spPr>
          <a:xfrm>
            <a:off x="8377832" y="5355709"/>
            <a:ext cx="2969300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88" name="Shape 85"/>
          <p:cNvSpPr/>
          <p:nvPr/>
        </p:nvSpPr>
        <p:spPr>
          <a:xfrm>
            <a:off x="8377832" y="6025972"/>
            <a:ext cx="296930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89" name="Shape 86"/>
          <p:cNvSpPr/>
          <p:nvPr/>
        </p:nvSpPr>
        <p:spPr>
          <a:xfrm>
            <a:off x="8587323" y="5559484"/>
            <a:ext cx="1463040" cy="304681"/>
          </a:xfrm>
          <a:prstGeom prst="roundRect">
            <a:avLst>
              <a:gd name="adj" fmla="val 21884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0" name="Text 87"/>
          <p:cNvSpPr/>
          <p:nvPr/>
        </p:nvSpPr>
        <p:spPr>
          <a:xfrm>
            <a:off x="8701623" y="5597584"/>
            <a:ext cx="1310640" cy="26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porteurs</a:t>
            </a:r>
            <a:endParaRPr lang="en-US" sz="1350" dirty="0"/>
          </a:p>
        </p:txBody>
      </p:sp>
      <p:sp>
        <p:nvSpPr>
          <p:cNvPr id="91" name="Shape 88"/>
          <p:cNvSpPr/>
          <p:nvPr/>
        </p:nvSpPr>
        <p:spPr>
          <a:xfrm>
            <a:off x="11347132" y="5355709"/>
            <a:ext cx="2775525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92" name="Shape 89"/>
          <p:cNvSpPr/>
          <p:nvPr/>
        </p:nvSpPr>
        <p:spPr>
          <a:xfrm>
            <a:off x="11347132" y="6025972"/>
            <a:ext cx="277552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3" name="Text 90"/>
          <p:cNvSpPr/>
          <p:nvPr/>
        </p:nvSpPr>
        <p:spPr>
          <a:xfrm>
            <a:off x="11556682" y="5517634"/>
            <a:ext cx="2439691" cy="384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1 204</a:t>
            </a:r>
            <a:endParaRPr lang="en-US" sz="1950" dirty="0"/>
          </a:p>
        </p:txBody>
      </p:sp>
      <p:sp>
        <p:nvSpPr>
          <p:cNvPr id="94" name="Shape 91"/>
          <p:cNvSpPr/>
          <p:nvPr/>
        </p:nvSpPr>
        <p:spPr>
          <a:xfrm>
            <a:off x="14122657" y="5355709"/>
            <a:ext cx="3163431" cy="681693"/>
          </a:xfrm>
          <a:prstGeom prst="rect">
            <a:avLst/>
          </a:prstGeom>
          <a:solidFill>
            <a:srgbClr val="009EE0"/>
          </a:solidFill>
          <a:ln/>
        </p:spPr>
      </p:sp>
      <p:sp>
        <p:nvSpPr>
          <p:cNvPr id="95" name="Shape 92"/>
          <p:cNvSpPr/>
          <p:nvPr/>
        </p:nvSpPr>
        <p:spPr>
          <a:xfrm>
            <a:off x="14122657" y="6025972"/>
            <a:ext cx="3163431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6" name="Text 93"/>
          <p:cNvSpPr/>
          <p:nvPr/>
        </p:nvSpPr>
        <p:spPr>
          <a:xfrm>
            <a:off x="14332207" y="5517634"/>
            <a:ext cx="2839234" cy="384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90 300 €</a:t>
            </a:r>
            <a:endParaRPr lang="en-US" sz="1950" dirty="0"/>
          </a:p>
        </p:txBody>
      </p:sp>
      <p:sp>
        <p:nvSpPr>
          <p:cNvPr id="97" name="Shape 94"/>
          <p:cNvSpPr/>
          <p:nvPr/>
        </p:nvSpPr>
        <p:spPr>
          <a:xfrm>
            <a:off x="1001911" y="6037402"/>
            <a:ext cx="2476559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5"/>
          <p:cNvSpPr/>
          <p:nvPr/>
        </p:nvSpPr>
        <p:spPr>
          <a:xfrm>
            <a:off x="1001911" y="6665695"/>
            <a:ext cx="2476559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99" name="Text 96"/>
          <p:cNvSpPr/>
          <p:nvPr/>
        </p:nvSpPr>
        <p:spPr>
          <a:xfrm>
            <a:off x="1211461" y="6199327"/>
            <a:ext cx="2133659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55556677</a:t>
            </a:r>
            <a:endParaRPr lang="en-US" sz="1950" dirty="0"/>
          </a:p>
        </p:txBody>
      </p:sp>
      <p:sp>
        <p:nvSpPr>
          <p:cNvPr id="100" name="Shape 97"/>
          <p:cNvSpPr/>
          <p:nvPr/>
        </p:nvSpPr>
        <p:spPr>
          <a:xfrm>
            <a:off x="3478470" y="6037402"/>
            <a:ext cx="219456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8"/>
          <p:cNvSpPr/>
          <p:nvPr/>
        </p:nvSpPr>
        <p:spPr>
          <a:xfrm>
            <a:off x="3478470" y="6665695"/>
            <a:ext cx="219456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02" name="Text 99"/>
          <p:cNvSpPr/>
          <p:nvPr/>
        </p:nvSpPr>
        <p:spPr>
          <a:xfrm>
            <a:off x="3688020" y="6199327"/>
            <a:ext cx="1851660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50" dirty="0"/>
          </a:p>
        </p:txBody>
      </p:sp>
      <p:sp>
        <p:nvSpPr>
          <p:cNvPr id="103" name="Shape 100"/>
          <p:cNvSpPr/>
          <p:nvPr/>
        </p:nvSpPr>
        <p:spPr>
          <a:xfrm>
            <a:off x="5673030" y="6037402"/>
            <a:ext cx="2704802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101"/>
          <p:cNvSpPr/>
          <p:nvPr/>
        </p:nvSpPr>
        <p:spPr>
          <a:xfrm>
            <a:off x="5673030" y="6665695"/>
            <a:ext cx="2704802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05" name="Text 102"/>
          <p:cNvSpPr/>
          <p:nvPr/>
        </p:nvSpPr>
        <p:spPr>
          <a:xfrm>
            <a:off x="5882580" y="6199327"/>
            <a:ext cx="2366846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endParaRPr lang="en-US" sz="1950" dirty="0"/>
          </a:p>
        </p:txBody>
      </p:sp>
      <p:sp>
        <p:nvSpPr>
          <p:cNvPr id="106" name="Shape 103"/>
          <p:cNvSpPr/>
          <p:nvPr/>
        </p:nvSpPr>
        <p:spPr>
          <a:xfrm>
            <a:off x="8377832" y="6037402"/>
            <a:ext cx="2969300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377832" y="6665695"/>
            <a:ext cx="2969300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08" name="Shape 105"/>
          <p:cNvSpPr/>
          <p:nvPr/>
        </p:nvSpPr>
        <p:spPr>
          <a:xfrm>
            <a:off x="8587323" y="6199208"/>
            <a:ext cx="1051560" cy="304681"/>
          </a:xfrm>
          <a:prstGeom prst="roundRect">
            <a:avLst>
              <a:gd name="adj" fmla="val 21884"/>
            </a:avLst>
          </a:prstGeom>
          <a:solidFill>
            <a:srgbClr val="E7F2FB"/>
          </a:solidFill>
          <a:ln/>
        </p:spPr>
      </p:sp>
      <p:sp>
        <p:nvSpPr>
          <p:cNvPr id="109" name="Text 106"/>
          <p:cNvSpPr/>
          <p:nvPr/>
        </p:nvSpPr>
        <p:spPr>
          <a:xfrm>
            <a:off x="8701623" y="6237308"/>
            <a:ext cx="899160" cy="26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Confrère</a:t>
            </a:r>
            <a:endParaRPr lang="en-US" sz="1350" dirty="0"/>
          </a:p>
        </p:txBody>
      </p:sp>
      <p:sp>
        <p:nvSpPr>
          <p:cNvPr id="110" name="Shape 107"/>
          <p:cNvSpPr/>
          <p:nvPr/>
        </p:nvSpPr>
        <p:spPr>
          <a:xfrm>
            <a:off x="11347132" y="6037402"/>
            <a:ext cx="2775525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8"/>
          <p:cNvSpPr/>
          <p:nvPr/>
        </p:nvSpPr>
        <p:spPr>
          <a:xfrm>
            <a:off x="11347132" y="6665695"/>
            <a:ext cx="2775525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12" name="Text 109"/>
          <p:cNvSpPr/>
          <p:nvPr/>
        </p:nvSpPr>
        <p:spPr>
          <a:xfrm>
            <a:off x="11556682" y="6199327"/>
            <a:ext cx="2439691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331</a:t>
            </a:r>
            <a:endParaRPr lang="en-US" sz="1950" dirty="0"/>
          </a:p>
        </p:txBody>
      </p:sp>
      <p:sp>
        <p:nvSpPr>
          <p:cNvPr id="113" name="Shape 110"/>
          <p:cNvSpPr/>
          <p:nvPr/>
        </p:nvSpPr>
        <p:spPr>
          <a:xfrm>
            <a:off x="14122657" y="6037402"/>
            <a:ext cx="3163431" cy="6397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1"/>
          <p:cNvSpPr/>
          <p:nvPr/>
        </p:nvSpPr>
        <p:spPr>
          <a:xfrm>
            <a:off x="14122657" y="6665695"/>
            <a:ext cx="3163431" cy="11430"/>
          </a:xfrm>
          <a:prstGeom prst="rect">
            <a:avLst/>
          </a:prstGeom>
          <a:solidFill>
            <a:srgbClr val="D8E5F1"/>
          </a:solidFill>
          <a:ln/>
        </p:spPr>
      </p:sp>
      <p:sp>
        <p:nvSpPr>
          <p:cNvPr id="115" name="Text 112"/>
          <p:cNvSpPr/>
          <p:nvPr/>
        </p:nvSpPr>
        <p:spPr>
          <a:xfrm>
            <a:off x="14332207" y="6199327"/>
            <a:ext cx="2839234" cy="342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24 825 €</a:t>
            </a:r>
            <a:endParaRPr lang="en-US" sz="1950" dirty="0"/>
          </a:p>
        </p:txBody>
      </p:sp>
      <p:sp>
        <p:nvSpPr>
          <p:cNvPr id="116" name="Shape 113"/>
          <p:cNvSpPr/>
          <p:nvPr/>
        </p:nvSpPr>
        <p:spPr>
          <a:xfrm>
            <a:off x="990481" y="7004844"/>
            <a:ext cx="247531" cy="247531"/>
          </a:xfrm>
          <a:prstGeom prst="roundRect">
            <a:avLst>
              <a:gd name="adj" fmla="val 26936"/>
            </a:avLst>
          </a:prstGeom>
          <a:solidFill>
            <a:srgbClr val="009EE0"/>
          </a:solidFill>
          <a:ln/>
        </p:spPr>
      </p:sp>
      <p:sp>
        <p:nvSpPr>
          <p:cNvPr id="117" name="Text 114"/>
          <p:cNvSpPr/>
          <p:nvPr/>
        </p:nvSpPr>
        <p:spPr>
          <a:xfrm>
            <a:off x="1361777" y="6974305"/>
            <a:ext cx="166729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porteurs =</a:t>
            </a:r>
            <a:endParaRPr lang="en-US" sz="1875" dirty="0"/>
          </a:p>
        </p:txBody>
      </p:sp>
      <p:sp>
        <p:nvSpPr>
          <p:cNvPr id="118" name="Text 115"/>
          <p:cNvSpPr/>
          <p:nvPr/>
        </p:nvSpPr>
        <p:spPr>
          <a:xfrm>
            <a:off x="3138428" y="6974305"/>
            <a:ext cx="136189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63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20041</a:t>
            </a:r>
            <a:endParaRPr lang="en-US" sz="1875" dirty="0"/>
          </a:p>
        </p:txBody>
      </p:sp>
      <p:sp>
        <p:nvSpPr>
          <p:cNvPr id="119" name="Shape 116"/>
          <p:cNvSpPr/>
          <p:nvPr/>
        </p:nvSpPr>
        <p:spPr>
          <a:xfrm>
            <a:off x="4805065" y="7004844"/>
            <a:ext cx="247531" cy="247531"/>
          </a:xfrm>
          <a:prstGeom prst="roundRect">
            <a:avLst>
              <a:gd name="adj" fmla="val 26936"/>
            </a:avLst>
          </a:prstGeom>
          <a:solidFill>
            <a:srgbClr val="E7F2FB"/>
          </a:solidFill>
          <a:ln w="11430">
            <a:solidFill>
              <a:srgbClr val="C2D6E8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5176361" y="6974305"/>
            <a:ext cx="420090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Confrères = toutes les autres banques</a:t>
            </a:r>
            <a:endParaRPr lang="en-US" sz="1875" dirty="0"/>
          </a:p>
        </p:txBody>
      </p:sp>
      <p:sp>
        <p:nvSpPr>
          <p:cNvPr id="121" name="Text 118"/>
          <p:cNvSpPr/>
          <p:nvPr/>
        </p:nvSpPr>
        <p:spPr>
          <a:xfrm>
            <a:off x="990481" y="9586019"/>
            <a:ext cx="4461561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7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Jointure · Table Retraits × Table BINs</a:t>
            </a:r>
            <a:endParaRPr lang="en-US" sz="1575" dirty="0"/>
          </a:p>
        </p:txBody>
      </p:sp>
      <p:sp>
        <p:nvSpPr>
          <p:cNvPr id="122" name="Shape 119"/>
          <p:cNvSpPr/>
          <p:nvPr/>
        </p:nvSpPr>
        <p:spPr>
          <a:xfrm>
            <a:off x="16535816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  <p:sp>
        <p:nvSpPr>
          <p:cNvPr id="123" name="Shape 120"/>
          <p:cNvSpPr/>
          <p:nvPr/>
        </p:nvSpPr>
        <p:spPr>
          <a:xfrm>
            <a:off x="16754771" y="9734609"/>
            <a:ext cx="114300" cy="114300"/>
          </a:xfrm>
          <a:prstGeom prst="ellipse">
            <a:avLst/>
          </a:prstGeom>
          <a:solidFill>
            <a:srgbClr val="C2D6E8"/>
          </a:solidFill>
          <a:ln/>
        </p:spPr>
      </p:sp>
      <p:sp>
        <p:nvSpPr>
          <p:cNvPr id="124" name="Shape 121"/>
          <p:cNvSpPr/>
          <p:nvPr/>
        </p:nvSpPr>
        <p:spPr>
          <a:xfrm>
            <a:off x="16973728" y="9734609"/>
            <a:ext cx="323790" cy="114300"/>
          </a:xfrm>
          <a:prstGeom prst="roundRect">
            <a:avLst>
              <a:gd name="adj" fmla="val 50000"/>
            </a:avLst>
          </a:prstGeom>
          <a:solidFill>
            <a:srgbClr val="009EE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2026-06-11T07:26:47Z</dcterms:created>
  <dcterms:modified xsi:type="dcterms:W3CDTF">2026-06-11T07:26:47Z</dcterms:modified>
</cp:coreProperties>
</file>