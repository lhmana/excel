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13620809" y="-2000250"/>
            <a:ext cx="6095940" cy="6095940"/>
          </a:xfrm>
          <a:prstGeom prst="ellipse">
            <a:avLst/>
          </a:prstGeom>
          <a:ln w="11430">
            <a:solidFill>
              <a:srgbClr val="46AFE8">
                <a:alpha val="20000"/>
              </a:srgbClr>
            </a:solidFill>
            <a:prstDash val="solid"/>
          </a:ln>
        </p:spPr>
      </p:sp>
      <p:sp>
        <p:nvSpPr>
          <p:cNvPr id="3" name="Shape 1"/>
          <p:cNvSpPr/>
          <p:nvPr/>
        </p:nvSpPr>
        <p:spPr>
          <a:xfrm>
            <a:off x="12096690" y="-3429000"/>
            <a:ext cx="9143999" cy="9143999"/>
          </a:xfrm>
          <a:prstGeom prst="ellipse">
            <a:avLst/>
          </a:prstGeom>
          <a:ln w="11430">
            <a:solidFill>
              <a:srgbClr val="9FD4F1">
                <a:alpha val="13000"/>
              </a:srgbClr>
            </a:solidFill>
            <a:prstDash val="solid"/>
          </a:ln>
        </p:spPr>
      </p:sp>
      <p:sp>
        <p:nvSpPr>
          <p:cNvPr id="4" name="Shape 2"/>
          <p:cNvSpPr/>
          <p:nvPr/>
        </p:nvSpPr>
        <p:spPr>
          <a:xfrm>
            <a:off x="13144499" y="6572249"/>
            <a:ext cx="2857500" cy="2857500"/>
          </a:xfrm>
          <a:prstGeom prst="ellipse">
            <a:avLst/>
          </a:prstGeom>
          <a:solidFill>
            <a:srgbClr val="46AFE8">
              <a:alpha val="7000"/>
            </a:srgbClr>
          </a:solidFill>
          <a:ln/>
        </p:spPr>
      </p:sp>
      <p:sp>
        <p:nvSpPr>
          <p:cNvPr id="5" name="Shape 3"/>
          <p:cNvSpPr/>
          <p:nvPr/>
        </p:nvSpPr>
        <p:spPr>
          <a:xfrm>
            <a:off x="1028700" y="917079"/>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6" name="Text 4"/>
          <p:cNvSpPr/>
          <p:nvPr/>
        </p:nvSpPr>
        <p:spPr>
          <a:xfrm>
            <a:off x="1304806" y="819031"/>
            <a:ext cx="2892270" cy="358140"/>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46AFE8"/>
                </a:solidFill>
                <a:latin typeface="Arial" pitchFamily="34" charset="0"/>
                <a:ea typeface="Arial" pitchFamily="34" charset="-122"/>
                <a:cs typeface="Arial" pitchFamily="34" charset="-120"/>
              </a:rPr>
              <a:t>THÈSE CIFRE · 2026</a:t>
            </a:r>
            <a:endParaRPr lang="en-US" sz="1875" dirty="0"/>
          </a:p>
        </p:txBody>
      </p:sp>
      <p:sp>
        <p:nvSpPr>
          <p:cNvPr id="7" name="Shape 5"/>
          <p:cNvSpPr/>
          <p:nvPr/>
        </p:nvSpPr>
        <p:spPr>
          <a:xfrm>
            <a:off x="16042718" y="819325"/>
            <a:ext cx="1216581" cy="780812"/>
          </a:xfrm>
          <a:prstGeom prst="roundRect">
            <a:avLst>
              <a:gd name="adj" fmla="val 50000"/>
            </a:avLst>
          </a:prstGeom>
          <a:solidFill>
            <a:srgbClr val="FFFFFF"/>
          </a:solidFill>
          <a:ln/>
          <a:effectLst>
            <a:outerShdw sx="100000" sy="100000" kx="0" ky="0" algn="bl" rotWithShape="0" blurRad="285750" dist="133350" dir="5400000">
              <a:srgbClr val="00204F">
                <a:alpha val="50000"/>
              </a:srgbClr>
            </a:outerShdw>
          </a:effectLst>
        </p:spPr>
      </p:sp>
      <p:pic>
        <p:nvPicPr>
          <p:cNvPr id="8" name="Image 0" descr="preencoded.png">    </p:cNvPr>
          <p:cNvPicPr>
            <a:picLocks noChangeAspect="1"/>
          </p:cNvPicPr>
          <p:nvPr/>
        </p:nvPicPr>
        <p:blipFill>
          <a:blip r:embed="rId1"/>
          <a:stretch>
            <a:fillRect/>
          </a:stretch>
        </p:blipFill>
        <p:spPr>
          <a:xfrm>
            <a:off x="16290250" y="952556"/>
            <a:ext cx="721519" cy="514350"/>
          </a:xfrm>
          <a:prstGeom prst="rect">
            <a:avLst/>
          </a:prstGeom>
        </p:spPr>
      </p:pic>
      <p:sp>
        <p:nvSpPr>
          <p:cNvPr id="9" name="Text 6"/>
          <p:cNvSpPr/>
          <p:nvPr/>
        </p:nvSpPr>
        <p:spPr>
          <a:xfrm>
            <a:off x="1028700" y="3507633"/>
            <a:ext cx="14716124" cy="358140"/>
          </a:xfrm>
          <a:prstGeom prst="rect">
            <a:avLst/>
          </a:prstGeom>
          <a:noFill/>
          <a:ln/>
        </p:spPr>
        <p:txBody>
          <a:bodyPr wrap="square" lIns="25400" tIns="25400" rIns="25400" bIns="25400" rtlCol="0" anchor="t">
            <a:normAutofit/>
          </a:bodyPr>
          <a:lstStyle/>
          <a:p>
            <a:pPr algn="l" indent="0" marL="0">
              <a:buNone/>
            </a:pPr>
            <a:r>
              <a:rPr lang="en-US" sz="1875" b="1" spc="75" kern="0" dirty="0">
                <a:solidFill>
                  <a:srgbClr val="46AFE8"/>
                </a:solidFill>
                <a:latin typeface="Arial" pitchFamily="34" charset="0"/>
                <a:ea typeface="Arial" pitchFamily="34" charset="-122"/>
                <a:cs typeface="Arial" pitchFamily="34" charset="-120"/>
              </a:rPr>
              <a:t>Proposition de</a:t>
            </a:r>
            <a:endParaRPr lang="en-US" sz="1875" dirty="0"/>
          </a:p>
        </p:txBody>
      </p:sp>
      <p:sp>
        <p:nvSpPr>
          <p:cNvPr id="10" name="Text 7"/>
          <p:cNvSpPr/>
          <p:nvPr/>
        </p:nvSpPr>
        <p:spPr>
          <a:xfrm>
            <a:off x="1028700" y="4074731"/>
            <a:ext cx="14716124" cy="1828681"/>
          </a:xfrm>
          <a:prstGeom prst="rect">
            <a:avLst/>
          </a:prstGeom>
          <a:noFill/>
          <a:ln/>
        </p:spPr>
        <p:txBody>
          <a:bodyPr wrap="square" lIns="25400" tIns="25400" rIns="25400" bIns="25400" rtlCol="0" anchor="t">
            <a:normAutofit/>
          </a:bodyPr>
          <a:lstStyle/>
          <a:p>
            <a:pPr algn="l" indent="0" marL="0">
              <a:lnSpc>
                <a:spcPct val="100000"/>
              </a:lnSpc>
              <a:buNone/>
            </a:pPr>
            <a:r>
              <a:rPr lang="en-US" sz="7050" b="1" spc="-141" kern="0" dirty="0">
                <a:solidFill>
                  <a:srgbClr val="FFFFFF"/>
                </a:solidFill>
                <a:latin typeface="Georgia" pitchFamily="34" charset="0"/>
                <a:ea typeface="Georgia" pitchFamily="34" charset="-122"/>
                <a:cs typeface="Georgia" pitchFamily="34" charset="-120"/>
              </a:rPr>
              <a:t>Recherche Doctorale</a:t>
            </a:r>
            <a:endParaRPr lang="en-US" sz="7050" dirty="0"/>
          </a:p>
        </p:txBody>
      </p:sp>
      <p:sp>
        <p:nvSpPr>
          <p:cNvPr id="11" name="Text 8"/>
          <p:cNvSpPr/>
          <p:nvPr/>
        </p:nvSpPr>
        <p:spPr>
          <a:xfrm>
            <a:off x="1028700" y="6235863"/>
            <a:ext cx="12557637" cy="964644"/>
          </a:xfrm>
          <a:prstGeom prst="rect">
            <a:avLst/>
          </a:prstGeom>
          <a:noFill/>
          <a:ln/>
        </p:spPr>
        <p:txBody>
          <a:bodyPr wrap="square" lIns="25400" tIns="25400" rIns="25400" bIns="25400" rtlCol="0" anchor="t">
            <a:normAutofit/>
          </a:bodyPr>
          <a:lstStyle/>
          <a:p>
            <a:pPr algn="l" indent="0" marL="0">
              <a:lnSpc>
                <a:spcPct val="128000"/>
              </a:lnSpc>
              <a:buNone/>
            </a:pPr>
            <a:r>
              <a:rPr lang="en-US" sz="2850" dirty="0">
                <a:solidFill>
                  <a:srgbClr val="FFFFFF">
                    <a:alpha val="90000"/>
                  </a:srgbClr>
                </a:solidFill>
                <a:latin typeface="Arial" pitchFamily="34" charset="0"/>
                <a:ea typeface="Arial" pitchFamily="34" charset="-122"/>
                <a:cs typeface="Arial" pitchFamily="34" charset="-120"/>
              </a:rPr>
              <a:t>Data Science &amp; Intelligence Artificielle appliquées aux données de paiement</a:t>
            </a:r>
            <a:endParaRPr lang="en-US" sz="2850" dirty="0"/>
          </a:p>
        </p:txBody>
      </p:sp>
      <p:sp>
        <p:nvSpPr>
          <p:cNvPr id="12" name="Text 9"/>
          <p:cNvSpPr/>
          <p:nvPr/>
        </p:nvSpPr>
        <p:spPr>
          <a:xfrm>
            <a:off x="1028700" y="9129321"/>
            <a:ext cx="5784725"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Direction des Paiements </a:t>
            </a:r>
            <a:pPr algn="l" indent="0" marL="0">
              <a:buNone/>
            </a:pPr>
            <a:r>
              <a:rPr lang="en-US" sz="2100" dirty="0">
                <a:solidFill>
                  <a:srgbClr val="46AFE8"/>
                </a:solidFill>
                <a:latin typeface="Arial" pitchFamily="34" charset="0"/>
                <a:ea typeface="Arial" pitchFamily="34" charset="-122"/>
                <a:cs typeface="Arial" pitchFamily="34" charset="-120"/>
              </a:rPr>
              <a:t>· La Banque Postale</a:t>
            </a:r>
            <a:endParaRPr lang="en-US" sz="2100" dirty="0"/>
          </a:p>
        </p:txBody>
      </p:sp>
      <p:sp>
        <p:nvSpPr>
          <p:cNvPr id="13" name="Shape 10"/>
          <p:cNvSpPr/>
          <p:nvPr/>
        </p:nvSpPr>
        <p:spPr>
          <a:xfrm>
            <a:off x="6930687" y="9307379"/>
            <a:ext cx="1595199" cy="9525"/>
          </a:xfrm>
          <a:prstGeom prst="rect">
            <a:avLst/>
          </a:prstGeom>
          <a:solidFill>
            <a:srgbClr val="FFFFFF">
              <a:alpha val="28000"/>
            </a:srgbClr>
          </a:solidFill>
          <a:ln/>
        </p:spPr>
      </p:sp>
      <p:sp>
        <p:nvSpPr>
          <p:cNvPr id="14" name="Shape 11"/>
          <p:cNvSpPr/>
          <p:nvPr/>
        </p:nvSpPr>
        <p:spPr>
          <a:xfrm>
            <a:off x="8811637" y="9079851"/>
            <a:ext cx="925294" cy="464701"/>
          </a:xfrm>
          <a:prstGeom prst="roundRect">
            <a:avLst>
              <a:gd name="adj" fmla="val 50000"/>
            </a:avLst>
          </a:prstGeom>
          <a:solidFill>
            <a:srgbClr val="FFFFFF">
              <a:alpha val="7000"/>
            </a:srgbClr>
          </a:solidFill>
          <a:ln w="11430">
            <a:solidFill>
              <a:srgbClr val="FFFFFF">
                <a:alpha val="14000"/>
              </a:srgbClr>
            </a:solidFill>
            <a:prstDash val="solid"/>
          </a:ln>
        </p:spPr>
      </p:sp>
      <p:sp>
        <p:nvSpPr>
          <p:cNvPr id="15" name="Text 12"/>
          <p:cNvSpPr/>
          <p:nvPr/>
        </p:nvSpPr>
        <p:spPr>
          <a:xfrm>
            <a:off x="8965942" y="9157956"/>
            <a:ext cx="692884" cy="346591"/>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70000"/>
                  </a:srgbClr>
                </a:solidFill>
                <a:latin typeface="Arial" pitchFamily="34" charset="0"/>
                <a:ea typeface="Arial" pitchFamily="34" charset="-122"/>
                <a:cs typeface="Arial" pitchFamily="34" charset="-120"/>
              </a:rPr>
              <a:t>CIFRE</a:t>
            </a:r>
            <a:endParaRPr lang="en-US" sz="1800" dirty="0"/>
          </a:p>
        </p:txBody>
      </p:sp>
      <p:sp>
        <p:nvSpPr>
          <p:cNvPr id="16" name="Shape 13"/>
          <p:cNvSpPr/>
          <p:nvPr/>
        </p:nvSpPr>
        <p:spPr>
          <a:xfrm>
            <a:off x="9851230" y="9079851"/>
            <a:ext cx="898862" cy="464701"/>
          </a:xfrm>
          <a:prstGeom prst="roundRect">
            <a:avLst>
              <a:gd name="adj" fmla="val 50000"/>
            </a:avLst>
          </a:prstGeom>
          <a:solidFill>
            <a:srgbClr val="FFFFFF">
              <a:alpha val="7000"/>
            </a:srgbClr>
          </a:solidFill>
          <a:ln w="11430">
            <a:solidFill>
              <a:srgbClr val="FFFFFF">
                <a:alpha val="14000"/>
              </a:srgbClr>
            </a:solidFill>
            <a:prstDash val="solid"/>
          </a:ln>
        </p:spPr>
      </p:sp>
      <p:sp>
        <p:nvSpPr>
          <p:cNvPr id="17" name="Text 14"/>
          <p:cNvSpPr/>
          <p:nvPr/>
        </p:nvSpPr>
        <p:spPr>
          <a:xfrm>
            <a:off x="10005535" y="9157956"/>
            <a:ext cx="666452" cy="346591"/>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70000"/>
                  </a:srgbClr>
                </a:solidFill>
                <a:latin typeface="Arial" pitchFamily="34" charset="0"/>
                <a:ea typeface="Arial" pitchFamily="34" charset="-122"/>
                <a:cs typeface="Arial" pitchFamily="34" charset="-120"/>
              </a:rPr>
              <a:t>ANRT</a:t>
            </a:r>
            <a:endParaRPr lang="en-US" sz="1800" dirty="0"/>
          </a:p>
        </p:txBody>
      </p:sp>
      <p:sp>
        <p:nvSpPr>
          <p:cNvPr id="18" name="Shape 15"/>
          <p:cNvSpPr/>
          <p:nvPr/>
        </p:nvSpPr>
        <p:spPr>
          <a:xfrm>
            <a:off x="10864393" y="9079851"/>
            <a:ext cx="6394906" cy="464701"/>
          </a:xfrm>
          <a:prstGeom prst="roundRect">
            <a:avLst>
              <a:gd name="adj" fmla="val 50000"/>
            </a:avLst>
          </a:prstGeom>
          <a:solidFill>
            <a:srgbClr val="FFFFFF">
              <a:alpha val="7000"/>
            </a:srgbClr>
          </a:solidFill>
          <a:ln w="11430">
            <a:solidFill>
              <a:srgbClr val="FFFFFF">
                <a:alpha val="14000"/>
              </a:srgbClr>
            </a:solidFill>
            <a:prstDash val="solid"/>
          </a:ln>
        </p:spPr>
      </p:sp>
      <p:sp>
        <p:nvSpPr>
          <p:cNvPr id="19" name="Text 16"/>
          <p:cNvSpPr/>
          <p:nvPr/>
        </p:nvSpPr>
        <p:spPr>
          <a:xfrm>
            <a:off x="11018698" y="9157956"/>
            <a:ext cx="6278143" cy="346591"/>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70000"/>
                  </a:srgbClr>
                </a:solidFill>
                <a:latin typeface="Arial" pitchFamily="34" charset="0"/>
                <a:ea typeface="Arial" pitchFamily="34" charset="-122"/>
                <a:cs typeface="Arial" pitchFamily="34" charset="-120"/>
              </a:rPr>
              <a:t>Ministère de l'Enseignement Supérieur &amp; de la Recherche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1028700" y="911389"/>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3" name="Text 1"/>
          <p:cNvSpPr/>
          <p:nvPr/>
        </p:nvSpPr>
        <p:spPr>
          <a:xfrm>
            <a:off x="1304806" y="819056"/>
            <a:ext cx="2705375"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2A96D6"/>
                </a:solidFill>
                <a:latin typeface="Arial" pitchFamily="34" charset="0"/>
                <a:ea typeface="Arial" pitchFamily="34" charset="-122"/>
                <a:cs typeface="Arial" pitchFamily="34" charset="-120"/>
              </a:rPr>
              <a:t>01 — LE DISPOSITIF</a:t>
            </a:r>
            <a:endParaRPr lang="en-US" sz="1800" dirty="0"/>
          </a:p>
        </p:txBody>
      </p:sp>
      <p:sp>
        <p:nvSpPr>
          <p:cNvPr id="4" name="Text 2"/>
          <p:cNvSpPr/>
          <p:nvPr/>
        </p:nvSpPr>
        <p:spPr>
          <a:xfrm>
            <a:off x="1028700" y="1299567"/>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0F1E3D"/>
                </a:solidFill>
                <a:latin typeface="Arial" pitchFamily="34" charset="0"/>
                <a:ea typeface="Arial" pitchFamily="34" charset="-122"/>
                <a:cs typeface="Arial" pitchFamily="34" charset="-120"/>
              </a:rPr>
              <a:t>La CIFRE, c'est quoi ?</a:t>
            </a:r>
            <a:endParaRPr lang="en-US" sz="4350" dirty="0"/>
          </a:p>
        </p:txBody>
      </p:sp>
      <p:sp>
        <p:nvSpPr>
          <p:cNvPr id="5" name="Text 3"/>
          <p:cNvSpPr/>
          <p:nvPr/>
        </p:nvSpPr>
        <p:spPr>
          <a:xfrm>
            <a:off x="1028700" y="2045961"/>
            <a:ext cx="13538834" cy="866418"/>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5E6E8E"/>
                </a:solidFill>
                <a:latin typeface="Arial" pitchFamily="34" charset="0"/>
                <a:ea typeface="Arial" pitchFamily="34" charset="-122"/>
                <a:cs typeface="Arial" pitchFamily="34" charset="-120"/>
              </a:rPr>
              <a:t>Un contrat signé entre </a:t>
            </a:r>
            <a:pPr algn="l" indent="0" marL="0">
              <a:lnSpc>
                <a:spcPct val="134000"/>
              </a:lnSpc>
              <a:buNone/>
            </a:pPr>
            <a:r>
              <a:rPr lang="en-US" sz="2400" b="1" dirty="0">
                <a:solidFill>
                  <a:srgbClr val="143A77"/>
                </a:solidFill>
                <a:latin typeface="Arial" pitchFamily="34" charset="0"/>
                <a:ea typeface="Arial" pitchFamily="34" charset="-122"/>
                <a:cs typeface="Arial" pitchFamily="34" charset="-120"/>
              </a:rPr>
              <a:t>trois parties </a:t>
            </a:r>
            <a:pPr algn="l" indent="0" marL="0">
              <a:lnSpc>
                <a:spcPct val="134000"/>
              </a:lnSpc>
              <a:buNone/>
            </a:pPr>
            <a:r>
              <a:rPr lang="en-US" sz="2400" dirty="0">
                <a:solidFill>
                  <a:srgbClr val="5E6E8E"/>
                </a:solidFill>
                <a:latin typeface="Arial" pitchFamily="34" charset="0"/>
                <a:ea typeface="Arial" pitchFamily="34" charset="-122"/>
                <a:cs typeface="Arial" pitchFamily="34" charset="-120"/>
              </a:rPr>
              <a:t>— financé par l'État — qui permet de mener une thèse de doctorat depuis l'intérieur de l'entreprise.</a:t>
            </a:r>
            <a:endParaRPr lang="en-US" sz="2400" dirty="0"/>
          </a:p>
        </p:txBody>
      </p:sp>
      <p:sp>
        <p:nvSpPr>
          <p:cNvPr id="6" name="Shape 4"/>
          <p:cNvSpPr/>
          <p:nvPr/>
        </p:nvSpPr>
        <p:spPr>
          <a:xfrm>
            <a:off x="1028700" y="3293259"/>
            <a:ext cx="5245119" cy="4775239"/>
          </a:xfrm>
          <a:prstGeom prst="roundRect">
            <a:avLst>
              <a:gd name="adj" fmla="val 6782"/>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7" name="Shape 5"/>
          <p:cNvSpPr/>
          <p:nvPr/>
        </p:nvSpPr>
        <p:spPr>
          <a:xfrm>
            <a:off x="1421070" y="3779034"/>
            <a:ext cx="590431" cy="590431"/>
          </a:xfrm>
          <a:prstGeom prst="roundRect">
            <a:avLst>
              <a:gd name="adj" fmla="val 29038"/>
            </a:avLst>
          </a:prstGeom>
          <a:solidFill>
            <a:srgbClr val="46AFE8"/>
          </a:solidFill>
          <a:ln/>
        </p:spPr>
      </p:sp>
      <p:sp>
        <p:nvSpPr>
          <p:cNvPr id="8" name="Text 6"/>
          <p:cNvSpPr/>
          <p:nvPr/>
        </p:nvSpPr>
        <p:spPr>
          <a:xfrm>
            <a:off x="1382970" y="3779034"/>
            <a:ext cx="666631" cy="628531"/>
          </a:xfrm>
          <a:prstGeom prst="rect">
            <a:avLst/>
          </a:prstGeom>
          <a:noFill/>
          <a:ln/>
        </p:spPr>
        <p:txBody>
          <a:bodyPr wrap="square" lIns="25400" tIns="25400" rIns="25400" bIns="25400" rtlCol="0" anchor="ctr">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M</a:t>
            </a:r>
            <a:endParaRPr lang="en-US" sz="2250" dirty="0"/>
          </a:p>
        </p:txBody>
      </p:sp>
      <p:sp>
        <p:nvSpPr>
          <p:cNvPr id="9" name="Text 7"/>
          <p:cNvSpPr/>
          <p:nvPr/>
        </p:nvSpPr>
        <p:spPr>
          <a:xfrm>
            <a:off x="2182951" y="3704740"/>
            <a:ext cx="1388864" cy="400110"/>
          </a:xfrm>
          <a:prstGeom prst="rect">
            <a:avLst/>
          </a:prstGeom>
          <a:noFill/>
          <a:ln/>
        </p:spPr>
        <p:txBody>
          <a:bodyPr wrap="square" lIns="25400" tIns="25400" rIns="25400" bIns="25400" rtlCol="0" anchor="t">
            <a:normAutofit/>
          </a:bodyPr>
          <a:lstStyle/>
          <a:p>
            <a:pPr algn="l" indent="0" marL="0">
              <a:lnSpc>
                <a:spcPct val="100000"/>
              </a:lnSpc>
              <a:buNone/>
            </a:pPr>
            <a:r>
              <a:rPr lang="en-US" sz="2850" b="1" dirty="0">
                <a:solidFill>
                  <a:srgbClr val="0F1E3D"/>
                </a:solidFill>
                <a:latin typeface="Arial" pitchFamily="34" charset="0"/>
                <a:ea typeface="Arial" pitchFamily="34" charset="-122"/>
                <a:cs typeface="Arial" pitchFamily="34" charset="-120"/>
              </a:rPr>
              <a:t>Moi</a:t>
            </a:r>
            <a:endParaRPr lang="en-US" sz="2850" dirty="0"/>
          </a:p>
        </p:txBody>
      </p:sp>
      <p:sp>
        <p:nvSpPr>
          <p:cNvPr id="10" name="Text 8"/>
          <p:cNvSpPr/>
          <p:nvPr/>
        </p:nvSpPr>
        <p:spPr>
          <a:xfrm>
            <a:off x="2182951" y="4123899"/>
            <a:ext cx="1388864" cy="358140"/>
          </a:xfrm>
          <a:prstGeom prst="rect">
            <a:avLst/>
          </a:prstGeom>
          <a:noFill/>
          <a:ln/>
        </p:spPr>
        <p:txBody>
          <a:bodyPr wrap="square" lIns="25400" tIns="25400" rIns="25400" bIns="25400" rtlCol="0" anchor="t">
            <a:normAutofit/>
          </a:bodyPr>
          <a:lstStyle/>
          <a:p>
            <a:pPr algn="l" indent="0" marL="0">
              <a:buNone/>
            </a:pPr>
            <a:r>
              <a:rPr lang="en-US" sz="1875" b="1" dirty="0">
                <a:solidFill>
                  <a:srgbClr val="2A96D6"/>
                </a:solidFill>
                <a:latin typeface="Arial" pitchFamily="34" charset="0"/>
                <a:ea typeface="Arial" pitchFamily="34" charset="-122"/>
                <a:cs typeface="Arial" pitchFamily="34" charset="-120"/>
              </a:rPr>
              <a:t>Doctorante</a:t>
            </a:r>
            <a:endParaRPr lang="en-US" sz="1875" dirty="0"/>
          </a:p>
        </p:txBody>
      </p:sp>
      <p:sp>
        <p:nvSpPr>
          <p:cNvPr id="11" name="Text 9"/>
          <p:cNvSpPr/>
          <p:nvPr/>
        </p:nvSpPr>
        <p:spPr>
          <a:xfrm>
            <a:off x="1421070" y="4691470"/>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2" name="Text 10"/>
          <p:cNvSpPr/>
          <p:nvPr/>
        </p:nvSpPr>
        <p:spPr>
          <a:xfrm>
            <a:off x="1611630" y="4714330"/>
            <a:ext cx="3866845" cy="300990"/>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Salariée LBP en CDI ou CDD 3 ans</a:t>
            </a:r>
            <a:endParaRPr lang="en-US" sz="1875" dirty="0"/>
          </a:p>
        </p:txBody>
      </p:sp>
      <p:sp>
        <p:nvSpPr>
          <p:cNvPr id="13" name="Text 11"/>
          <p:cNvSpPr/>
          <p:nvPr/>
        </p:nvSpPr>
        <p:spPr>
          <a:xfrm>
            <a:off x="1421070" y="5181888"/>
            <a:ext cx="142994" cy="676037"/>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4" name="Text 12"/>
          <p:cNvSpPr/>
          <p:nvPr/>
        </p:nvSpPr>
        <p:spPr>
          <a:xfrm>
            <a:off x="1611630" y="5204748"/>
            <a:ext cx="3449091" cy="619959"/>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100 % de mon temps dédié à la recherche</a:t>
            </a:r>
            <a:endParaRPr lang="en-US" sz="1875" dirty="0"/>
          </a:p>
        </p:txBody>
      </p:sp>
      <p:sp>
        <p:nvSpPr>
          <p:cNvPr id="15" name="Text 13"/>
          <p:cNvSpPr/>
          <p:nvPr/>
        </p:nvSpPr>
        <p:spPr>
          <a:xfrm>
            <a:off x="1421070" y="5991275"/>
            <a:ext cx="142994" cy="676037"/>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6" name="Text 14"/>
          <p:cNvSpPr/>
          <p:nvPr/>
        </p:nvSpPr>
        <p:spPr>
          <a:xfrm>
            <a:off x="1611630" y="6014135"/>
            <a:ext cx="3844403" cy="619958"/>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Encadrée par un directeur de thèse académique</a:t>
            </a:r>
            <a:endParaRPr lang="en-US" sz="1875" dirty="0"/>
          </a:p>
        </p:txBody>
      </p:sp>
      <p:sp>
        <p:nvSpPr>
          <p:cNvPr id="17" name="Text 15"/>
          <p:cNvSpPr/>
          <p:nvPr/>
        </p:nvSpPr>
        <p:spPr>
          <a:xfrm>
            <a:off x="1421070" y="6800662"/>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8" name="Text 16"/>
          <p:cNvSpPr/>
          <p:nvPr/>
        </p:nvSpPr>
        <p:spPr>
          <a:xfrm>
            <a:off x="1611630" y="6823522"/>
            <a:ext cx="3721340" cy="300990"/>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À la fin : titre de Docteure reconnu</a:t>
            </a:r>
            <a:endParaRPr lang="en-US" sz="1875" dirty="0"/>
          </a:p>
        </p:txBody>
      </p:sp>
      <p:sp>
        <p:nvSpPr>
          <p:cNvPr id="19" name="Shape 17"/>
          <p:cNvSpPr/>
          <p:nvPr/>
        </p:nvSpPr>
        <p:spPr>
          <a:xfrm>
            <a:off x="6521350" y="3292673"/>
            <a:ext cx="5245119" cy="4775239"/>
          </a:xfrm>
          <a:prstGeom prst="roundRect">
            <a:avLst>
              <a:gd name="adj" fmla="val 6782"/>
            </a:avLst>
          </a:prstGeom>
          <a:solidFill>
            <a:srgbClr val="0B2350"/>
          </a:solidFill>
          <a:ln/>
          <a:effectLst>
            <a:outerShdw sx="100000" sy="100000" kx="0" ky="0" algn="bl" rotWithShape="0" blurRad="666750" dist="285750" dir="5400000">
              <a:srgbClr val="00204F">
                <a:alpha val="45000"/>
              </a:srgbClr>
            </a:outerShdw>
          </a:effectLst>
        </p:spPr>
      </p:sp>
      <p:sp>
        <p:nvSpPr>
          <p:cNvPr id="20" name="Shape 18"/>
          <p:cNvSpPr/>
          <p:nvPr/>
        </p:nvSpPr>
        <p:spPr>
          <a:xfrm>
            <a:off x="6902291" y="3767018"/>
            <a:ext cx="590431" cy="590431"/>
          </a:xfrm>
          <a:prstGeom prst="roundRect">
            <a:avLst>
              <a:gd name="adj" fmla="val 29038"/>
            </a:avLst>
          </a:prstGeom>
          <a:solidFill>
            <a:srgbClr val="FFFFFF">
              <a:alpha val="95000"/>
            </a:srgbClr>
          </a:solidFill>
          <a:ln/>
        </p:spPr>
      </p:sp>
      <p:pic>
        <p:nvPicPr>
          <p:cNvPr id="21" name="Image 0" descr="preencoded.png">    </p:cNvPr>
          <p:cNvPicPr>
            <a:picLocks noChangeAspect="1"/>
          </p:cNvPicPr>
          <p:nvPr/>
        </p:nvPicPr>
        <p:blipFill>
          <a:blip r:embed="rId1"/>
          <a:srcRect l="0" r="0" t="0" b="0"/>
          <a:stretch/>
        </p:blipFill>
        <p:spPr>
          <a:xfrm>
            <a:off x="6978372" y="3843099"/>
            <a:ext cx="438269" cy="438269"/>
          </a:xfrm>
          <a:prstGeom prst="rect">
            <a:avLst/>
          </a:prstGeom>
        </p:spPr>
      </p:pic>
      <p:sp>
        <p:nvSpPr>
          <p:cNvPr id="22" name="Text 19"/>
          <p:cNvSpPr/>
          <p:nvPr/>
        </p:nvSpPr>
        <p:spPr>
          <a:xfrm>
            <a:off x="7664172" y="3692723"/>
            <a:ext cx="3346815" cy="400110"/>
          </a:xfrm>
          <a:prstGeom prst="rect">
            <a:avLst/>
          </a:prstGeom>
          <a:noFill/>
          <a:ln/>
        </p:spPr>
        <p:txBody>
          <a:bodyPr wrap="square" lIns="25400" tIns="25400" rIns="25400" bIns="25400" rtlCol="0" anchor="t">
            <a:normAutofit/>
          </a:bodyPr>
          <a:lstStyle/>
          <a:p>
            <a:pPr algn="l" indent="0" marL="0">
              <a:lnSpc>
                <a:spcPct val="100000"/>
              </a:lnSpc>
              <a:buNone/>
            </a:pPr>
            <a:r>
              <a:rPr lang="en-US" sz="2850" b="1" dirty="0">
                <a:solidFill>
                  <a:srgbClr val="FFFFFF"/>
                </a:solidFill>
                <a:latin typeface="Arial" pitchFamily="34" charset="0"/>
                <a:ea typeface="Arial" pitchFamily="34" charset="-122"/>
                <a:cs typeface="Arial" pitchFamily="34" charset="-120"/>
              </a:rPr>
              <a:t>La Banque Postale</a:t>
            </a:r>
            <a:endParaRPr lang="en-US" sz="2850" dirty="0"/>
          </a:p>
        </p:txBody>
      </p:sp>
      <p:sp>
        <p:nvSpPr>
          <p:cNvPr id="23" name="Text 20"/>
          <p:cNvSpPr/>
          <p:nvPr/>
        </p:nvSpPr>
        <p:spPr>
          <a:xfrm>
            <a:off x="7664172" y="4111883"/>
            <a:ext cx="3346815" cy="358140"/>
          </a:xfrm>
          <a:prstGeom prst="rect">
            <a:avLst/>
          </a:prstGeom>
          <a:noFill/>
          <a:ln/>
        </p:spPr>
        <p:txBody>
          <a:bodyPr wrap="square" lIns="25400" tIns="25400" rIns="25400" bIns="25400" rtlCol="0" anchor="t">
            <a:normAutofit/>
          </a:bodyPr>
          <a:lstStyle/>
          <a:p>
            <a:pPr algn="l" indent="0" marL="0">
              <a:buNone/>
            </a:pPr>
            <a:r>
              <a:rPr lang="en-US" sz="1875" b="1" dirty="0">
                <a:solidFill>
                  <a:srgbClr val="46AFE8"/>
                </a:solidFill>
                <a:latin typeface="Arial" pitchFamily="34" charset="0"/>
                <a:ea typeface="Arial" pitchFamily="34" charset="-122"/>
                <a:cs typeface="Arial" pitchFamily="34" charset="-120"/>
              </a:rPr>
              <a:t>Employeur</a:t>
            </a:r>
            <a:endParaRPr lang="en-US" sz="1875" dirty="0"/>
          </a:p>
        </p:txBody>
      </p:sp>
      <p:sp>
        <p:nvSpPr>
          <p:cNvPr id="24" name="Text 21"/>
          <p:cNvSpPr/>
          <p:nvPr/>
        </p:nvSpPr>
        <p:spPr>
          <a:xfrm>
            <a:off x="6902291" y="4679454"/>
            <a:ext cx="142994" cy="676037"/>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46AFE8"/>
                </a:solidFill>
                <a:latin typeface="Arial" pitchFamily="34" charset="0"/>
                <a:ea typeface="Arial" pitchFamily="34" charset="-122"/>
                <a:cs typeface="Arial" pitchFamily="34" charset="-120"/>
              </a:rPr>
              <a:t>·</a:t>
            </a:r>
            <a:endParaRPr lang="en-US" sz="1875" dirty="0"/>
          </a:p>
        </p:txBody>
      </p:sp>
      <p:sp>
        <p:nvSpPr>
          <p:cNvPr id="25" name="Text 22"/>
          <p:cNvSpPr/>
          <p:nvPr/>
        </p:nvSpPr>
        <p:spPr>
          <a:xfrm>
            <a:off x="7092850" y="4702314"/>
            <a:ext cx="4279817" cy="619958"/>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FFFFFF">
                    <a:alpha val="92000"/>
                  </a:srgbClr>
                </a:solidFill>
                <a:latin typeface="Arial" pitchFamily="34" charset="0"/>
                <a:ea typeface="Arial" pitchFamily="34" charset="-122"/>
                <a:cs typeface="Arial" pitchFamily="34" charset="-120"/>
              </a:rPr>
              <a:t>Signe le contrat de travail (CDI ou CDD 3 ans)</a:t>
            </a:r>
            <a:endParaRPr lang="en-US" sz="1875" dirty="0"/>
          </a:p>
        </p:txBody>
      </p:sp>
      <p:sp>
        <p:nvSpPr>
          <p:cNvPr id="26" name="Text 23"/>
          <p:cNvSpPr/>
          <p:nvPr/>
        </p:nvSpPr>
        <p:spPr>
          <a:xfrm>
            <a:off x="6902291" y="5488841"/>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46AFE8"/>
                </a:solidFill>
                <a:latin typeface="Arial" pitchFamily="34" charset="0"/>
                <a:ea typeface="Arial" pitchFamily="34" charset="-122"/>
                <a:cs typeface="Arial" pitchFamily="34" charset="-120"/>
              </a:rPr>
              <a:t>·</a:t>
            </a:r>
            <a:endParaRPr lang="en-US" sz="1875" dirty="0"/>
          </a:p>
        </p:txBody>
      </p:sp>
      <p:sp>
        <p:nvSpPr>
          <p:cNvPr id="27" name="Text 24"/>
          <p:cNvSpPr/>
          <p:nvPr/>
        </p:nvSpPr>
        <p:spPr>
          <a:xfrm>
            <a:off x="7092850" y="5511701"/>
            <a:ext cx="4177539" cy="300990"/>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FFFFFF">
                    <a:alpha val="92000"/>
                  </a:srgbClr>
                </a:solidFill>
                <a:latin typeface="Arial" pitchFamily="34" charset="0"/>
                <a:ea typeface="Arial" pitchFamily="34" charset="-122"/>
                <a:cs typeface="Arial" pitchFamily="34" charset="-120"/>
              </a:rPr>
              <a:t>Reçoit une subvention directe de l'État</a:t>
            </a:r>
            <a:endParaRPr lang="en-US" sz="1875" dirty="0"/>
          </a:p>
        </p:txBody>
      </p:sp>
      <p:sp>
        <p:nvSpPr>
          <p:cNvPr id="28" name="Text 25"/>
          <p:cNvSpPr/>
          <p:nvPr/>
        </p:nvSpPr>
        <p:spPr>
          <a:xfrm>
            <a:off x="6902291" y="5979259"/>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46AFE8"/>
                </a:solidFill>
                <a:latin typeface="Arial" pitchFamily="34" charset="0"/>
                <a:ea typeface="Arial" pitchFamily="34" charset="-122"/>
                <a:cs typeface="Arial" pitchFamily="34" charset="-120"/>
              </a:rPr>
              <a:t>·</a:t>
            </a:r>
            <a:endParaRPr lang="en-US" sz="1875" dirty="0"/>
          </a:p>
        </p:txBody>
      </p:sp>
      <p:sp>
        <p:nvSpPr>
          <p:cNvPr id="29" name="Text 26"/>
          <p:cNvSpPr/>
          <p:nvPr/>
        </p:nvSpPr>
        <p:spPr>
          <a:xfrm>
            <a:off x="7092850" y="6002119"/>
            <a:ext cx="3966915" cy="300990"/>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FFFFFF">
                    <a:alpha val="92000"/>
                  </a:srgbClr>
                </a:solidFill>
                <a:latin typeface="Arial" pitchFamily="34" charset="0"/>
                <a:ea typeface="Arial" pitchFamily="34" charset="-122"/>
                <a:cs typeface="Arial" pitchFamily="34" charset="-120"/>
              </a:rPr>
              <a:t>Bénéficie des résultats de recherche</a:t>
            </a:r>
            <a:endParaRPr lang="en-US" sz="1875" dirty="0"/>
          </a:p>
        </p:txBody>
      </p:sp>
      <p:sp>
        <p:nvSpPr>
          <p:cNvPr id="30" name="Text 27"/>
          <p:cNvSpPr/>
          <p:nvPr/>
        </p:nvSpPr>
        <p:spPr>
          <a:xfrm>
            <a:off x="6902291" y="6469678"/>
            <a:ext cx="142994" cy="676037"/>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46AFE8"/>
                </a:solidFill>
                <a:latin typeface="Arial" pitchFamily="34" charset="0"/>
                <a:ea typeface="Arial" pitchFamily="34" charset="-122"/>
                <a:cs typeface="Arial" pitchFamily="34" charset="-120"/>
              </a:rPr>
              <a:t>·</a:t>
            </a:r>
            <a:endParaRPr lang="en-US" sz="1875" dirty="0"/>
          </a:p>
        </p:txBody>
      </p:sp>
      <p:sp>
        <p:nvSpPr>
          <p:cNvPr id="31" name="Text 28"/>
          <p:cNvSpPr/>
          <p:nvPr/>
        </p:nvSpPr>
        <p:spPr>
          <a:xfrm>
            <a:off x="7092850" y="6492537"/>
            <a:ext cx="3639298" cy="619959"/>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FFFFFF">
                    <a:alpha val="92000"/>
                  </a:srgbClr>
                </a:solidFill>
                <a:latin typeface="Arial" pitchFamily="34" charset="0"/>
                <a:ea typeface="Arial" pitchFamily="34" charset="-122"/>
                <a:cs typeface="Arial" pitchFamily="34" charset="-120"/>
              </a:rPr>
              <a:t>Déclare le salaire au Crédit Impôt Recherche</a:t>
            </a:r>
            <a:endParaRPr lang="en-US" sz="1875" dirty="0"/>
          </a:p>
        </p:txBody>
      </p:sp>
      <p:sp>
        <p:nvSpPr>
          <p:cNvPr id="32" name="Shape 29"/>
          <p:cNvSpPr/>
          <p:nvPr/>
        </p:nvSpPr>
        <p:spPr>
          <a:xfrm>
            <a:off x="12014000" y="3302557"/>
            <a:ext cx="5245298" cy="4775239"/>
          </a:xfrm>
          <a:prstGeom prst="roundRect">
            <a:avLst>
              <a:gd name="adj" fmla="val 6782"/>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33" name="Shape 30"/>
          <p:cNvSpPr/>
          <p:nvPr/>
        </p:nvSpPr>
        <p:spPr>
          <a:xfrm>
            <a:off x="12406372" y="3788332"/>
            <a:ext cx="590431" cy="590431"/>
          </a:xfrm>
          <a:prstGeom prst="roundRect">
            <a:avLst>
              <a:gd name="adj" fmla="val 29038"/>
            </a:avLst>
          </a:prstGeom>
          <a:solidFill>
            <a:srgbClr val="E1EBF7"/>
          </a:solidFill>
          <a:ln/>
        </p:spPr>
      </p:sp>
      <p:sp>
        <p:nvSpPr>
          <p:cNvPr id="34" name="Text 31"/>
          <p:cNvSpPr/>
          <p:nvPr/>
        </p:nvSpPr>
        <p:spPr>
          <a:xfrm>
            <a:off x="12368272" y="3788332"/>
            <a:ext cx="666631" cy="628531"/>
          </a:xfrm>
          <a:prstGeom prst="rect">
            <a:avLst/>
          </a:prstGeom>
          <a:noFill/>
          <a:ln/>
        </p:spPr>
        <p:txBody>
          <a:bodyPr wrap="square" lIns="25400" tIns="25400" rIns="25400" bIns="25400" rtlCol="0" anchor="ctr">
            <a:normAutofit/>
          </a:bodyPr>
          <a:lstStyle/>
          <a:p>
            <a:pPr algn="ctr" indent="0" marL="0">
              <a:buNone/>
            </a:pPr>
            <a:r>
              <a:rPr lang="en-US" sz="2250" b="1" dirty="0">
                <a:solidFill>
                  <a:srgbClr val="143A77"/>
                </a:solidFill>
                <a:latin typeface="Arial" pitchFamily="34" charset="0"/>
                <a:ea typeface="Arial" pitchFamily="34" charset="-122"/>
                <a:cs typeface="Arial" pitchFamily="34" charset="-120"/>
              </a:rPr>
              <a:t>L</a:t>
            </a:r>
            <a:endParaRPr lang="en-US" sz="2250" dirty="0"/>
          </a:p>
        </p:txBody>
      </p:sp>
      <p:sp>
        <p:nvSpPr>
          <p:cNvPr id="35" name="Text 32"/>
          <p:cNvSpPr/>
          <p:nvPr/>
        </p:nvSpPr>
        <p:spPr>
          <a:xfrm>
            <a:off x="13168252" y="3714037"/>
            <a:ext cx="2141458" cy="400110"/>
          </a:xfrm>
          <a:prstGeom prst="rect">
            <a:avLst/>
          </a:prstGeom>
          <a:noFill/>
          <a:ln/>
        </p:spPr>
        <p:txBody>
          <a:bodyPr wrap="square" lIns="25400" tIns="25400" rIns="25400" bIns="25400" rtlCol="0" anchor="t">
            <a:normAutofit/>
          </a:bodyPr>
          <a:lstStyle/>
          <a:p>
            <a:pPr algn="l" indent="0" marL="0">
              <a:lnSpc>
                <a:spcPct val="100000"/>
              </a:lnSpc>
              <a:buNone/>
            </a:pPr>
            <a:r>
              <a:rPr lang="en-US" sz="2850" b="1" dirty="0">
                <a:solidFill>
                  <a:srgbClr val="0F1E3D"/>
                </a:solidFill>
                <a:latin typeface="Arial" pitchFamily="34" charset="0"/>
                <a:ea typeface="Arial" pitchFamily="34" charset="-122"/>
                <a:cs typeface="Arial" pitchFamily="34" charset="-120"/>
              </a:rPr>
              <a:t>Laboratoire</a:t>
            </a:r>
            <a:endParaRPr lang="en-US" sz="2850" dirty="0"/>
          </a:p>
        </p:txBody>
      </p:sp>
      <p:sp>
        <p:nvSpPr>
          <p:cNvPr id="36" name="Text 33"/>
          <p:cNvSpPr/>
          <p:nvPr/>
        </p:nvSpPr>
        <p:spPr>
          <a:xfrm>
            <a:off x="13168252" y="4133197"/>
            <a:ext cx="2141458" cy="358140"/>
          </a:xfrm>
          <a:prstGeom prst="rect">
            <a:avLst/>
          </a:prstGeom>
          <a:noFill/>
          <a:ln/>
        </p:spPr>
        <p:txBody>
          <a:bodyPr wrap="square" lIns="25400" tIns="25400" rIns="25400" bIns="25400" rtlCol="0" anchor="t">
            <a:normAutofit/>
          </a:bodyPr>
          <a:lstStyle/>
          <a:p>
            <a:pPr algn="l" indent="0" marL="0">
              <a:buNone/>
            </a:pPr>
            <a:r>
              <a:rPr lang="en-US" sz="1875" b="1" dirty="0">
                <a:solidFill>
                  <a:srgbClr val="2A96D6"/>
                </a:solidFill>
                <a:latin typeface="Arial" pitchFamily="34" charset="0"/>
                <a:ea typeface="Arial" pitchFamily="34" charset="-122"/>
                <a:cs typeface="Arial" pitchFamily="34" charset="-120"/>
              </a:rPr>
              <a:t>Académique</a:t>
            </a:r>
            <a:endParaRPr lang="en-US" sz="1875" dirty="0"/>
          </a:p>
        </p:txBody>
      </p:sp>
      <p:sp>
        <p:nvSpPr>
          <p:cNvPr id="37" name="Text 34"/>
          <p:cNvSpPr/>
          <p:nvPr/>
        </p:nvSpPr>
        <p:spPr>
          <a:xfrm>
            <a:off x="12406372" y="4700767"/>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38" name="Text 35"/>
          <p:cNvSpPr/>
          <p:nvPr/>
        </p:nvSpPr>
        <p:spPr>
          <a:xfrm>
            <a:off x="12596931" y="4723628"/>
            <a:ext cx="3135454" cy="300990"/>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Fournit un directeur de thèse</a:t>
            </a:r>
            <a:endParaRPr lang="en-US" sz="1875" dirty="0"/>
          </a:p>
        </p:txBody>
      </p:sp>
      <p:sp>
        <p:nvSpPr>
          <p:cNvPr id="39" name="Text 36"/>
          <p:cNvSpPr/>
          <p:nvPr/>
        </p:nvSpPr>
        <p:spPr>
          <a:xfrm>
            <a:off x="12406372" y="5191186"/>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40" name="Text 37"/>
          <p:cNvSpPr/>
          <p:nvPr/>
        </p:nvSpPr>
        <p:spPr>
          <a:xfrm>
            <a:off x="12596931" y="5214046"/>
            <a:ext cx="3659164" cy="300990"/>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Assure l'encadrement scientifique</a:t>
            </a:r>
            <a:endParaRPr lang="en-US" sz="1875" dirty="0"/>
          </a:p>
        </p:txBody>
      </p:sp>
      <p:sp>
        <p:nvSpPr>
          <p:cNvPr id="41" name="Text 38"/>
          <p:cNvSpPr/>
          <p:nvPr/>
        </p:nvSpPr>
        <p:spPr>
          <a:xfrm>
            <a:off x="12406372" y="5681604"/>
            <a:ext cx="142994" cy="35706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42" name="Text 39"/>
          <p:cNvSpPr/>
          <p:nvPr/>
        </p:nvSpPr>
        <p:spPr>
          <a:xfrm>
            <a:off x="12596931" y="5704465"/>
            <a:ext cx="3686389" cy="300989"/>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M'inscrit dans son école doctorale</a:t>
            </a:r>
            <a:endParaRPr lang="en-US" sz="1875" dirty="0"/>
          </a:p>
        </p:txBody>
      </p:sp>
      <p:sp>
        <p:nvSpPr>
          <p:cNvPr id="43" name="Text 40"/>
          <p:cNvSpPr/>
          <p:nvPr/>
        </p:nvSpPr>
        <p:spPr>
          <a:xfrm>
            <a:off x="12406372" y="6172023"/>
            <a:ext cx="142994" cy="676037"/>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44" name="Text 41"/>
          <p:cNvSpPr/>
          <p:nvPr/>
        </p:nvSpPr>
        <p:spPr>
          <a:xfrm>
            <a:off x="12596931" y="6194882"/>
            <a:ext cx="3580985" cy="619959"/>
          </a:xfrm>
          <a:prstGeom prst="rect">
            <a:avLst/>
          </a:prstGeom>
          <a:noFill/>
          <a:ln/>
        </p:spPr>
        <p:txBody>
          <a:bodyPr wrap="square" lIns="0" tIns="0" rIns="0" bIns="0" rtlCol="0" anchor="t">
            <a:normAutofit/>
          </a:bodyPr>
          <a:lstStyle/>
          <a:p>
            <a:pPr algn="l" indent="0" marL="0">
              <a:lnSpc>
                <a:spcPct val="134000"/>
              </a:lnSpc>
              <a:buNone/>
            </a:pPr>
            <a:r>
              <a:rPr lang="en-US" sz="1875" dirty="0">
                <a:solidFill>
                  <a:srgbClr val="0F1E3D"/>
                </a:solidFill>
                <a:latin typeface="Arial" pitchFamily="34" charset="0"/>
                <a:ea typeface="Arial" pitchFamily="34" charset="-122"/>
                <a:cs typeface="Arial" pitchFamily="34" charset="-120"/>
              </a:rPr>
              <a:t>Valide la qualité académique des travaux</a:t>
            </a:r>
            <a:endParaRPr lang="en-US" sz="1875" dirty="0"/>
          </a:p>
        </p:txBody>
      </p:sp>
      <p:sp>
        <p:nvSpPr>
          <p:cNvPr id="45" name="Shape 42"/>
          <p:cNvSpPr/>
          <p:nvPr/>
        </p:nvSpPr>
        <p:spPr>
          <a:xfrm>
            <a:off x="1028700" y="8336883"/>
            <a:ext cx="16230599" cy="1210151"/>
          </a:xfrm>
          <a:prstGeom prst="roundRect">
            <a:avLst>
              <a:gd name="adj" fmla="val 26761"/>
            </a:avLst>
          </a:prstGeom>
          <a:solidFill>
            <a:srgbClr val="EDF3FA"/>
          </a:solidFill>
          <a:ln w="11430">
            <a:solidFill>
              <a:srgbClr val="0B2350">
                <a:alpha val="14000"/>
              </a:srgbClr>
            </a:solidFill>
            <a:prstDash val="solid"/>
          </a:ln>
          <a:effectLst>
            <a:outerShdw sx="100000" sy="100000" kx="0" ky="0" algn="bl" rotWithShape="0" blurRad="419100" dist="171450" dir="5400000">
              <a:srgbClr val="00204F">
                <a:alpha val="40000"/>
              </a:srgbClr>
            </a:outerShdw>
          </a:effectLst>
        </p:spPr>
      </p:sp>
      <p:sp>
        <p:nvSpPr>
          <p:cNvPr id="46" name="Shape 43"/>
          <p:cNvSpPr/>
          <p:nvPr/>
        </p:nvSpPr>
        <p:spPr>
          <a:xfrm>
            <a:off x="1401961" y="8684783"/>
            <a:ext cx="514350" cy="514350"/>
          </a:xfrm>
          <a:prstGeom prst="ellipse">
            <a:avLst/>
          </a:prstGeom>
          <a:solidFill>
            <a:srgbClr val="46AFE8"/>
          </a:solidFill>
          <a:ln/>
        </p:spPr>
      </p:sp>
      <p:sp>
        <p:nvSpPr>
          <p:cNvPr id="47" name="Text 44"/>
          <p:cNvSpPr/>
          <p:nvPr/>
        </p:nvSpPr>
        <p:spPr>
          <a:xfrm>
            <a:off x="1363861" y="8684783"/>
            <a:ext cx="590550" cy="55245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48" name="Text 45"/>
          <p:cNvSpPr/>
          <p:nvPr/>
        </p:nvSpPr>
        <p:spPr>
          <a:xfrm>
            <a:off x="2144911" y="8614953"/>
            <a:ext cx="15183361" cy="692110"/>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0F1E3D"/>
                </a:solidFill>
                <a:latin typeface="Arial" pitchFamily="34" charset="0"/>
                <a:ea typeface="Arial" pitchFamily="34" charset="-122"/>
                <a:cs typeface="Arial" pitchFamily="34" charset="-120"/>
              </a:rPr>
              <a:t>Les trois parties signent ensemble une </a:t>
            </a:r>
            <a:pPr algn="l" indent="0" marL="0">
              <a:lnSpc>
                <a:spcPct val="135000"/>
              </a:lnSpc>
              <a:buNone/>
            </a:pPr>
            <a:r>
              <a:rPr lang="en-US" sz="1875" b="1" dirty="0">
                <a:solidFill>
                  <a:srgbClr val="143A77"/>
                </a:solidFill>
                <a:latin typeface="Arial" pitchFamily="34" charset="0"/>
                <a:ea typeface="Arial" pitchFamily="34" charset="-122"/>
                <a:cs typeface="Arial" pitchFamily="34" charset="-120"/>
              </a:rPr>
              <a:t>Convention CIFRE</a:t>
            </a:r>
            <a:pPr algn="l" indent="0" marL="0">
              <a:lnSpc>
                <a:spcPct val="135000"/>
              </a:lnSpc>
              <a:buNone/>
            </a:pPr>
            <a:r>
              <a:rPr lang="en-US" sz="1875" dirty="0">
                <a:solidFill>
                  <a:srgbClr val="0F1E3D"/>
                </a:solidFill>
                <a:latin typeface="Arial" pitchFamily="34" charset="0"/>
                <a:ea typeface="Arial" pitchFamily="34" charset="-122"/>
                <a:cs typeface="Arial" pitchFamily="34" charset="-120"/>
              </a:rPr>
              <a:t>. C'est ce contrat tripartite — soumis à l'</a:t>
            </a:r>
            <a:pPr algn="l" indent="0" marL="0">
              <a:lnSpc>
                <a:spcPct val="135000"/>
              </a:lnSpc>
              <a:buNone/>
            </a:pPr>
            <a:r>
              <a:rPr lang="en-US" sz="1875" b="1" dirty="0">
                <a:solidFill>
                  <a:srgbClr val="143A77"/>
                </a:solidFill>
                <a:latin typeface="Arial" pitchFamily="34" charset="0"/>
                <a:ea typeface="Arial" pitchFamily="34" charset="-122"/>
                <a:cs typeface="Arial" pitchFamily="34" charset="-120"/>
              </a:rPr>
              <a:t>ANRT </a:t>
            </a:r>
            <a:pPr algn="l" indent="0" marL="0">
              <a:lnSpc>
                <a:spcPct val="135000"/>
              </a:lnSpc>
              <a:buNone/>
            </a:pPr>
            <a:r>
              <a:rPr lang="en-US" sz="1875" dirty="0">
                <a:solidFill>
                  <a:srgbClr val="0F1E3D"/>
                </a:solidFill>
                <a:latin typeface="Arial" pitchFamily="34" charset="0"/>
                <a:ea typeface="Arial" pitchFamily="34" charset="-122"/>
                <a:cs typeface="Arial" pitchFamily="34" charset="-120"/>
              </a:rPr>
              <a:t>— qui déclenche le financement de l'État.</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14668619" y="-1904881"/>
            <a:ext cx="5333881" cy="5333881"/>
          </a:xfrm>
          <a:prstGeom prst="ellipse">
            <a:avLst/>
          </a:prstGeom>
          <a:ln w="11430">
            <a:solidFill>
              <a:srgbClr val="46AFE8">
                <a:alpha val="20000"/>
              </a:srgbClr>
            </a:solidFill>
            <a:prstDash val="solid"/>
          </a:ln>
        </p:spPr>
      </p:sp>
      <p:sp>
        <p:nvSpPr>
          <p:cNvPr id="3" name="Shape 1"/>
          <p:cNvSpPr/>
          <p:nvPr/>
        </p:nvSpPr>
        <p:spPr>
          <a:xfrm>
            <a:off x="13334880" y="-3143250"/>
            <a:ext cx="8000999" cy="8000999"/>
          </a:xfrm>
          <a:prstGeom prst="ellipse">
            <a:avLst/>
          </a:prstGeom>
          <a:ln w="11430">
            <a:solidFill>
              <a:srgbClr val="9FD4F1">
                <a:alpha val="13000"/>
              </a:srgbClr>
            </a:solidFill>
            <a:prstDash val="solid"/>
          </a:ln>
        </p:spPr>
      </p:sp>
      <p:sp>
        <p:nvSpPr>
          <p:cNvPr id="4" name="Shape 2"/>
          <p:cNvSpPr/>
          <p:nvPr/>
        </p:nvSpPr>
        <p:spPr>
          <a:xfrm>
            <a:off x="1028700" y="911457"/>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5" name="Text 3"/>
          <p:cNvSpPr/>
          <p:nvPr/>
        </p:nvSpPr>
        <p:spPr>
          <a:xfrm>
            <a:off x="1304806" y="819124"/>
            <a:ext cx="3712878"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6AFE8"/>
                </a:solidFill>
                <a:latin typeface="Arial" pitchFamily="34" charset="0"/>
                <a:ea typeface="Arial" pitchFamily="34" charset="-122"/>
                <a:cs typeface="Arial" pitchFamily="34" charset="-120"/>
              </a:rPr>
              <a:t>02 — LA VALEUR POUR LBP</a:t>
            </a:r>
            <a:endParaRPr lang="en-US" sz="1800" dirty="0"/>
          </a:p>
        </p:txBody>
      </p:sp>
      <p:sp>
        <p:nvSpPr>
          <p:cNvPr id="6" name="Text 4"/>
          <p:cNvSpPr/>
          <p:nvPr/>
        </p:nvSpPr>
        <p:spPr>
          <a:xfrm>
            <a:off x="1028700" y="1299814"/>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FFFFFF"/>
                </a:solidFill>
                <a:latin typeface="Arial" pitchFamily="34" charset="0"/>
                <a:ea typeface="Arial" pitchFamily="34" charset="-122"/>
                <a:cs typeface="Arial" pitchFamily="34" charset="-120"/>
              </a:rPr>
              <a:t>Ce que La Banque Postale y gagne</a:t>
            </a:r>
            <a:endParaRPr lang="en-US" sz="4350" dirty="0"/>
          </a:p>
        </p:txBody>
      </p:sp>
      <p:sp>
        <p:nvSpPr>
          <p:cNvPr id="7" name="Shape 5"/>
          <p:cNvSpPr/>
          <p:nvPr/>
        </p:nvSpPr>
        <p:spPr>
          <a:xfrm>
            <a:off x="1028700" y="2293868"/>
            <a:ext cx="3886200" cy="2841605"/>
          </a:xfrm>
          <a:prstGeom prst="roundRect">
            <a:avLst>
              <a:gd name="adj" fmla="val 11397"/>
            </a:avLst>
          </a:prstGeom>
          <a:solidFill>
            <a:srgbClr val="FFFFFF">
              <a:alpha val="5000"/>
            </a:srgbClr>
          </a:solidFill>
          <a:ln w="11430">
            <a:solidFill>
              <a:srgbClr val="FFFFFF">
                <a:alpha val="13000"/>
              </a:srgbClr>
            </a:solidFill>
            <a:prstDash val="solid"/>
          </a:ln>
        </p:spPr>
      </p:sp>
      <p:sp>
        <p:nvSpPr>
          <p:cNvPr id="8" name="Text 6"/>
          <p:cNvSpPr/>
          <p:nvPr/>
        </p:nvSpPr>
        <p:spPr>
          <a:xfrm>
            <a:off x="1363920" y="2648198"/>
            <a:ext cx="3312232" cy="672465"/>
          </a:xfrm>
          <a:prstGeom prst="rect">
            <a:avLst/>
          </a:prstGeom>
          <a:noFill/>
          <a:ln/>
        </p:spPr>
        <p:txBody>
          <a:bodyPr wrap="square" lIns="25400" tIns="25400" rIns="25400" bIns="25400" rtlCol="0" anchor="t">
            <a:normAutofit/>
          </a:bodyPr>
          <a:lstStyle/>
          <a:p>
            <a:pPr algn="l" indent="0" marL="0">
              <a:lnSpc>
                <a:spcPct val="90000"/>
              </a:lnSpc>
              <a:buNone/>
            </a:pPr>
            <a:r>
              <a:rPr lang="en-US" sz="5550" b="1" spc="-166" kern="0" dirty="0">
                <a:solidFill>
                  <a:srgbClr val="46AFE8"/>
                </a:solidFill>
                <a:latin typeface="Arial" pitchFamily="34" charset="0"/>
                <a:ea typeface="Arial" pitchFamily="34" charset="-122"/>
                <a:cs typeface="Arial" pitchFamily="34" charset="-120"/>
              </a:rPr>
              <a:t>14 000</a:t>
            </a:r>
            <a:pPr algn="l" indent="0" marL="0">
              <a:lnSpc>
                <a:spcPct val="90000"/>
              </a:lnSpc>
              <a:buNone/>
            </a:pPr>
            <a:r>
              <a:rPr lang="en-US" sz="2550" b="1" spc="-166" kern="0" dirty="0">
                <a:solidFill>
                  <a:srgbClr val="46AFE8"/>
                </a:solidFill>
                <a:latin typeface="Arial" pitchFamily="34" charset="0"/>
                <a:ea typeface="Arial" pitchFamily="34" charset="-122"/>
                <a:cs typeface="Arial" pitchFamily="34" charset="-120"/>
              </a:rPr>
              <a:t>€</a:t>
            </a:r>
            <a:endParaRPr lang="en-US" sz="5550" dirty="0"/>
          </a:p>
        </p:txBody>
      </p:sp>
      <p:sp>
        <p:nvSpPr>
          <p:cNvPr id="9" name="Text 7"/>
          <p:cNvSpPr/>
          <p:nvPr/>
        </p:nvSpPr>
        <p:spPr>
          <a:xfrm>
            <a:off x="1363920" y="3377753"/>
            <a:ext cx="3312232"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46AFE8"/>
                </a:solidFill>
                <a:latin typeface="Arial" pitchFamily="34" charset="0"/>
                <a:ea typeface="Arial" pitchFamily="34" charset="-122"/>
                <a:cs typeface="Arial" pitchFamily="34" charset="-120"/>
              </a:rPr>
              <a:t>/ an</a:t>
            </a:r>
            <a:endParaRPr lang="en-US" sz="1800" dirty="0"/>
          </a:p>
        </p:txBody>
      </p:sp>
      <p:sp>
        <p:nvSpPr>
          <p:cNvPr id="10" name="Text 8"/>
          <p:cNvSpPr/>
          <p:nvPr/>
        </p:nvSpPr>
        <p:spPr>
          <a:xfrm>
            <a:off x="1363920" y="3838703"/>
            <a:ext cx="3312232" cy="666393"/>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FFFFFF">
                    <a:alpha val="74000"/>
                  </a:srgbClr>
                </a:solidFill>
                <a:latin typeface="Arial" pitchFamily="34" charset="0"/>
                <a:ea typeface="Arial" pitchFamily="34" charset="-122"/>
                <a:cs typeface="Arial" pitchFamily="34" charset="-120"/>
              </a:rPr>
              <a:t>Subvention versée directement à LBP par l'ANRT</a:t>
            </a:r>
            <a:endParaRPr lang="en-US" sz="1875" dirty="0"/>
          </a:p>
        </p:txBody>
      </p:sp>
      <p:sp>
        <p:nvSpPr>
          <p:cNvPr id="11" name="Shape 9"/>
          <p:cNvSpPr/>
          <p:nvPr/>
        </p:nvSpPr>
        <p:spPr>
          <a:xfrm>
            <a:off x="5143499" y="2293152"/>
            <a:ext cx="3886200" cy="2841605"/>
          </a:xfrm>
          <a:prstGeom prst="roundRect">
            <a:avLst>
              <a:gd name="adj" fmla="val 11397"/>
            </a:avLst>
          </a:prstGeom>
          <a:solidFill>
            <a:srgbClr val="FFFFFF">
              <a:alpha val="5000"/>
            </a:srgbClr>
          </a:solidFill>
          <a:ln w="11430">
            <a:solidFill>
              <a:srgbClr val="FFFFFF">
                <a:alpha val="13000"/>
              </a:srgbClr>
            </a:solidFill>
            <a:prstDash val="solid"/>
          </a:ln>
        </p:spPr>
      </p:sp>
      <p:sp>
        <p:nvSpPr>
          <p:cNvPr id="12" name="Text 10"/>
          <p:cNvSpPr/>
          <p:nvPr/>
        </p:nvSpPr>
        <p:spPr>
          <a:xfrm>
            <a:off x="5478720" y="2647482"/>
            <a:ext cx="3312232" cy="672465"/>
          </a:xfrm>
          <a:prstGeom prst="rect">
            <a:avLst/>
          </a:prstGeom>
          <a:noFill/>
          <a:ln/>
        </p:spPr>
        <p:txBody>
          <a:bodyPr wrap="square" lIns="25400" tIns="25400" rIns="25400" bIns="25400" rtlCol="0" anchor="t">
            <a:normAutofit/>
          </a:bodyPr>
          <a:lstStyle/>
          <a:p>
            <a:pPr algn="l" indent="0" marL="0">
              <a:lnSpc>
                <a:spcPct val="90000"/>
              </a:lnSpc>
              <a:buNone/>
            </a:pPr>
            <a:r>
              <a:rPr lang="en-US" sz="5550" b="1" spc="-166" kern="0" dirty="0">
                <a:solidFill>
                  <a:srgbClr val="46AFE8"/>
                </a:solidFill>
                <a:latin typeface="Arial" pitchFamily="34" charset="0"/>
                <a:ea typeface="Arial" pitchFamily="34" charset="-122"/>
                <a:cs typeface="Arial" pitchFamily="34" charset="-120"/>
              </a:rPr>
              <a:t>42 000</a:t>
            </a:r>
            <a:pPr algn="l" indent="0" marL="0">
              <a:lnSpc>
                <a:spcPct val="90000"/>
              </a:lnSpc>
              <a:buNone/>
            </a:pPr>
            <a:r>
              <a:rPr lang="en-US" sz="2550" b="1" spc="-166" kern="0" dirty="0">
                <a:solidFill>
                  <a:srgbClr val="46AFE8"/>
                </a:solidFill>
                <a:latin typeface="Arial" pitchFamily="34" charset="0"/>
                <a:ea typeface="Arial" pitchFamily="34" charset="-122"/>
                <a:cs typeface="Arial" pitchFamily="34" charset="-120"/>
              </a:rPr>
              <a:t>€</a:t>
            </a:r>
            <a:endParaRPr lang="en-US" sz="5550" dirty="0"/>
          </a:p>
        </p:txBody>
      </p:sp>
      <p:sp>
        <p:nvSpPr>
          <p:cNvPr id="13" name="Text 11"/>
          <p:cNvSpPr/>
          <p:nvPr/>
        </p:nvSpPr>
        <p:spPr>
          <a:xfrm>
            <a:off x="5478720" y="3377038"/>
            <a:ext cx="3312232"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46AFE8"/>
                </a:solidFill>
                <a:latin typeface="Arial" pitchFamily="34" charset="0"/>
                <a:ea typeface="Arial" pitchFamily="34" charset="-122"/>
                <a:cs typeface="Arial" pitchFamily="34" charset="-120"/>
              </a:rPr>
              <a:t>total</a:t>
            </a:r>
            <a:endParaRPr lang="en-US" sz="1800" dirty="0"/>
          </a:p>
        </p:txBody>
      </p:sp>
      <p:sp>
        <p:nvSpPr>
          <p:cNvPr id="14" name="Text 12"/>
          <p:cNvSpPr/>
          <p:nvPr/>
        </p:nvSpPr>
        <p:spPr>
          <a:xfrm>
            <a:off x="5478720" y="3837988"/>
            <a:ext cx="3312232" cy="666393"/>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FFFFFF">
                    <a:alpha val="74000"/>
                  </a:srgbClr>
                </a:solidFill>
                <a:latin typeface="Arial" pitchFamily="34" charset="0"/>
                <a:ea typeface="Arial" pitchFamily="34" charset="-122"/>
                <a:cs typeface="Arial" pitchFamily="34" charset="-120"/>
              </a:rPr>
              <a:t>Sur 3 ans — financement direct par l'État</a:t>
            </a:r>
            <a:endParaRPr lang="en-US" sz="1875" dirty="0"/>
          </a:p>
        </p:txBody>
      </p:sp>
      <p:sp>
        <p:nvSpPr>
          <p:cNvPr id="15" name="Shape 13"/>
          <p:cNvSpPr/>
          <p:nvPr/>
        </p:nvSpPr>
        <p:spPr>
          <a:xfrm>
            <a:off x="9258299" y="2304373"/>
            <a:ext cx="3886200" cy="2841605"/>
          </a:xfrm>
          <a:prstGeom prst="roundRect">
            <a:avLst>
              <a:gd name="adj" fmla="val 11397"/>
            </a:avLst>
          </a:prstGeom>
          <a:solidFill>
            <a:srgbClr val="FFFFFF">
              <a:alpha val="5000"/>
            </a:srgbClr>
          </a:solidFill>
          <a:ln w="11430">
            <a:solidFill>
              <a:srgbClr val="FFFFFF">
                <a:alpha val="13000"/>
              </a:srgbClr>
            </a:solidFill>
            <a:prstDash val="solid"/>
          </a:ln>
        </p:spPr>
      </p:sp>
      <p:sp>
        <p:nvSpPr>
          <p:cNvPr id="16" name="Text 14"/>
          <p:cNvSpPr/>
          <p:nvPr/>
        </p:nvSpPr>
        <p:spPr>
          <a:xfrm>
            <a:off x="9593520" y="2658703"/>
            <a:ext cx="3312232" cy="672465"/>
          </a:xfrm>
          <a:prstGeom prst="rect">
            <a:avLst/>
          </a:prstGeom>
          <a:noFill/>
          <a:ln/>
        </p:spPr>
        <p:txBody>
          <a:bodyPr wrap="square" lIns="25400" tIns="25400" rIns="25400" bIns="25400" rtlCol="0" anchor="t">
            <a:normAutofit/>
          </a:bodyPr>
          <a:lstStyle/>
          <a:p>
            <a:pPr algn="l" indent="0" marL="0">
              <a:lnSpc>
                <a:spcPct val="90000"/>
              </a:lnSpc>
              <a:buNone/>
            </a:pPr>
            <a:r>
              <a:rPr lang="en-US" sz="5550" b="1" spc="-166" kern="0" dirty="0">
                <a:solidFill>
                  <a:srgbClr val="46AFE8"/>
                </a:solidFill>
                <a:latin typeface="Arial" pitchFamily="34" charset="0"/>
                <a:ea typeface="Arial" pitchFamily="34" charset="-122"/>
                <a:cs typeface="Arial" pitchFamily="34" charset="-120"/>
              </a:rPr>
              <a:t>~60</a:t>
            </a:r>
            <a:pPr algn="l" indent="0" marL="0">
              <a:lnSpc>
                <a:spcPct val="90000"/>
              </a:lnSpc>
              <a:buNone/>
            </a:pPr>
            <a:r>
              <a:rPr lang="en-US" sz="2550" b="1" spc="-166" kern="0" dirty="0">
                <a:solidFill>
                  <a:srgbClr val="46AFE8"/>
                </a:solidFill>
                <a:latin typeface="Arial" pitchFamily="34" charset="0"/>
                <a:ea typeface="Arial" pitchFamily="34" charset="-122"/>
                <a:cs typeface="Arial" pitchFamily="34" charset="-120"/>
              </a:rPr>
              <a:t>%</a:t>
            </a:r>
            <a:endParaRPr lang="en-US" sz="5550" dirty="0"/>
          </a:p>
        </p:txBody>
      </p:sp>
      <p:sp>
        <p:nvSpPr>
          <p:cNvPr id="17" name="Text 15"/>
          <p:cNvSpPr/>
          <p:nvPr/>
        </p:nvSpPr>
        <p:spPr>
          <a:xfrm>
            <a:off x="9593520" y="3388259"/>
            <a:ext cx="3312232"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46AFE8"/>
                </a:solidFill>
                <a:latin typeface="Arial" pitchFamily="34" charset="0"/>
                <a:ea typeface="Arial" pitchFamily="34" charset="-122"/>
                <a:cs typeface="Arial" pitchFamily="34" charset="-120"/>
              </a:rPr>
              <a:t>du coût</a:t>
            </a:r>
            <a:endParaRPr lang="en-US" sz="1800" dirty="0"/>
          </a:p>
        </p:txBody>
      </p:sp>
      <p:sp>
        <p:nvSpPr>
          <p:cNvPr id="18" name="Text 16"/>
          <p:cNvSpPr/>
          <p:nvPr/>
        </p:nvSpPr>
        <p:spPr>
          <a:xfrm>
            <a:off x="9593520" y="3849209"/>
            <a:ext cx="3312232" cy="980539"/>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FFFFFF">
                    <a:alpha val="74000"/>
                  </a:srgbClr>
                </a:solidFill>
                <a:latin typeface="Arial" pitchFamily="34" charset="0"/>
                <a:ea typeface="Arial" pitchFamily="34" charset="-122"/>
                <a:cs typeface="Arial" pitchFamily="34" charset="-120"/>
              </a:rPr>
              <a:t>Couvert entre subvention ANRT et Crédit Impôt Recherche</a:t>
            </a:r>
            <a:endParaRPr lang="en-US" sz="1875" dirty="0"/>
          </a:p>
        </p:txBody>
      </p:sp>
      <p:sp>
        <p:nvSpPr>
          <p:cNvPr id="19" name="Shape 17"/>
          <p:cNvSpPr/>
          <p:nvPr/>
        </p:nvSpPr>
        <p:spPr>
          <a:xfrm>
            <a:off x="13373099" y="2317271"/>
            <a:ext cx="3886200" cy="2841605"/>
          </a:xfrm>
          <a:prstGeom prst="roundRect">
            <a:avLst>
              <a:gd name="adj" fmla="val 11397"/>
            </a:avLst>
          </a:prstGeom>
          <a:solidFill>
            <a:srgbClr val="FFFFFF">
              <a:alpha val="5000"/>
            </a:srgbClr>
          </a:solidFill>
          <a:ln w="11430">
            <a:solidFill>
              <a:srgbClr val="FFFFFF">
                <a:alpha val="13000"/>
              </a:srgbClr>
            </a:solidFill>
            <a:prstDash val="solid"/>
          </a:ln>
        </p:spPr>
      </p:sp>
      <p:sp>
        <p:nvSpPr>
          <p:cNvPr id="20" name="Text 18"/>
          <p:cNvSpPr/>
          <p:nvPr/>
        </p:nvSpPr>
        <p:spPr>
          <a:xfrm>
            <a:off x="13708319" y="2671601"/>
            <a:ext cx="3312232" cy="672465"/>
          </a:xfrm>
          <a:prstGeom prst="rect">
            <a:avLst/>
          </a:prstGeom>
          <a:noFill/>
          <a:ln/>
        </p:spPr>
        <p:txBody>
          <a:bodyPr wrap="square" lIns="25400" tIns="25400" rIns="25400" bIns="25400" rtlCol="0" anchor="t">
            <a:normAutofit/>
          </a:bodyPr>
          <a:lstStyle/>
          <a:p>
            <a:pPr algn="l" indent="0" marL="0">
              <a:lnSpc>
                <a:spcPct val="90000"/>
              </a:lnSpc>
              <a:buNone/>
            </a:pPr>
            <a:r>
              <a:rPr lang="en-US" sz="5550" b="1" spc="-166" kern="0" dirty="0">
                <a:solidFill>
                  <a:srgbClr val="46AFE8"/>
                </a:solidFill>
                <a:latin typeface="Arial" pitchFamily="34" charset="0"/>
                <a:ea typeface="Arial" pitchFamily="34" charset="-122"/>
                <a:cs typeface="Arial" pitchFamily="34" charset="-120"/>
              </a:rPr>
              <a:t>3</a:t>
            </a:r>
            <a:pPr algn="l" indent="0" marL="0">
              <a:lnSpc>
                <a:spcPct val="90000"/>
              </a:lnSpc>
              <a:buNone/>
            </a:pPr>
            <a:r>
              <a:rPr lang="en-US" sz="2550" b="1" spc="-166" kern="0" dirty="0">
                <a:solidFill>
                  <a:srgbClr val="46AFE8"/>
                </a:solidFill>
                <a:latin typeface="Arial" pitchFamily="34" charset="0"/>
                <a:ea typeface="Arial" pitchFamily="34" charset="-122"/>
                <a:cs typeface="Arial" pitchFamily="34" charset="-120"/>
              </a:rPr>
              <a:t>ans</a:t>
            </a:r>
            <a:endParaRPr lang="en-US" sz="5550" dirty="0"/>
          </a:p>
        </p:txBody>
      </p:sp>
      <p:sp>
        <p:nvSpPr>
          <p:cNvPr id="21" name="Text 19"/>
          <p:cNvSpPr/>
          <p:nvPr/>
        </p:nvSpPr>
        <p:spPr>
          <a:xfrm>
            <a:off x="13708319" y="3401157"/>
            <a:ext cx="3312232"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46AFE8"/>
                </a:solidFill>
                <a:latin typeface="Arial" pitchFamily="34" charset="0"/>
                <a:ea typeface="Arial" pitchFamily="34" charset="-122"/>
                <a:cs typeface="Arial" pitchFamily="34" charset="-120"/>
              </a:rPr>
              <a:t>de R&amp;D</a:t>
            </a:r>
            <a:endParaRPr lang="en-US" sz="1800" dirty="0"/>
          </a:p>
        </p:txBody>
      </p:sp>
      <p:sp>
        <p:nvSpPr>
          <p:cNvPr id="22" name="Text 20"/>
          <p:cNvSpPr/>
          <p:nvPr/>
        </p:nvSpPr>
        <p:spPr>
          <a:xfrm>
            <a:off x="13708319" y="3862107"/>
            <a:ext cx="3312232" cy="666393"/>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FFFFFF">
                    <a:alpha val="74000"/>
                  </a:srgbClr>
                </a:solidFill>
                <a:latin typeface="Arial" pitchFamily="34" charset="0"/>
                <a:ea typeface="Arial" pitchFamily="34" charset="-122"/>
                <a:cs typeface="Arial" pitchFamily="34" charset="-120"/>
              </a:rPr>
              <a:t>Un chercheur dédié à 100 % sur vos données réelles</a:t>
            </a:r>
            <a:endParaRPr lang="en-US" sz="1875" dirty="0"/>
          </a:p>
        </p:txBody>
      </p:sp>
      <p:sp>
        <p:nvSpPr>
          <p:cNvPr id="23" name="Shape 21"/>
          <p:cNvSpPr/>
          <p:nvPr/>
        </p:nvSpPr>
        <p:spPr>
          <a:xfrm>
            <a:off x="1028700" y="5367607"/>
            <a:ext cx="22860" cy="2646402"/>
          </a:xfrm>
          <a:prstGeom prst="rect">
            <a:avLst/>
          </a:prstGeom>
          <a:solidFill>
            <a:srgbClr val="46AFE8"/>
          </a:solidFill>
          <a:ln/>
        </p:spPr>
      </p:sp>
      <p:sp>
        <p:nvSpPr>
          <p:cNvPr id="24" name="Text 22"/>
          <p:cNvSpPr/>
          <p:nvPr/>
        </p:nvSpPr>
        <p:spPr>
          <a:xfrm>
            <a:off x="1337310" y="5653357"/>
            <a:ext cx="3390595"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Résultats utilisables</a:t>
            </a:r>
            <a:endParaRPr lang="en-US" sz="2100" dirty="0"/>
          </a:p>
        </p:txBody>
      </p:sp>
      <p:sp>
        <p:nvSpPr>
          <p:cNvPr id="25" name="Text 23"/>
          <p:cNvSpPr/>
          <p:nvPr/>
        </p:nvSpPr>
        <p:spPr>
          <a:xfrm>
            <a:off x="1337310" y="6133417"/>
            <a:ext cx="3390595" cy="1632942"/>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FFFFFF">
                    <a:alpha val="74000"/>
                  </a:srgbClr>
                </a:solidFill>
                <a:latin typeface="Arial" pitchFamily="34" charset="0"/>
                <a:ea typeface="Arial" pitchFamily="34" charset="-122"/>
                <a:cs typeface="Arial" pitchFamily="34" charset="-120"/>
              </a:rPr>
              <a:t>Les travaux portent sur les données réelles de LBP — chaque avancée est immédiatement applicable en production.</a:t>
            </a:r>
            <a:endParaRPr lang="en-US" sz="1875" dirty="0"/>
          </a:p>
        </p:txBody>
      </p:sp>
      <p:sp>
        <p:nvSpPr>
          <p:cNvPr id="26" name="Shape 24"/>
          <p:cNvSpPr/>
          <p:nvPr/>
        </p:nvSpPr>
        <p:spPr>
          <a:xfrm>
            <a:off x="5143499" y="5363358"/>
            <a:ext cx="22860" cy="2646402"/>
          </a:xfrm>
          <a:prstGeom prst="rect">
            <a:avLst/>
          </a:prstGeom>
          <a:solidFill>
            <a:srgbClr val="46AFE8"/>
          </a:solidFill>
          <a:ln/>
        </p:spPr>
      </p:sp>
      <p:sp>
        <p:nvSpPr>
          <p:cNvPr id="27" name="Text 25"/>
          <p:cNvSpPr/>
          <p:nvPr/>
        </p:nvSpPr>
        <p:spPr>
          <a:xfrm>
            <a:off x="5452110" y="5649108"/>
            <a:ext cx="3390595"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Banque innovante</a:t>
            </a:r>
            <a:endParaRPr lang="en-US" sz="2100" dirty="0"/>
          </a:p>
        </p:txBody>
      </p:sp>
      <p:sp>
        <p:nvSpPr>
          <p:cNvPr id="28" name="Text 26"/>
          <p:cNvSpPr/>
          <p:nvPr/>
        </p:nvSpPr>
        <p:spPr>
          <a:xfrm>
            <a:off x="5452110" y="6129168"/>
            <a:ext cx="3390595" cy="1313973"/>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FFFFFF">
                    <a:alpha val="74000"/>
                  </a:srgbClr>
                </a:solidFill>
                <a:latin typeface="Arial" pitchFamily="34" charset="0"/>
                <a:ea typeface="Arial" pitchFamily="34" charset="-122"/>
                <a:cs typeface="Arial" pitchFamily="34" charset="-120"/>
              </a:rPr>
              <a:t>Les publications scientifiques portent le nom de LBP — un signal fort vis-à-vis des concurrents et des régulateurs.</a:t>
            </a:r>
            <a:endParaRPr lang="en-US" sz="1875" dirty="0"/>
          </a:p>
        </p:txBody>
      </p:sp>
      <p:sp>
        <p:nvSpPr>
          <p:cNvPr id="29" name="Shape 27"/>
          <p:cNvSpPr/>
          <p:nvPr/>
        </p:nvSpPr>
        <p:spPr>
          <a:xfrm>
            <a:off x="9258299" y="5387476"/>
            <a:ext cx="22860" cy="2646402"/>
          </a:xfrm>
          <a:prstGeom prst="rect">
            <a:avLst/>
          </a:prstGeom>
          <a:solidFill>
            <a:srgbClr val="46AFE8"/>
          </a:solidFill>
          <a:ln/>
        </p:spPr>
      </p:sp>
      <p:sp>
        <p:nvSpPr>
          <p:cNvPr id="30" name="Text 28"/>
          <p:cNvSpPr/>
          <p:nvPr/>
        </p:nvSpPr>
        <p:spPr>
          <a:xfrm>
            <a:off x="9566910" y="5673226"/>
            <a:ext cx="3390595"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Lien avec l'université</a:t>
            </a:r>
            <a:endParaRPr lang="en-US" sz="2100" dirty="0"/>
          </a:p>
        </p:txBody>
      </p:sp>
      <p:sp>
        <p:nvSpPr>
          <p:cNvPr id="31" name="Text 29"/>
          <p:cNvSpPr/>
          <p:nvPr/>
        </p:nvSpPr>
        <p:spPr>
          <a:xfrm>
            <a:off x="9566910" y="6153286"/>
            <a:ext cx="3390595" cy="1313974"/>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FFFFFF">
                    <a:alpha val="74000"/>
                  </a:srgbClr>
                </a:solidFill>
                <a:latin typeface="Arial" pitchFamily="34" charset="0"/>
                <a:ea typeface="Arial" pitchFamily="34" charset="-122"/>
                <a:cs typeface="Arial" pitchFamily="34" charset="-120"/>
              </a:rPr>
              <a:t>Partenariat concret avec un laboratoire de référence — Télécom Paris, Paris-Saclay ou Sorbonne.</a:t>
            </a:r>
            <a:endParaRPr lang="en-US" sz="1875" dirty="0"/>
          </a:p>
        </p:txBody>
      </p:sp>
      <p:sp>
        <p:nvSpPr>
          <p:cNvPr id="32" name="Shape 30"/>
          <p:cNvSpPr/>
          <p:nvPr/>
        </p:nvSpPr>
        <p:spPr>
          <a:xfrm>
            <a:off x="13373099" y="5412138"/>
            <a:ext cx="22860" cy="2646402"/>
          </a:xfrm>
          <a:prstGeom prst="rect">
            <a:avLst/>
          </a:prstGeom>
          <a:solidFill>
            <a:srgbClr val="46AFE8"/>
          </a:solidFill>
          <a:ln/>
        </p:spPr>
      </p:sp>
      <p:sp>
        <p:nvSpPr>
          <p:cNvPr id="33" name="Text 31"/>
          <p:cNvSpPr/>
          <p:nvPr/>
        </p:nvSpPr>
        <p:spPr>
          <a:xfrm>
            <a:off x="13681709" y="5697888"/>
            <a:ext cx="3390595"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Profil stratégique</a:t>
            </a:r>
            <a:endParaRPr lang="en-US" sz="2100" dirty="0"/>
          </a:p>
        </p:txBody>
      </p:sp>
      <p:sp>
        <p:nvSpPr>
          <p:cNvPr id="34" name="Text 32"/>
          <p:cNvSpPr/>
          <p:nvPr/>
        </p:nvSpPr>
        <p:spPr>
          <a:xfrm>
            <a:off x="13681709" y="6177948"/>
            <a:ext cx="3390595" cy="1313974"/>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FFFFFF">
                    <a:alpha val="74000"/>
                  </a:srgbClr>
                </a:solidFill>
                <a:latin typeface="Arial" pitchFamily="34" charset="0"/>
                <a:ea typeface="Arial" pitchFamily="34" charset="-122"/>
                <a:cs typeface="Arial" pitchFamily="34" charset="-120"/>
              </a:rPr>
              <a:t>Je connais déjà les données, les outils et les équipes. Après la thèse, cette expertise reste dans la banque.</a:t>
            </a:r>
            <a:endParaRPr lang="en-US" sz="18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1028700" y="911506"/>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3" name="Text 1"/>
          <p:cNvSpPr/>
          <p:nvPr/>
        </p:nvSpPr>
        <p:spPr>
          <a:xfrm>
            <a:off x="1304806" y="819174"/>
            <a:ext cx="3170221"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2A96D6"/>
                </a:solidFill>
                <a:latin typeface="Arial" pitchFamily="34" charset="0"/>
                <a:ea typeface="Arial" pitchFamily="34" charset="-122"/>
                <a:cs typeface="Arial" pitchFamily="34" charset="-120"/>
              </a:rPr>
              <a:t>03 — ÉTAT DU MARCHÉ</a:t>
            </a:r>
            <a:endParaRPr lang="en-US" sz="1800" dirty="0"/>
          </a:p>
        </p:txBody>
      </p:sp>
      <p:sp>
        <p:nvSpPr>
          <p:cNvPr id="4" name="Text 2"/>
          <p:cNvSpPr/>
          <p:nvPr/>
        </p:nvSpPr>
        <p:spPr>
          <a:xfrm>
            <a:off x="1028700" y="1299953"/>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0F1E3D"/>
                </a:solidFill>
                <a:latin typeface="Arial" pitchFamily="34" charset="0"/>
                <a:ea typeface="Arial" pitchFamily="34" charset="-122"/>
                <a:cs typeface="Arial" pitchFamily="34" charset="-120"/>
              </a:rPr>
              <a:t>Les autres banques françaises le font déjà</a:t>
            </a:r>
            <a:endParaRPr lang="en-US" sz="4350" dirty="0"/>
          </a:p>
        </p:txBody>
      </p:sp>
      <p:sp>
        <p:nvSpPr>
          <p:cNvPr id="5" name="Text 3"/>
          <p:cNvSpPr/>
          <p:nvPr/>
        </p:nvSpPr>
        <p:spPr>
          <a:xfrm>
            <a:off x="1028700" y="2046541"/>
            <a:ext cx="13538834" cy="854988"/>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5E6E8E"/>
                </a:solidFill>
                <a:latin typeface="Arial" pitchFamily="34" charset="0"/>
                <a:ea typeface="Arial" pitchFamily="34" charset="-122"/>
                <a:cs typeface="Arial" pitchFamily="34" charset="-120"/>
              </a:rPr>
              <a:t>Des thèses CIFRE réellement déposées par des banques françaises — la concurrence est déjà dans la recherche.</a:t>
            </a:r>
            <a:endParaRPr lang="en-US" sz="2400" dirty="0"/>
          </a:p>
        </p:txBody>
      </p:sp>
      <p:sp>
        <p:nvSpPr>
          <p:cNvPr id="6" name="Shape 4"/>
          <p:cNvSpPr/>
          <p:nvPr/>
        </p:nvSpPr>
        <p:spPr>
          <a:xfrm>
            <a:off x="1028700" y="3282410"/>
            <a:ext cx="8000999" cy="3116103"/>
          </a:xfrm>
          <a:prstGeom prst="roundRect">
            <a:avLst>
              <a:gd name="adj" fmla="val 10393"/>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7" name="Shape 5"/>
          <p:cNvSpPr/>
          <p:nvPr/>
        </p:nvSpPr>
        <p:spPr>
          <a:xfrm>
            <a:off x="1383030" y="3617630"/>
            <a:ext cx="1691997" cy="480060"/>
          </a:xfrm>
          <a:prstGeom prst="roundRect">
            <a:avLst>
              <a:gd name="adj" fmla="val 50000"/>
            </a:avLst>
          </a:prstGeom>
          <a:solidFill>
            <a:srgbClr val="0B2350"/>
          </a:solidFill>
          <a:ln/>
        </p:spPr>
      </p:sp>
      <p:sp>
        <p:nvSpPr>
          <p:cNvPr id="8" name="Text 6"/>
          <p:cNvSpPr/>
          <p:nvPr/>
        </p:nvSpPr>
        <p:spPr>
          <a:xfrm>
            <a:off x="1554480" y="3703355"/>
            <a:ext cx="1425297"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BNP Paribas</a:t>
            </a:r>
            <a:endParaRPr lang="en-US" sz="1800" dirty="0"/>
          </a:p>
        </p:txBody>
      </p:sp>
      <p:sp>
        <p:nvSpPr>
          <p:cNvPr id="9" name="Text 7"/>
          <p:cNvSpPr/>
          <p:nvPr/>
        </p:nvSpPr>
        <p:spPr>
          <a:xfrm>
            <a:off x="3227368" y="3703355"/>
            <a:ext cx="2883440" cy="34671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 Télécom Paris / CREST</a:t>
            </a:r>
            <a:endParaRPr lang="en-US" sz="1800" dirty="0"/>
          </a:p>
        </p:txBody>
      </p:sp>
      <p:sp>
        <p:nvSpPr>
          <p:cNvPr id="10" name="Text 8"/>
          <p:cNvSpPr/>
          <p:nvPr/>
        </p:nvSpPr>
        <p:spPr>
          <a:xfrm>
            <a:off x="1383030" y="4230921"/>
            <a:ext cx="7511110" cy="667107"/>
          </a:xfrm>
          <a:prstGeom prst="rect">
            <a:avLst/>
          </a:prstGeom>
          <a:noFill/>
          <a:ln/>
        </p:spPr>
        <p:txBody>
          <a:bodyPr wrap="square" lIns="25400" tIns="25400" rIns="25400" bIns="25400" rtlCol="0" anchor="t">
            <a:normAutofit/>
          </a:bodyPr>
          <a:lstStyle/>
          <a:p>
            <a:pPr algn="l" indent="0" marL="0">
              <a:lnSpc>
                <a:spcPct val="118000"/>
              </a:lnSpc>
              <a:buNone/>
            </a:pPr>
            <a:r>
              <a:rPr lang="en-US" sz="2100" b="1" dirty="0">
                <a:solidFill>
                  <a:srgbClr val="0F1E3D"/>
                </a:solidFill>
                <a:latin typeface="Arial" pitchFamily="34" charset="0"/>
                <a:ea typeface="Arial" pitchFamily="34" charset="-122"/>
                <a:cs typeface="Arial" pitchFamily="34" charset="-120"/>
              </a:rPr>
              <a:t>Fintech, blockchain &amp; monnaies numériques de banque centrale (CBDC)</a:t>
            </a:r>
            <a:endParaRPr lang="en-US" sz="2100" dirty="0"/>
          </a:p>
        </p:txBody>
      </p:sp>
      <p:sp>
        <p:nvSpPr>
          <p:cNvPr id="11" name="Text 9"/>
          <p:cNvSpPr/>
          <p:nvPr/>
        </p:nvSpPr>
        <p:spPr>
          <a:xfrm>
            <a:off x="1383030" y="4993159"/>
            <a:ext cx="7511110" cy="666393"/>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5E6E8E"/>
                </a:solidFill>
                <a:latin typeface="Arial" pitchFamily="34" charset="0"/>
                <a:ea typeface="Arial" pitchFamily="34" charset="-122"/>
                <a:cs typeface="Arial" pitchFamily="34" charset="-120"/>
              </a:rPr>
              <a:t>Transformations de l'intermédiation financière, approche quantitative sur données bancaires réelles.</a:t>
            </a:r>
            <a:endParaRPr lang="en-US" sz="1875" dirty="0"/>
          </a:p>
        </p:txBody>
      </p:sp>
      <p:sp>
        <p:nvSpPr>
          <p:cNvPr id="12" name="Text 10"/>
          <p:cNvSpPr/>
          <p:nvPr/>
        </p:nvSpPr>
        <p:spPr>
          <a:xfrm>
            <a:off x="1383030" y="5754682"/>
            <a:ext cx="7511110"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2A96D6"/>
                </a:solidFill>
                <a:latin typeface="Arial" pitchFamily="34" charset="0"/>
                <a:ea typeface="Arial" pitchFamily="34" charset="-122"/>
                <a:cs typeface="Arial" pitchFamily="34" charset="-120"/>
              </a:rPr>
              <a:t>theses.fr · BNP Paribas CIB × Télécom Paris</a:t>
            </a:r>
            <a:endParaRPr lang="en-US" sz="1800" dirty="0"/>
          </a:p>
        </p:txBody>
      </p:sp>
      <p:sp>
        <p:nvSpPr>
          <p:cNvPr id="13" name="Shape 11"/>
          <p:cNvSpPr/>
          <p:nvPr/>
        </p:nvSpPr>
        <p:spPr>
          <a:xfrm>
            <a:off x="9258299" y="3281629"/>
            <a:ext cx="8000999" cy="3116104"/>
          </a:xfrm>
          <a:prstGeom prst="roundRect">
            <a:avLst>
              <a:gd name="adj" fmla="val 10393"/>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14" name="Shape 12"/>
          <p:cNvSpPr/>
          <p:nvPr/>
        </p:nvSpPr>
        <p:spPr>
          <a:xfrm>
            <a:off x="9612630" y="3616849"/>
            <a:ext cx="1691997" cy="480060"/>
          </a:xfrm>
          <a:prstGeom prst="roundRect">
            <a:avLst>
              <a:gd name="adj" fmla="val 50000"/>
            </a:avLst>
          </a:prstGeom>
          <a:solidFill>
            <a:srgbClr val="0B2350"/>
          </a:solidFill>
          <a:ln/>
        </p:spPr>
      </p:sp>
      <p:sp>
        <p:nvSpPr>
          <p:cNvPr id="15" name="Text 13"/>
          <p:cNvSpPr/>
          <p:nvPr/>
        </p:nvSpPr>
        <p:spPr>
          <a:xfrm>
            <a:off x="9784080" y="3702574"/>
            <a:ext cx="1425297"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BNP Paribas</a:t>
            </a:r>
            <a:endParaRPr lang="en-US" sz="1800" dirty="0"/>
          </a:p>
        </p:txBody>
      </p:sp>
      <p:sp>
        <p:nvSpPr>
          <p:cNvPr id="16" name="Text 14"/>
          <p:cNvSpPr/>
          <p:nvPr/>
        </p:nvSpPr>
        <p:spPr>
          <a:xfrm>
            <a:off x="11456967" y="3702575"/>
            <a:ext cx="2156281" cy="34671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 Inria / Ceremade</a:t>
            </a:r>
            <a:endParaRPr lang="en-US" sz="1800" dirty="0"/>
          </a:p>
        </p:txBody>
      </p:sp>
      <p:sp>
        <p:nvSpPr>
          <p:cNvPr id="17" name="Text 15"/>
          <p:cNvSpPr/>
          <p:nvPr/>
        </p:nvSpPr>
        <p:spPr>
          <a:xfrm>
            <a:off x="9612630" y="4230141"/>
            <a:ext cx="7511110" cy="667107"/>
          </a:xfrm>
          <a:prstGeom prst="rect">
            <a:avLst/>
          </a:prstGeom>
          <a:noFill/>
          <a:ln/>
        </p:spPr>
        <p:txBody>
          <a:bodyPr wrap="square" lIns="25400" tIns="25400" rIns="25400" bIns="25400" rtlCol="0" anchor="t">
            <a:normAutofit/>
          </a:bodyPr>
          <a:lstStyle/>
          <a:p>
            <a:pPr algn="l" indent="0" marL="0">
              <a:lnSpc>
                <a:spcPct val="118000"/>
              </a:lnSpc>
              <a:buNone/>
            </a:pPr>
            <a:r>
              <a:rPr lang="en-US" sz="2100" b="1" dirty="0">
                <a:solidFill>
                  <a:srgbClr val="0F1E3D"/>
                </a:solidFill>
                <a:latin typeface="Arial" pitchFamily="34" charset="0"/>
                <a:ea typeface="Arial" pitchFamily="34" charset="-122"/>
                <a:cs typeface="Arial" pitchFamily="34" charset="-120"/>
              </a:rPr>
              <a:t>Transport optimal &amp; calibration de processus stochastiques en finance</a:t>
            </a:r>
            <a:endParaRPr lang="en-US" sz="2100" dirty="0"/>
          </a:p>
        </p:txBody>
      </p:sp>
      <p:sp>
        <p:nvSpPr>
          <p:cNvPr id="18" name="Text 16"/>
          <p:cNvSpPr/>
          <p:nvPr/>
        </p:nvSpPr>
        <p:spPr>
          <a:xfrm>
            <a:off x="9612630" y="4992378"/>
            <a:ext cx="7511110" cy="666393"/>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5E6E8E"/>
                </a:solidFill>
                <a:latin typeface="Arial" pitchFamily="34" charset="0"/>
                <a:ea typeface="Arial" pitchFamily="34" charset="-122"/>
                <a:cs typeface="Arial" pitchFamily="34" charset="-120"/>
              </a:rPr>
              <a:t>Méthodes mathématiques avancées appliquées au pricing de produits dérivés.</a:t>
            </a:r>
            <a:endParaRPr lang="en-US" sz="1875" dirty="0"/>
          </a:p>
        </p:txBody>
      </p:sp>
      <p:sp>
        <p:nvSpPr>
          <p:cNvPr id="19" name="Text 17"/>
          <p:cNvSpPr/>
          <p:nvPr/>
        </p:nvSpPr>
        <p:spPr>
          <a:xfrm>
            <a:off x="9612630" y="5753902"/>
            <a:ext cx="7511110"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2A96D6"/>
                </a:solidFill>
                <a:latin typeface="Arial" pitchFamily="34" charset="0"/>
                <a:ea typeface="Arial" pitchFamily="34" charset="-122"/>
                <a:cs typeface="Arial" pitchFamily="34" charset="-120"/>
              </a:rPr>
              <a:t>theses.fr · BNP Paribas × Inria Mokaplan</a:t>
            </a:r>
            <a:endParaRPr lang="en-US" sz="1800" dirty="0"/>
          </a:p>
        </p:txBody>
      </p:sp>
      <p:sp>
        <p:nvSpPr>
          <p:cNvPr id="20" name="Shape 18"/>
          <p:cNvSpPr/>
          <p:nvPr/>
        </p:nvSpPr>
        <p:spPr>
          <a:xfrm>
            <a:off x="1028700" y="6638236"/>
            <a:ext cx="8000999" cy="3116104"/>
          </a:xfrm>
          <a:prstGeom prst="roundRect">
            <a:avLst>
              <a:gd name="adj" fmla="val 10393"/>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21" name="Shape 19"/>
          <p:cNvSpPr/>
          <p:nvPr/>
        </p:nvSpPr>
        <p:spPr>
          <a:xfrm>
            <a:off x="1383030" y="6973456"/>
            <a:ext cx="2044898" cy="480060"/>
          </a:xfrm>
          <a:prstGeom prst="roundRect">
            <a:avLst>
              <a:gd name="adj" fmla="val 50000"/>
            </a:avLst>
          </a:prstGeom>
          <a:solidFill>
            <a:srgbClr val="2A96D6"/>
          </a:solidFill>
          <a:ln/>
        </p:spPr>
      </p:sp>
      <p:sp>
        <p:nvSpPr>
          <p:cNvPr id="22" name="Text 20"/>
          <p:cNvSpPr/>
          <p:nvPr/>
        </p:nvSpPr>
        <p:spPr>
          <a:xfrm>
            <a:off x="1554480" y="7059181"/>
            <a:ext cx="1778198"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Crédit Agricole</a:t>
            </a:r>
            <a:endParaRPr lang="en-US" sz="1800" dirty="0"/>
          </a:p>
        </p:txBody>
      </p:sp>
      <p:sp>
        <p:nvSpPr>
          <p:cNvPr id="23" name="Text 21"/>
          <p:cNvSpPr/>
          <p:nvPr/>
        </p:nvSpPr>
        <p:spPr>
          <a:xfrm>
            <a:off x="3580269" y="7059181"/>
            <a:ext cx="2423279" cy="34671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 École Centrale Lille</a:t>
            </a:r>
            <a:endParaRPr lang="en-US" sz="1800" dirty="0"/>
          </a:p>
        </p:txBody>
      </p:sp>
      <p:sp>
        <p:nvSpPr>
          <p:cNvPr id="24" name="Text 22"/>
          <p:cNvSpPr/>
          <p:nvPr/>
        </p:nvSpPr>
        <p:spPr>
          <a:xfrm>
            <a:off x="1383030" y="7586747"/>
            <a:ext cx="7511110" cy="667107"/>
          </a:xfrm>
          <a:prstGeom prst="rect">
            <a:avLst/>
          </a:prstGeom>
          <a:noFill/>
          <a:ln/>
        </p:spPr>
        <p:txBody>
          <a:bodyPr wrap="square" lIns="25400" tIns="25400" rIns="25400" bIns="25400" rtlCol="0" anchor="t">
            <a:normAutofit/>
          </a:bodyPr>
          <a:lstStyle/>
          <a:p>
            <a:pPr algn="l" indent="0" marL="0">
              <a:lnSpc>
                <a:spcPct val="118000"/>
              </a:lnSpc>
              <a:buNone/>
            </a:pPr>
            <a:r>
              <a:rPr lang="en-US" sz="2100" b="1" dirty="0">
                <a:solidFill>
                  <a:srgbClr val="0F1E3D"/>
                </a:solidFill>
                <a:latin typeface="Arial" pitchFamily="34" charset="0"/>
                <a:ea typeface="Arial" pitchFamily="34" charset="-122"/>
                <a:cs typeface="Arial" pitchFamily="34" charset="-120"/>
              </a:rPr>
              <a:t>Machine learning appliqué au risque de crédit &amp; comportement client</a:t>
            </a:r>
            <a:endParaRPr lang="en-US" sz="2100" dirty="0"/>
          </a:p>
        </p:txBody>
      </p:sp>
      <p:sp>
        <p:nvSpPr>
          <p:cNvPr id="25" name="Text 23"/>
          <p:cNvSpPr/>
          <p:nvPr/>
        </p:nvSpPr>
        <p:spPr>
          <a:xfrm>
            <a:off x="1383030" y="8348985"/>
            <a:ext cx="7511110" cy="352246"/>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5E6E8E"/>
                </a:solidFill>
                <a:latin typeface="Arial" pitchFamily="34" charset="0"/>
                <a:ea typeface="Arial" pitchFamily="34" charset="-122"/>
                <a:cs typeface="Arial" pitchFamily="34" charset="-120"/>
              </a:rPr>
              <a:t>ML sur données clients pour l'évaluation du risque de défaut.</a:t>
            </a:r>
            <a:endParaRPr lang="en-US" sz="1875" dirty="0"/>
          </a:p>
        </p:txBody>
      </p:sp>
      <p:sp>
        <p:nvSpPr>
          <p:cNvPr id="26" name="Text 24"/>
          <p:cNvSpPr/>
          <p:nvPr/>
        </p:nvSpPr>
        <p:spPr>
          <a:xfrm>
            <a:off x="1383030" y="9110509"/>
            <a:ext cx="7511110"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2A96D6"/>
                </a:solidFill>
                <a:latin typeface="Arial" pitchFamily="34" charset="0"/>
                <a:ea typeface="Arial" pitchFamily="34" charset="-122"/>
                <a:cs typeface="Arial" pitchFamily="34" charset="-120"/>
              </a:rPr>
              <a:t>adimajo.github.io · Retour d'expérience CIFRE</a:t>
            </a:r>
            <a:endParaRPr lang="en-US" sz="1800" dirty="0"/>
          </a:p>
        </p:txBody>
      </p:sp>
      <p:sp>
        <p:nvSpPr>
          <p:cNvPr id="27" name="Shape 25"/>
          <p:cNvSpPr/>
          <p:nvPr/>
        </p:nvSpPr>
        <p:spPr>
          <a:xfrm>
            <a:off x="9258299" y="6651837"/>
            <a:ext cx="8000999" cy="3116104"/>
          </a:xfrm>
          <a:prstGeom prst="roundRect">
            <a:avLst>
              <a:gd name="adj" fmla="val 10393"/>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28" name="Shape 26"/>
          <p:cNvSpPr/>
          <p:nvPr/>
        </p:nvSpPr>
        <p:spPr>
          <a:xfrm>
            <a:off x="9612630" y="6987057"/>
            <a:ext cx="2283500" cy="480060"/>
          </a:xfrm>
          <a:prstGeom prst="roundRect">
            <a:avLst>
              <a:gd name="adj" fmla="val 50000"/>
            </a:avLst>
          </a:prstGeom>
          <a:solidFill>
            <a:srgbClr val="2A96D6"/>
          </a:solidFill>
          <a:ln/>
        </p:spPr>
      </p:sp>
      <p:sp>
        <p:nvSpPr>
          <p:cNvPr id="29" name="Text 27"/>
          <p:cNvSpPr/>
          <p:nvPr/>
        </p:nvSpPr>
        <p:spPr>
          <a:xfrm>
            <a:off x="9784080" y="7072782"/>
            <a:ext cx="2016800"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Société Générale</a:t>
            </a:r>
            <a:endParaRPr lang="en-US" sz="1800" dirty="0"/>
          </a:p>
        </p:txBody>
      </p:sp>
      <p:sp>
        <p:nvSpPr>
          <p:cNvPr id="30" name="Text 28"/>
          <p:cNvSpPr/>
          <p:nvPr/>
        </p:nvSpPr>
        <p:spPr>
          <a:xfrm>
            <a:off x="12048469" y="7072782"/>
            <a:ext cx="2888775" cy="34671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 Partenariat académique</a:t>
            </a:r>
            <a:endParaRPr lang="en-US" sz="1800" dirty="0"/>
          </a:p>
        </p:txBody>
      </p:sp>
      <p:sp>
        <p:nvSpPr>
          <p:cNvPr id="31" name="Text 29"/>
          <p:cNvSpPr/>
          <p:nvPr/>
        </p:nvSpPr>
        <p:spPr>
          <a:xfrm>
            <a:off x="9612630" y="7600348"/>
            <a:ext cx="7511110" cy="667107"/>
          </a:xfrm>
          <a:prstGeom prst="rect">
            <a:avLst/>
          </a:prstGeom>
          <a:noFill/>
          <a:ln/>
        </p:spPr>
        <p:txBody>
          <a:bodyPr wrap="square" lIns="25400" tIns="25400" rIns="25400" bIns="25400" rtlCol="0" anchor="t">
            <a:normAutofit/>
          </a:bodyPr>
          <a:lstStyle/>
          <a:p>
            <a:pPr algn="l" indent="0" marL="0">
              <a:lnSpc>
                <a:spcPct val="118000"/>
              </a:lnSpc>
              <a:buNone/>
            </a:pPr>
            <a:r>
              <a:rPr lang="en-US" sz="2100" b="1" dirty="0">
                <a:solidFill>
                  <a:srgbClr val="0F1E3D"/>
                </a:solidFill>
                <a:latin typeface="Arial" pitchFamily="34" charset="0"/>
                <a:ea typeface="Arial" pitchFamily="34" charset="-122"/>
                <a:cs typeface="Arial" pitchFamily="34" charset="-120"/>
              </a:rPr>
              <a:t>Détection d'erreurs de saisie &amp; d'opérations non conformes par ML</a:t>
            </a:r>
            <a:endParaRPr lang="en-US" sz="2100" dirty="0"/>
          </a:p>
        </p:txBody>
      </p:sp>
      <p:sp>
        <p:nvSpPr>
          <p:cNvPr id="32" name="Text 30"/>
          <p:cNvSpPr/>
          <p:nvPr/>
        </p:nvSpPr>
        <p:spPr>
          <a:xfrm>
            <a:off x="9612630" y="8362586"/>
            <a:ext cx="7511110" cy="666393"/>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5E6E8E"/>
                </a:solidFill>
                <a:latin typeface="Arial" pitchFamily="34" charset="0"/>
                <a:ea typeface="Arial" pitchFamily="34" charset="-122"/>
                <a:cs typeface="Arial" pitchFamily="34" charset="-120"/>
              </a:rPr>
              <a:t>ML sur l'historique de transactions. </a:t>
            </a:r>
            <a:pPr algn="l" indent="0" marL="0">
              <a:lnSpc>
                <a:spcPct val="132000"/>
              </a:lnSpc>
              <a:buNone/>
            </a:pPr>
            <a:r>
              <a:rPr lang="en-US" sz="1875" b="1" dirty="0">
                <a:solidFill>
                  <a:srgbClr val="143A77"/>
                </a:solidFill>
                <a:latin typeface="Arial" pitchFamily="34" charset="0"/>
                <a:ea typeface="Arial" pitchFamily="34" charset="-122"/>
                <a:cs typeface="Arial" pitchFamily="34" charset="-120"/>
              </a:rPr>
              <a:t>15 à 40 % </a:t>
            </a:r>
            <a:pPr algn="l" indent="0" marL="0">
              <a:lnSpc>
                <a:spcPct val="132000"/>
              </a:lnSpc>
              <a:buNone/>
            </a:pPr>
            <a:r>
              <a:rPr lang="en-US" sz="1875" dirty="0">
                <a:solidFill>
                  <a:srgbClr val="5E6E8E"/>
                </a:solidFill>
                <a:latin typeface="Arial" pitchFamily="34" charset="0"/>
                <a:ea typeface="Arial" pitchFamily="34" charset="-122"/>
                <a:cs typeface="Arial" pitchFamily="34" charset="-120"/>
              </a:rPr>
              <a:t>de problèmes résolus automatiquement.</a:t>
            </a:r>
            <a:endParaRPr lang="en-US" sz="1875" dirty="0"/>
          </a:p>
        </p:txBody>
      </p:sp>
      <p:sp>
        <p:nvSpPr>
          <p:cNvPr id="33" name="Text 31"/>
          <p:cNvSpPr/>
          <p:nvPr/>
        </p:nvSpPr>
        <p:spPr>
          <a:xfrm>
            <a:off x="9612630" y="9124110"/>
            <a:ext cx="7511110" cy="346710"/>
          </a:xfrm>
          <a:prstGeom prst="rect">
            <a:avLst/>
          </a:prstGeom>
          <a:noFill/>
          <a:ln/>
        </p:spPr>
        <p:txBody>
          <a:bodyPr wrap="square" lIns="25400" tIns="25400" rIns="25400" bIns="25400" rtlCol="0" anchor="t">
            <a:normAutofit/>
          </a:bodyPr>
          <a:lstStyle/>
          <a:p>
            <a:pPr algn="l" indent="0" marL="0">
              <a:buNone/>
            </a:pPr>
            <a:r>
              <a:rPr lang="en-US" sz="1800" b="1" dirty="0">
                <a:solidFill>
                  <a:srgbClr val="2A96D6"/>
                </a:solidFill>
                <a:latin typeface="Arial" pitchFamily="34" charset="0"/>
                <a:ea typeface="Arial" pitchFamily="34" charset="-122"/>
                <a:cs typeface="Arial" pitchFamily="34" charset="-120"/>
              </a:rPr>
              <a:t>JournalDuNet · Usage ML transactions SG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1028700" y="911390"/>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3" name="Text 1"/>
          <p:cNvSpPr/>
          <p:nvPr/>
        </p:nvSpPr>
        <p:spPr>
          <a:xfrm>
            <a:off x="1304806" y="819057"/>
            <a:ext cx="3049917"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2A96D6"/>
                </a:solidFill>
                <a:latin typeface="Arial" pitchFamily="34" charset="0"/>
                <a:ea typeface="Arial" pitchFamily="34" charset="-122"/>
                <a:cs typeface="Arial" pitchFamily="34" charset="-120"/>
              </a:rPr>
              <a:t>04 — LE BON MOMENT</a:t>
            </a:r>
            <a:endParaRPr lang="en-US" sz="1800" dirty="0"/>
          </a:p>
        </p:txBody>
      </p:sp>
      <p:sp>
        <p:nvSpPr>
          <p:cNvPr id="4" name="Text 2"/>
          <p:cNvSpPr/>
          <p:nvPr/>
        </p:nvSpPr>
        <p:spPr>
          <a:xfrm>
            <a:off x="1028700" y="1299573"/>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0F1E3D"/>
                </a:solidFill>
                <a:latin typeface="Arial" pitchFamily="34" charset="0"/>
                <a:ea typeface="Arial" pitchFamily="34" charset="-122"/>
                <a:cs typeface="Arial" pitchFamily="34" charset="-120"/>
              </a:rPr>
              <a:t>Pourquoi maintenant, et pas dans deux ans ?</a:t>
            </a:r>
            <a:endParaRPr lang="en-US" sz="4350" dirty="0"/>
          </a:p>
        </p:txBody>
      </p:sp>
      <p:sp>
        <p:nvSpPr>
          <p:cNvPr id="5" name="Text 3"/>
          <p:cNvSpPr/>
          <p:nvPr/>
        </p:nvSpPr>
        <p:spPr>
          <a:xfrm>
            <a:off x="1028700" y="2045970"/>
            <a:ext cx="13538834" cy="457974"/>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5E6E8E"/>
                </a:solidFill>
                <a:latin typeface="Arial" pitchFamily="34" charset="0"/>
                <a:ea typeface="Arial" pitchFamily="34" charset="-122"/>
                <a:cs typeface="Arial" pitchFamily="34" charset="-120"/>
              </a:rPr>
              <a:t>Trois raisons concrètes qui font de </a:t>
            </a:r>
            <a:pPr algn="l" indent="0" marL="0">
              <a:lnSpc>
                <a:spcPct val="134000"/>
              </a:lnSpc>
              <a:buNone/>
            </a:pPr>
            <a:r>
              <a:rPr lang="en-US" sz="2400" b="1" dirty="0">
                <a:solidFill>
                  <a:srgbClr val="143A77"/>
                </a:solidFill>
                <a:latin typeface="Arial" pitchFamily="34" charset="0"/>
                <a:ea typeface="Arial" pitchFamily="34" charset="-122"/>
                <a:cs typeface="Arial" pitchFamily="34" charset="-120"/>
              </a:rPr>
              <a:t>2026 </a:t>
            </a:r>
            <a:pPr algn="l" indent="0" marL="0">
              <a:lnSpc>
                <a:spcPct val="134000"/>
              </a:lnSpc>
              <a:buNone/>
            </a:pPr>
            <a:r>
              <a:rPr lang="en-US" sz="2400" dirty="0">
                <a:solidFill>
                  <a:srgbClr val="5E6E8E"/>
                </a:solidFill>
                <a:latin typeface="Arial" pitchFamily="34" charset="0"/>
                <a:ea typeface="Arial" pitchFamily="34" charset="-122"/>
                <a:cs typeface="Arial" pitchFamily="34" charset="-120"/>
              </a:rPr>
              <a:t>le bon moment pour lancer ce projet.</a:t>
            </a:r>
            <a:endParaRPr lang="en-US" sz="2400" dirty="0"/>
          </a:p>
        </p:txBody>
      </p:sp>
      <p:sp>
        <p:nvSpPr>
          <p:cNvPr id="6" name="Shape 4"/>
          <p:cNvSpPr/>
          <p:nvPr/>
        </p:nvSpPr>
        <p:spPr>
          <a:xfrm>
            <a:off x="1028700" y="2884825"/>
            <a:ext cx="5245119" cy="6641366"/>
          </a:xfrm>
          <a:prstGeom prst="roundRect">
            <a:avLst>
              <a:gd name="adj" fmla="val 6174"/>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7" name="Text 5"/>
          <p:cNvSpPr/>
          <p:nvPr/>
        </p:nvSpPr>
        <p:spPr>
          <a:xfrm>
            <a:off x="1334482" y="3277196"/>
            <a:ext cx="4633556" cy="647640"/>
          </a:xfrm>
          <a:prstGeom prst="rect">
            <a:avLst/>
          </a:prstGeom>
          <a:noFill/>
          <a:ln/>
        </p:spPr>
        <p:txBody>
          <a:bodyPr wrap="square" lIns="25400" tIns="25400" rIns="25400" bIns="25400" rtlCol="0" anchor="ctr">
            <a:normAutofit/>
          </a:bodyPr>
          <a:lstStyle/>
          <a:p>
            <a:pPr algn="ctr" indent="0" marL="0">
              <a:lnSpc>
                <a:spcPct val="100000"/>
              </a:lnSpc>
              <a:buNone/>
            </a:pPr>
            <a:r>
              <a:rPr lang="en-US" sz="4800" b="1" dirty="0">
                <a:solidFill>
                  <a:srgbClr val="2A96D6"/>
                </a:solidFill>
                <a:latin typeface="Georgia" pitchFamily="34" charset="0"/>
                <a:ea typeface="Georgia" pitchFamily="34" charset="-122"/>
                <a:cs typeface="Georgia" pitchFamily="34" charset="-120"/>
              </a:rPr>
              <a:t>01</a:t>
            </a:r>
            <a:endParaRPr lang="en-US" sz="4800" dirty="0"/>
          </a:p>
        </p:txBody>
      </p:sp>
      <p:sp>
        <p:nvSpPr>
          <p:cNvPr id="8" name="Text 6"/>
          <p:cNvSpPr/>
          <p:nvPr/>
        </p:nvSpPr>
        <p:spPr>
          <a:xfrm>
            <a:off x="1401961" y="4115336"/>
            <a:ext cx="4633556" cy="677823"/>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F1E3D"/>
                </a:solidFill>
                <a:latin typeface="Arial" pitchFamily="34" charset="0"/>
                <a:ea typeface="Arial" pitchFamily="34" charset="-122"/>
                <a:cs typeface="Arial" pitchFamily="34" charset="-120"/>
              </a:rPr>
              <a:t>L'Instant Payment est désormais obligatoire en Europe</a:t>
            </a:r>
            <a:endParaRPr lang="en-US" sz="2100" dirty="0"/>
          </a:p>
        </p:txBody>
      </p:sp>
      <p:sp>
        <p:nvSpPr>
          <p:cNvPr id="9" name="Text 7"/>
          <p:cNvSpPr/>
          <p:nvPr/>
        </p:nvSpPr>
        <p:spPr>
          <a:xfrm>
            <a:off x="1401961" y="4926509"/>
            <a:ext cx="4633556" cy="2008703"/>
          </a:xfrm>
          <a:prstGeom prst="rect">
            <a:avLst/>
          </a:prstGeom>
          <a:noFill/>
          <a:ln/>
        </p:spPr>
        <p:txBody>
          <a:bodyPr wrap="square" lIns="25400" tIns="25400" rIns="25400" bIns="25400" rtlCol="0" anchor="t">
            <a:normAutofit/>
          </a:bodyPr>
          <a:lstStyle/>
          <a:p>
            <a:pPr algn="l" indent="0" marL="0">
              <a:lnSpc>
                <a:spcPct val="138000"/>
              </a:lnSpc>
              <a:buNone/>
            </a:pPr>
            <a:r>
              <a:rPr lang="en-US" sz="1875" dirty="0">
                <a:solidFill>
                  <a:srgbClr val="5E6E8E"/>
                </a:solidFill>
                <a:latin typeface="Arial" pitchFamily="34" charset="0"/>
                <a:ea typeface="Arial" pitchFamily="34" charset="-122"/>
                <a:cs typeface="Arial" pitchFamily="34" charset="-120"/>
              </a:rPr>
              <a:t>Depuis 2025, toutes les banques européennes doivent proposer le virement instantané (SCT Inst). LBP traite ces flux en temps réel, 24h/24. Les surveiller et les sécuriser est une priorité opérationnelle — pas un projet futur.</a:t>
            </a:r>
            <a:endParaRPr lang="en-US" sz="1875" dirty="0"/>
          </a:p>
        </p:txBody>
      </p:sp>
      <p:sp>
        <p:nvSpPr>
          <p:cNvPr id="10" name="Shape 8"/>
          <p:cNvSpPr/>
          <p:nvPr/>
        </p:nvSpPr>
        <p:spPr>
          <a:xfrm>
            <a:off x="1401961" y="8109227"/>
            <a:ext cx="2904291"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11" name="Text 9"/>
          <p:cNvSpPr/>
          <p:nvPr/>
        </p:nvSpPr>
        <p:spPr>
          <a:xfrm>
            <a:off x="1556266" y="8187332"/>
            <a:ext cx="2682810"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Règlement UE 2024/886</a:t>
            </a:r>
            <a:endParaRPr lang="en-US" sz="1800" dirty="0"/>
          </a:p>
        </p:txBody>
      </p:sp>
      <p:sp>
        <p:nvSpPr>
          <p:cNvPr id="12" name="Shape 10"/>
          <p:cNvSpPr/>
          <p:nvPr/>
        </p:nvSpPr>
        <p:spPr>
          <a:xfrm>
            <a:off x="4401443" y="8109227"/>
            <a:ext cx="1204436"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13" name="Text 11"/>
          <p:cNvSpPr/>
          <p:nvPr/>
        </p:nvSpPr>
        <p:spPr>
          <a:xfrm>
            <a:off x="4555748" y="8187332"/>
            <a:ext cx="972026"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SCT Inst</a:t>
            </a:r>
            <a:endParaRPr lang="en-US" sz="1800" dirty="0"/>
          </a:p>
        </p:txBody>
      </p:sp>
      <p:sp>
        <p:nvSpPr>
          <p:cNvPr id="14" name="Shape 12"/>
          <p:cNvSpPr/>
          <p:nvPr/>
        </p:nvSpPr>
        <p:spPr>
          <a:xfrm>
            <a:off x="1401961" y="8669119"/>
            <a:ext cx="849035" cy="464702"/>
          </a:xfrm>
          <a:prstGeom prst="roundRect">
            <a:avLst>
              <a:gd name="adj" fmla="val 50000"/>
            </a:avLst>
          </a:prstGeom>
          <a:solidFill>
            <a:srgbClr val="002E73">
              <a:alpha val="4000"/>
            </a:srgbClr>
          </a:solidFill>
          <a:ln w="11430">
            <a:solidFill>
              <a:srgbClr val="0B2350">
                <a:alpha val="8000"/>
              </a:srgbClr>
            </a:solidFill>
            <a:prstDash val="solid"/>
          </a:ln>
        </p:spPr>
      </p:sp>
      <p:sp>
        <p:nvSpPr>
          <p:cNvPr id="15" name="Text 13"/>
          <p:cNvSpPr/>
          <p:nvPr/>
        </p:nvSpPr>
        <p:spPr>
          <a:xfrm>
            <a:off x="1556266" y="8747224"/>
            <a:ext cx="616625" cy="346592"/>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2025</a:t>
            </a:r>
            <a:endParaRPr lang="en-US" sz="1800" dirty="0"/>
          </a:p>
        </p:txBody>
      </p:sp>
      <p:sp>
        <p:nvSpPr>
          <p:cNvPr id="16" name="Shape 14"/>
          <p:cNvSpPr/>
          <p:nvPr/>
        </p:nvSpPr>
        <p:spPr>
          <a:xfrm>
            <a:off x="6521350" y="2884236"/>
            <a:ext cx="5245119" cy="6641366"/>
          </a:xfrm>
          <a:prstGeom prst="roundRect">
            <a:avLst>
              <a:gd name="adj" fmla="val 6174"/>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17" name="Text 15"/>
          <p:cNvSpPr/>
          <p:nvPr/>
        </p:nvSpPr>
        <p:spPr>
          <a:xfrm>
            <a:off x="6827132" y="3276606"/>
            <a:ext cx="4633556" cy="647640"/>
          </a:xfrm>
          <a:prstGeom prst="rect">
            <a:avLst/>
          </a:prstGeom>
          <a:noFill/>
          <a:ln/>
        </p:spPr>
        <p:txBody>
          <a:bodyPr wrap="square" lIns="25400" tIns="25400" rIns="25400" bIns="25400" rtlCol="0" anchor="ctr">
            <a:normAutofit/>
          </a:bodyPr>
          <a:lstStyle/>
          <a:p>
            <a:pPr algn="ctr" indent="0" marL="0">
              <a:lnSpc>
                <a:spcPct val="100000"/>
              </a:lnSpc>
              <a:buNone/>
            </a:pPr>
            <a:r>
              <a:rPr lang="en-US" sz="4800" b="1" dirty="0">
                <a:solidFill>
                  <a:srgbClr val="2A96D6"/>
                </a:solidFill>
                <a:latin typeface="Georgia" pitchFamily="34" charset="0"/>
                <a:ea typeface="Georgia" pitchFamily="34" charset="-122"/>
                <a:cs typeface="Georgia" pitchFamily="34" charset="-120"/>
              </a:rPr>
              <a:t>02</a:t>
            </a:r>
            <a:endParaRPr lang="en-US" sz="4800" dirty="0"/>
          </a:p>
        </p:txBody>
      </p:sp>
      <p:sp>
        <p:nvSpPr>
          <p:cNvPr id="18" name="Text 16"/>
          <p:cNvSpPr/>
          <p:nvPr/>
        </p:nvSpPr>
        <p:spPr>
          <a:xfrm>
            <a:off x="6894611" y="4114747"/>
            <a:ext cx="4633556" cy="997684"/>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F1E3D"/>
                </a:solidFill>
                <a:latin typeface="Arial" pitchFamily="34" charset="0"/>
                <a:ea typeface="Arial" pitchFamily="34" charset="-122"/>
                <a:cs typeface="Arial" pitchFamily="34" charset="-120"/>
              </a:rPr>
              <a:t>Le RGPD impose des contraintes croissantes sur les données de paiement</a:t>
            </a:r>
            <a:endParaRPr lang="en-US" sz="2100" dirty="0"/>
          </a:p>
        </p:txBody>
      </p:sp>
      <p:sp>
        <p:nvSpPr>
          <p:cNvPr id="19" name="Text 17"/>
          <p:cNvSpPr/>
          <p:nvPr/>
        </p:nvSpPr>
        <p:spPr>
          <a:xfrm>
            <a:off x="6894611" y="5245780"/>
            <a:ext cx="4633556" cy="2008704"/>
          </a:xfrm>
          <a:prstGeom prst="rect">
            <a:avLst/>
          </a:prstGeom>
          <a:noFill/>
          <a:ln/>
        </p:spPr>
        <p:txBody>
          <a:bodyPr wrap="square" lIns="25400" tIns="25400" rIns="25400" bIns="25400" rtlCol="0" anchor="t">
            <a:normAutofit/>
          </a:bodyPr>
          <a:lstStyle/>
          <a:p>
            <a:pPr algn="l" indent="0" marL="0">
              <a:lnSpc>
                <a:spcPct val="138000"/>
              </a:lnSpc>
              <a:buNone/>
            </a:pPr>
            <a:r>
              <a:rPr lang="en-US" sz="1875" dirty="0">
                <a:solidFill>
                  <a:srgbClr val="5E6E8E"/>
                </a:solidFill>
                <a:latin typeface="Arial" pitchFamily="34" charset="0"/>
                <a:ea typeface="Arial" pitchFamily="34" charset="-122"/>
                <a:cs typeface="Arial" pitchFamily="34" charset="-120"/>
              </a:rPr>
              <a:t>Chaque modèle IA entraîné sur des données clients expose LBP à un risque réglementaire. La recherche sur la confidentialité des données de paiement est un enjeu de conformité immédiat — pas une option.</a:t>
            </a:r>
            <a:endParaRPr lang="en-US" sz="1875" dirty="0"/>
          </a:p>
        </p:txBody>
      </p:sp>
      <p:sp>
        <p:nvSpPr>
          <p:cNvPr id="20" name="Shape 18"/>
          <p:cNvSpPr/>
          <p:nvPr/>
        </p:nvSpPr>
        <p:spPr>
          <a:xfrm>
            <a:off x="6894611" y="8668530"/>
            <a:ext cx="914757" cy="464700"/>
          </a:xfrm>
          <a:prstGeom prst="roundRect">
            <a:avLst>
              <a:gd name="adj" fmla="val 50000"/>
            </a:avLst>
          </a:prstGeom>
          <a:solidFill>
            <a:srgbClr val="002E73">
              <a:alpha val="4000"/>
            </a:srgbClr>
          </a:solidFill>
          <a:ln w="11430">
            <a:solidFill>
              <a:srgbClr val="0B2350">
                <a:alpha val="8000"/>
              </a:srgbClr>
            </a:solidFill>
            <a:prstDash val="solid"/>
          </a:ln>
        </p:spPr>
      </p:sp>
      <p:sp>
        <p:nvSpPr>
          <p:cNvPr id="21" name="Text 19"/>
          <p:cNvSpPr/>
          <p:nvPr/>
        </p:nvSpPr>
        <p:spPr>
          <a:xfrm>
            <a:off x="7048916" y="8746635"/>
            <a:ext cx="682347" cy="34659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RGPD</a:t>
            </a:r>
            <a:endParaRPr lang="en-US" sz="1800" dirty="0"/>
          </a:p>
        </p:txBody>
      </p:sp>
      <p:sp>
        <p:nvSpPr>
          <p:cNvPr id="22" name="Shape 20"/>
          <p:cNvSpPr/>
          <p:nvPr/>
        </p:nvSpPr>
        <p:spPr>
          <a:xfrm>
            <a:off x="7904559" y="8668530"/>
            <a:ext cx="1912739" cy="464700"/>
          </a:xfrm>
          <a:prstGeom prst="roundRect">
            <a:avLst>
              <a:gd name="adj" fmla="val 50000"/>
            </a:avLst>
          </a:prstGeom>
          <a:solidFill>
            <a:srgbClr val="002E73">
              <a:alpha val="4000"/>
            </a:srgbClr>
          </a:solidFill>
          <a:ln w="11430">
            <a:solidFill>
              <a:srgbClr val="0B2350">
                <a:alpha val="8000"/>
              </a:srgbClr>
            </a:solidFill>
            <a:prstDash val="solid"/>
          </a:ln>
        </p:spPr>
      </p:sp>
      <p:sp>
        <p:nvSpPr>
          <p:cNvPr id="23" name="Text 21"/>
          <p:cNvSpPr/>
          <p:nvPr/>
        </p:nvSpPr>
        <p:spPr>
          <a:xfrm>
            <a:off x="8058864" y="8746635"/>
            <a:ext cx="1680329" cy="34659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EBA Guidelines</a:t>
            </a:r>
            <a:endParaRPr lang="en-US" sz="1800" dirty="0"/>
          </a:p>
        </p:txBody>
      </p:sp>
      <p:sp>
        <p:nvSpPr>
          <p:cNvPr id="24" name="Shape 22"/>
          <p:cNvSpPr/>
          <p:nvPr/>
        </p:nvSpPr>
        <p:spPr>
          <a:xfrm>
            <a:off x="9912488" y="8668530"/>
            <a:ext cx="881360" cy="464700"/>
          </a:xfrm>
          <a:prstGeom prst="roundRect">
            <a:avLst>
              <a:gd name="adj" fmla="val 50000"/>
            </a:avLst>
          </a:prstGeom>
          <a:solidFill>
            <a:srgbClr val="002E73">
              <a:alpha val="4000"/>
            </a:srgbClr>
          </a:solidFill>
          <a:ln w="11430">
            <a:solidFill>
              <a:srgbClr val="0B2350">
                <a:alpha val="8000"/>
              </a:srgbClr>
            </a:solidFill>
            <a:prstDash val="solid"/>
          </a:ln>
        </p:spPr>
      </p:sp>
      <p:sp>
        <p:nvSpPr>
          <p:cNvPr id="25" name="Text 23"/>
          <p:cNvSpPr/>
          <p:nvPr/>
        </p:nvSpPr>
        <p:spPr>
          <a:xfrm>
            <a:off x="10066793" y="8746635"/>
            <a:ext cx="648950" cy="346590"/>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DSP2</a:t>
            </a:r>
            <a:endParaRPr lang="en-US" sz="1800" dirty="0"/>
          </a:p>
        </p:txBody>
      </p:sp>
      <p:sp>
        <p:nvSpPr>
          <p:cNvPr id="26" name="Shape 24"/>
          <p:cNvSpPr/>
          <p:nvPr/>
        </p:nvSpPr>
        <p:spPr>
          <a:xfrm>
            <a:off x="12014000" y="2894154"/>
            <a:ext cx="5245298" cy="6641366"/>
          </a:xfrm>
          <a:prstGeom prst="roundRect">
            <a:avLst>
              <a:gd name="adj" fmla="val 6174"/>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27" name="Text 25"/>
          <p:cNvSpPr/>
          <p:nvPr/>
        </p:nvSpPr>
        <p:spPr>
          <a:xfrm>
            <a:off x="12319780" y="3286525"/>
            <a:ext cx="4633740" cy="647640"/>
          </a:xfrm>
          <a:prstGeom prst="rect">
            <a:avLst/>
          </a:prstGeom>
          <a:noFill/>
          <a:ln/>
        </p:spPr>
        <p:txBody>
          <a:bodyPr wrap="square" lIns="25400" tIns="25400" rIns="25400" bIns="25400" rtlCol="0" anchor="ctr">
            <a:normAutofit/>
          </a:bodyPr>
          <a:lstStyle/>
          <a:p>
            <a:pPr algn="ctr" indent="0" marL="0">
              <a:lnSpc>
                <a:spcPct val="100000"/>
              </a:lnSpc>
              <a:buNone/>
            </a:pPr>
            <a:r>
              <a:rPr lang="en-US" sz="4800" b="1" dirty="0">
                <a:solidFill>
                  <a:srgbClr val="2A96D6"/>
                </a:solidFill>
                <a:latin typeface="Georgia" pitchFamily="34" charset="0"/>
                <a:ea typeface="Georgia" pitchFamily="34" charset="-122"/>
                <a:cs typeface="Georgia" pitchFamily="34" charset="-120"/>
              </a:rPr>
              <a:t>03</a:t>
            </a:r>
            <a:endParaRPr lang="en-US" sz="4800" dirty="0"/>
          </a:p>
        </p:txBody>
      </p:sp>
      <p:sp>
        <p:nvSpPr>
          <p:cNvPr id="28" name="Text 26"/>
          <p:cNvSpPr/>
          <p:nvPr/>
        </p:nvSpPr>
        <p:spPr>
          <a:xfrm>
            <a:off x="12387261" y="4124665"/>
            <a:ext cx="4633740" cy="677823"/>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F1E3D"/>
                </a:solidFill>
                <a:latin typeface="Arial" pitchFamily="34" charset="0"/>
                <a:ea typeface="Arial" pitchFamily="34" charset="-122"/>
                <a:cs typeface="Arial" pitchFamily="34" charset="-120"/>
              </a:rPr>
              <a:t>Les concurrents investissent déjà — LBP a une fenêtre d'opportunité</a:t>
            </a:r>
            <a:endParaRPr lang="en-US" sz="2100" dirty="0"/>
          </a:p>
        </p:txBody>
      </p:sp>
      <p:sp>
        <p:nvSpPr>
          <p:cNvPr id="29" name="Text 27"/>
          <p:cNvSpPr/>
          <p:nvPr/>
        </p:nvSpPr>
        <p:spPr>
          <a:xfrm>
            <a:off x="12387261" y="4935838"/>
            <a:ext cx="4633740" cy="2008704"/>
          </a:xfrm>
          <a:prstGeom prst="rect">
            <a:avLst/>
          </a:prstGeom>
          <a:noFill/>
          <a:ln/>
        </p:spPr>
        <p:txBody>
          <a:bodyPr wrap="square" lIns="25400" tIns="25400" rIns="25400" bIns="25400" rtlCol="0" anchor="t">
            <a:normAutofit/>
          </a:bodyPr>
          <a:lstStyle/>
          <a:p>
            <a:pPr algn="l" indent="0" marL="0">
              <a:lnSpc>
                <a:spcPct val="138000"/>
              </a:lnSpc>
              <a:buNone/>
            </a:pPr>
            <a:r>
              <a:rPr lang="en-US" sz="1875" dirty="0">
                <a:solidFill>
                  <a:srgbClr val="5E6E8E"/>
                </a:solidFill>
                <a:latin typeface="Arial" pitchFamily="34" charset="0"/>
                <a:ea typeface="Arial" pitchFamily="34" charset="-122"/>
                <a:cs typeface="Arial" pitchFamily="34" charset="-120"/>
              </a:rPr>
              <a:t>BNP Paribas, Société Générale et Crédit Agricole ont déjà des thèses CIFRE en cours. Chaque année qui passe, c'est un an de retard en recherche appliquée. LBP peut prendre une longueur d'avance — maintenant.</a:t>
            </a:r>
            <a:endParaRPr lang="en-US" sz="1875" dirty="0"/>
          </a:p>
        </p:txBody>
      </p:sp>
      <p:sp>
        <p:nvSpPr>
          <p:cNvPr id="30" name="Shape 28"/>
          <p:cNvSpPr/>
          <p:nvPr/>
        </p:nvSpPr>
        <p:spPr>
          <a:xfrm>
            <a:off x="12387261" y="8118557"/>
            <a:ext cx="1589663"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31" name="Text 29"/>
          <p:cNvSpPr/>
          <p:nvPr/>
        </p:nvSpPr>
        <p:spPr>
          <a:xfrm>
            <a:off x="12541566" y="8196662"/>
            <a:ext cx="1357253"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BNP Paribas</a:t>
            </a:r>
            <a:endParaRPr lang="en-US" sz="1800" dirty="0"/>
          </a:p>
        </p:txBody>
      </p:sp>
      <p:sp>
        <p:nvSpPr>
          <p:cNvPr id="32" name="Shape 30"/>
          <p:cNvSpPr/>
          <p:nvPr/>
        </p:nvSpPr>
        <p:spPr>
          <a:xfrm>
            <a:off x="14072115" y="8118557"/>
            <a:ext cx="2151340"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33" name="Text 31"/>
          <p:cNvSpPr/>
          <p:nvPr/>
        </p:nvSpPr>
        <p:spPr>
          <a:xfrm>
            <a:off x="14226420" y="8196662"/>
            <a:ext cx="1918930"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Société Générale</a:t>
            </a:r>
            <a:endParaRPr lang="en-US" sz="1800" dirty="0"/>
          </a:p>
        </p:txBody>
      </p:sp>
      <p:sp>
        <p:nvSpPr>
          <p:cNvPr id="34" name="Shape 32"/>
          <p:cNvSpPr/>
          <p:nvPr/>
        </p:nvSpPr>
        <p:spPr>
          <a:xfrm>
            <a:off x="12387261" y="8678449"/>
            <a:ext cx="1909524"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35" name="Text 33"/>
          <p:cNvSpPr/>
          <p:nvPr/>
        </p:nvSpPr>
        <p:spPr>
          <a:xfrm>
            <a:off x="12541566" y="8756554"/>
            <a:ext cx="1677114"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Crédit Agricole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1028700" y="911390"/>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3" name="Text 1"/>
          <p:cNvSpPr/>
          <p:nvPr/>
        </p:nvSpPr>
        <p:spPr>
          <a:xfrm>
            <a:off x="1304806" y="819057"/>
            <a:ext cx="3963604"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2A96D6"/>
                </a:solidFill>
                <a:latin typeface="Arial" pitchFamily="34" charset="0"/>
                <a:ea typeface="Arial" pitchFamily="34" charset="-122"/>
                <a:cs typeface="Arial" pitchFamily="34" charset="-120"/>
              </a:rPr>
              <a:t>05 — PISTES DE RECHERCHE</a:t>
            </a:r>
            <a:endParaRPr lang="en-US" sz="1800" dirty="0"/>
          </a:p>
        </p:txBody>
      </p:sp>
      <p:sp>
        <p:nvSpPr>
          <p:cNvPr id="4" name="Text 2"/>
          <p:cNvSpPr/>
          <p:nvPr/>
        </p:nvSpPr>
        <p:spPr>
          <a:xfrm>
            <a:off x="1028700" y="1299572"/>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0F1E3D"/>
                </a:solidFill>
                <a:latin typeface="Arial" pitchFamily="34" charset="0"/>
                <a:ea typeface="Arial" pitchFamily="34" charset="-122"/>
                <a:cs typeface="Arial" pitchFamily="34" charset="-120"/>
              </a:rPr>
              <a:t>Ce que je propose comme sujet de recherche</a:t>
            </a:r>
            <a:endParaRPr lang="en-US" sz="4350" dirty="0"/>
          </a:p>
        </p:txBody>
      </p:sp>
      <p:sp>
        <p:nvSpPr>
          <p:cNvPr id="5" name="Text 3"/>
          <p:cNvSpPr/>
          <p:nvPr/>
        </p:nvSpPr>
        <p:spPr>
          <a:xfrm>
            <a:off x="1028700" y="2045968"/>
            <a:ext cx="13538834" cy="854988"/>
          </a:xfrm>
          <a:prstGeom prst="rect">
            <a:avLst/>
          </a:prstGeom>
          <a:noFill/>
          <a:ln/>
        </p:spPr>
        <p:txBody>
          <a:bodyPr wrap="square" lIns="25400" tIns="25400" rIns="25400" bIns="25400" rtlCol="0" anchor="t">
            <a:normAutofit/>
          </a:bodyPr>
          <a:lstStyle/>
          <a:p>
            <a:pPr algn="l" indent="0" marL="0">
              <a:lnSpc>
                <a:spcPct val="134000"/>
              </a:lnSpc>
              <a:buNone/>
            </a:pPr>
            <a:r>
              <a:rPr lang="en-US" sz="2400" dirty="0">
                <a:solidFill>
                  <a:srgbClr val="5E6E8E"/>
                </a:solidFill>
                <a:latin typeface="Arial" pitchFamily="34" charset="0"/>
                <a:ea typeface="Arial" pitchFamily="34" charset="-122"/>
                <a:cs typeface="Arial" pitchFamily="34" charset="-120"/>
              </a:rPr>
              <a:t>Chaque sujet part d'un problème réel que la Direction des Paiements vit aujourd'hui — et propose une réponse par la recherche.</a:t>
            </a:r>
            <a:endParaRPr lang="en-US" sz="2400" dirty="0"/>
          </a:p>
        </p:txBody>
      </p:sp>
      <p:sp>
        <p:nvSpPr>
          <p:cNvPr id="6" name="Shape 4"/>
          <p:cNvSpPr/>
          <p:nvPr/>
        </p:nvSpPr>
        <p:spPr>
          <a:xfrm>
            <a:off x="1028700" y="3129496"/>
            <a:ext cx="8029574" cy="3112532"/>
          </a:xfrm>
          <a:prstGeom prst="roundRect">
            <a:avLst>
              <a:gd name="adj" fmla="val 10405"/>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7" name="Shape 5"/>
          <p:cNvSpPr/>
          <p:nvPr/>
        </p:nvSpPr>
        <p:spPr>
          <a:xfrm>
            <a:off x="1344811" y="3369526"/>
            <a:ext cx="476131" cy="476131"/>
          </a:xfrm>
          <a:prstGeom prst="roundRect">
            <a:avLst>
              <a:gd name="adj" fmla="val 28007"/>
            </a:avLst>
          </a:prstGeom>
          <a:solidFill>
            <a:srgbClr val="E1EBF7"/>
          </a:solidFill>
          <a:ln/>
        </p:spPr>
      </p:sp>
      <p:sp>
        <p:nvSpPr>
          <p:cNvPr id="8" name="Text 6"/>
          <p:cNvSpPr/>
          <p:nvPr/>
        </p:nvSpPr>
        <p:spPr>
          <a:xfrm>
            <a:off x="1306711" y="3369526"/>
            <a:ext cx="552331" cy="514231"/>
          </a:xfrm>
          <a:prstGeom prst="rect">
            <a:avLst/>
          </a:prstGeom>
          <a:noFill/>
          <a:ln/>
        </p:spPr>
        <p:txBody>
          <a:bodyPr wrap="square" lIns="25400" tIns="25400" rIns="25400" bIns="25400" rtlCol="0" anchor="ctr">
            <a:normAutofit/>
          </a:bodyPr>
          <a:lstStyle/>
          <a:p>
            <a:pPr algn="ctr" indent="0" marL="0">
              <a:buNone/>
            </a:pPr>
            <a:r>
              <a:rPr lang="en-US" sz="1875" b="1" dirty="0">
                <a:solidFill>
                  <a:srgbClr val="143A77"/>
                </a:solidFill>
                <a:latin typeface="Arial" pitchFamily="34" charset="0"/>
                <a:ea typeface="Arial" pitchFamily="34" charset="-122"/>
                <a:cs typeface="Arial" pitchFamily="34" charset="-120"/>
              </a:rPr>
              <a:t>01</a:t>
            </a:r>
            <a:endParaRPr lang="en-US" sz="1875" dirty="0"/>
          </a:p>
        </p:txBody>
      </p:sp>
      <p:sp>
        <p:nvSpPr>
          <p:cNvPr id="9" name="Text 7"/>
          <p:cNvSpPr/>
          <p:nvPr/>
        </p:nvSpPr>
        <p:spPr>
          <a:xfrm>
            <a:off x="1973282" y="3424711"/>
            <a:ext cx="4503502"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0F1E3D"/>
                </a:solidFill>
                <a:latin typeface="Arial" pitchFamily="34" charset="0"/>
                <a:ea typeface="Arial" pitchFamily="34" charset="-122"/>
                <a:cs typeface="Arial" pitchFamily="34" charset="-120"/>
              </a:rPr>
              <a:t>Qualité des données de paiement</a:t>
            </a:r>
            <a:endParaRPr lang="en-US" sz="2100" dirty="0"/>
          </a:p>
        </p:txBody>
      </p:sp>
      <p:sp>
        <p:nvSpPr>
          <p:cNvPr id="10" name="Text 8"/>
          <p:cNvSpPr/>
          <p:nvPr/>
        </p:nvSpPr>
        <p:spPr>
          <a:xfrm>
            <a:off x="1344811" y="3959957"/>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C2453B"/>
                </a:solidFill>
                <a:latin typeface="Arial" pitchFamily="34" charset="0"/>
                <a:ea typeface="Arial" pitchFamily="34" charset="-122"/>
                <a:cs typeface="Arial" pitchFamily="34" charset="-120"/>
              </a:rPr>
              <a:t>⚠ Aujourd'hui </a:t>
            </a:r>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 une anomalie dans un flux SCT ou SDD peut passer inaperçue jusqu'à l'impact client.</a:t>
            </a:r>
            <a:endParaRPr lang="en-US" sz="1875" dirty="0"/>
          </a:p>
        </p:txBody>
      </p:sp>
      <p:sp>
        <p:nvSpPr>
          <p:cNvPr id="11" name="Text 9"/>
          <p:cNvSpPr/>
          <p:nvPr/>
        </p:nvSpPr>
        <p:spPr>
          <a:xfrm>
            <a:off x="1344811" y="4692906"/>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 </a:t>
            </a:r>
            <a:pPr algn="l" indent="0" marL="0">
              <a:lnSpc>
                <a:spcPct val="130000"/>
              </a:lnSpc>
              <a:buNone/>
            </a:pPr>
            <a:r>
              <a:rPr lang="en-US" sz="1875" dirty="0">
                <a:solidFill>
                  <a:srgbClr val="0F1E3D"/>
                </a:solidFill>
                <a:latin typeface="Arial" pitchFamily="34" charset="0"/>
                <a:ea typeface="Arial" pitchFamily="34" charset="-122"/>
                <a:cs typeface="Arial" pitchFamily="34" charset="-120"/>
              </a:rPr>
              <a:t>Construire des modèles qui détectent automatiquement incohérences et doublons — avant qu'ils ne remontent en production.</a:t>
            </a:r>
            <a:endParaRPr lang="en-US" sz="1875" dirty="0"/>
          </a:p>
        </p:txBody>
      </p:sp>
      <p:sp>
        <p:nvSpPr>
          <p:cNvPr id="12" name="Shape 10"/>
          <p:cNvSpPr/>
          <p:nvPr/>
        </p:nvSpPr>
        <p:spPr>
          <a:xfrm>
            <a:off x="1344811" y="5537297"/>
            <a:ext cx="755094"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13" name="Text 11"/>
          <p:cNvSpPr/>
          <p:nvPr/>
        </p:nvSpPr>
        <p:spPr>
          <a:xfrm>
            <a:off x="1499116" y="5615402"/>
            <a:ext cx="522684"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SCT</a:t>
            </a:r>
            <a:endParaRPr lang="en-US" sz="1800" dirty="0"/>
          </a:p>
        </p:txBody>
      </p:sp>
      <p:sp>
        <p:nvSpPr>
          <p:cNvPr id="14" name="Shape 12"/>
          <p:cNvSpPr/>
          <p:nvPr/>
        </p:nvSpPr>
        <p:spPr>
          <a:xfrm>
            <a:off x="2195096" y="5537297"/>
            <a:ext cx="764024"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15" name="Text 13"/>
          <p:cNvSpPr/>
          <p:nvPr/>
        </p:nvSpPr>
        <p:spPr>
          <a:xfrm>
            <a:off x="2349401" y="5615402"/>
            <a:ext cx="531614"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SDD</a:t>
            </a:r>
            <a:endParaRPr lang="en-US" sz="1800" dirty="0"/>
          </a:p>
        </p:txBody>
      </p:sp>
      <p:sp>
        <p:nvSpPr>
          <p:cNvPr id="16" name="Shape 14"/>
          <p:cNvSpPr/>
          <p:nvPr/>
        </p:nvSpPr>
        <p:spPr>
          <a:xfrm>
            <a:off x="3054310" y="5537297"/>
            <a:ext cx="1085671"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17" name="Text 15"/>
          <p:cNvSpPr/>
          <p:nvPr/>
        </p:nvSpPr>
        <p:spPr>
          <a:xfrm>
            <a:off x="3208615" y="5615402"/>
            <a:ext cx="853261"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Qualité</a:t>
            </a:r>
            <a:endParaRPr lang="en-US" sz="1800" dirty="0"/>
          </a:p>
        </p:txBody>
      </p:sp>
      <p:sp>
        <p:nvSpPr>
          <p:cNvPr id="18" name="Shape 16"/>
          <p:cNvSpPr/>
          <p:nvPr/>
        </p:nvSpPr>
        <p:spPr>
          <a:xfrm>
            <a:off x="4235172" y="5537297"/>
            <a:ext cx="1305877"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19" name="Text 17"/>
          <p:cNvSpPr/>
          <p:nvPr/>
        </p:nvSpPr>
        <p:spPr>
          <a:xfrm>
            <a:off x="4389477" y="5615402"/>
            <a:ext cx="1073467"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Anomalie</a:t>
            </a:r>
            <a:endParaRPr lang="en-US" sz="1800" dirty="0"/>
          </a:p>
        </p:txBody>
      </p:sp>
      <p:sp>
        <p:nvSpPr>
          <p:cNvPr id="20" name="Shape 18"/>
          <p:cNvSpPr/>
          <p:nvPr/>
        </p:nvSpPr>
        <p:spPr>
          <a:xfrm>
            <a:off x="9229724" y="3128907"/>
            <a:ext cx="8029574" cy="3112532"/>
          </a:xfrm>
          <a:prstGeom prst="roundRect">
            <a:avLst>
              <a:gd name="adj" fmla="val 10405"/>
            </a:avLst>
          </a:prstGeom>
          <a:solidFill>
            <a:srgbClr val="FFFFFF"/>
          </a:solidFill>
          <a:ln w="11430">
            <a:solidFill>
              <a:srgbClr val="46AFE8"/>
            </a:solidFill>
            <a:prstDash val="solid"/>
          </a:ln>
          <a:effectLst>
            <a:outerShdw sx="100000" sy="100000" kx="0" ky="0" algn="bl" rotWithShape="0" blurRad="666750" dist="285750" dir="5400000">
              <a:srgbClr val="00204F">
                <a:alpha val="45000"/>
              </a:srgbClr>
            </a:outerShdw>
          </a:effectLst>
        </p:spPr>
      </p:sp>
      <p:sp>
        <p:nvSpPr>
          <p:cNvPr id="21" name="Shape 19"/>
          <p:cNvSpPr/>
          <p:nvPr/>
        </p:nvSpPr>
        <p:spPr>
          <a:xfrm>
            <a:off x="9545835" y="3368937"/>
            <a:ext cx="476131" cy="476131"/>
          </a:xfrm>
          <a:prstGeom prst="roundRect">
            <a:avLst>
              <a:gd name="adj" fmla="val 28007"/>
            </a:avLst>
          </a:prstGeom>
          <a:solidFill>
            <a:srgbClr val="46AFE8"/>
          </a:solidFill>
          <a:ln/>
        </p:spPr>
      </p:sp>
      <p:sp>
        <p:nvSpPr>
          <p:cNvPr id="22" name="Text 20"/>
          <p:cNvSpPr/>
          <p:nvPr/>
        </p:nvSpPr>
        <p:spPr>
          <a:xfrm>
            <a:off x="9507735" y="3368937"/>
            <a:ext cx="552331" cy="514231"/>
          </a:xfrm>
          <a:prstGeom prst="rect">
            <a:avLst/>
          </a:prstGeom>
          <a:noFill/>
          <a:ln/>
        </p:spPr>
        <p:txBody>
          <a:bodyPr wrap="square" lIns="25400" tIns="25400" rIns="25400" bIns="25400" rtlCol="0" anchor="ctr">
            <a:normAutofit/>
          </a:bodyPr>
          <a:lstStyle/>
          <a:p>
            <a:pPr algn="ctr" indent="0" marL="0">
              <a:buNone/>
            </a:pPr>
            <a:r>
              <a:rPr lang="en-US" sz="1875" b="1" dirty="0">
                <a:solidFill>
                  <a:srgbClr val="FFFFFF"/>
                </a:solidFill>
                <a:latin typeface="Arial" pitchFamily="34" charset="0"/>
                <a:ea typeface="Arial" pitchFamily="34" charset="-122"/>
                <a:cs typeface="Arial" pitchFamily="34" charset="-120"/>
              </a:rPr>
              <a:t>02</a:t>
            </a:r>
            <a:endParaRPr lang="en-US" sz="1875" dirty="0"/>
          </a:p>
        </p:txBody>
      </p:sp>
      <p:sp>
        <p:nvSpPr>
          <p:cNvPr id="23" name="Text 21"/>
          <p:cNvSpPr/>
          <p:nvPr/>
        </p:nvSpPr>
        <p:spPr>
          <a:xfrm>
            <a:off x="10174307" y="3424123"/>
            <a:ext cx="3909890"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0F1E3D"/>
                </a:solidFill>
                <a:latin typeface="Arial" pitchFamily="34" charset="0"/>
                <a:ea typeface="Arial" pitchFamily="34" charset="-122"/>
                <a:cs typeface="Arial" pitchFamily="34" charset="-120"/>
              </a:rPr>
              <a:t>Sécurité des données par l'IA</a:t>
            </a:r>
            <a:endParaRPr lang="en-US" sz="2100" dirty="0"/>
          </a:p>
        </p:txBody>
      </p:sp>
      <p:sp>
        <p:nvSpPr>
          <p:cNvPr id="24" name="Shape 22"/>
          <p:cNvSpPr/>
          <p:nvPr/>
        </p:nvSpPr>
        <p:spPr>
          <a:xfrm>
            <a:off x="15774471" y="3378403"/>
            <a:ext cx="1168717" cy="457200"/>
          </a:xfrm>
          <a:prstGeom prst="roundRect">
            <a:avLst>
              <a:gd name="adj" fmla="val 50000"/>
            </a:avLst>
          </a:prstGeom>
          <a:solidFill>
            <a:srgbClr val="EDF3FA"/>
          </a:solidFill>
          <a:ln w="11430">
            <a:solidFill>
              <a:srgbClr val="0B2350">
                <a:alpha val="8000"/>
              </a:srgbClr>
            </a:solidFill>
            <a:prstDash val="solid"/>
          </a:ln>
        </p:spPr>
      </p:sp>
      <p:sp>
        <p:nvSpPr>
          <p:cNvPr id="25" name="Text 23"/>
          <p:cNvSpPr/>
          <p:nvPr/>
        </p:nvSpPr>
        <p:spPr>
          <a:xfrm>
            <a:off x="15928776" y="3446983"/>
            <a:ext cx="936307" cy="358140"/>
          </a:xfrm>
          <a:prstGeom prst="rect">
            <a:avLst/>
          </a:prstGeom>
          <a:noFill/>
          <a:ln/>
        </p:spPr>
        <p:txBody>
          <a:bodyPr wrap="square" lIns="25400" tIns="25400" rIns="25400" bIns="25400" rtlCol="0" anchor="ctr">
            <a:normAutofit/>
          </a:bodyPr>
          <a:lstStyle/>
          <a:p>
            <a:pPr algn="l" indent="0" marL="0">
              <a:buNone/>
            </a:pPr>
            <a:r>
              <a:rPr lang="en-US" sz="1800" b="1" dirty="0">
                <a:solidFill>
                  <a:srgbClr val="143A77"/>
                </a:solidFill>
                <a:latin typeface="Arial" pitchFamily="34" charset="0"/>
                <a:ea typeface="Arial" pitchFamily="34" charset="-122"/>
                <a:cs typeface="Arial" pitchFamily="34" charset="-120"/>
              </a:rPr>
              <a:t>Focus ↗</a:t>
            </a:r>
            <a:endParaRPr lang="en-US" sz="1800" dirty="0"/>
          </a:p>
        </p:txBody>
      </p:sp>
      <p:sp>
        <p:nvSpPr>
          <p:cNvPr id="26" name="Text 24"/>
          <p:cNvSpPr/>
          <p:nvPr/>
        </p:nvSpPr>
        <p:spPr>
          <a:xfrm>
            <a:off x="9545835" y="3959368"/>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C2453B"/>
                </a:solidFill>
                <a:latin typeface="Arial" pitchFamily="34" charset="0"/>
                <a:ea typeface="Arial" pitchFamily="34" charset="-122"/>
                <a:cs typeface="Arial" pitchFamily="34" charset="-120"/>
              </a:rPr>
              <a:t>⚠ Aujourd'hui </a:t>
            </a:r>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 LBP ne peut pas entraîner librement des modèles IA sur ses données : la donnée client est ultra-sensible.</a:t>
            </a:r>
            <a:endParaRPr lang="en-US" sz="1875" dirty="0"/>
          </a:p>
        </p:txBody>
      </p:sp>
      <p:sp>
        <p:nvSpPr>
          <p:cNvPr id="27" name="Text 25"/>
          <p:cNvSpPr/>
          <p:nvPr/>
        </p:nvSpPr>
        <p:spPr>
          <a:xfrm>
            <a:off x="9545835" y="4692317"/>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 </a:t>
            </a:r>
            <a:pPr algn="l" indent="0" marL="0">
              <a:lnSpc>
                <a:spcPct val="130000"/>
              </a:lnSpc>
              <a:buNone/>
            </a:pPr>
            <a:r>
              <a:rPr lang="en-US" sz="1875" dirty="0">
                <a:solidFill>
                  <a:srgbClr val="0F1E3D"/>
                </a:solidFill>
                <a:latin typeface="Arial" pitchFamily="34" charset="0"/>
                <a:ea typeface="Arial" pitchFamily="34" charset="-122"/>
                <a:cs typeface="Arial" pitchFamily="34" charset="-120"/>
              </a:rPr>
              <a:t>Utiliser l'IA pour sécuriser les transactions sans jamais exposer la donnée brute. Conformité RGPD native.</a:t>
            </a:r>
            <a:endParaRPr lang="en-US" sz="1875" dirty="0"/>
          </a:p>
        </p:txBody>
      </p:sp>
      <p:sp>
        <p:nvSpPr>
          <p:cNvPr id="28" name="Shape 26"/>
          <p:cNvSpPr/>
          <p:nvPr/>
        </p:nvSpPr>
        <p:spPr>
          <a:xfrm>
            <a:off x="9545835" y="5536708"/>
            <a:ext cx="914757"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29" name="Text 27"/>
          <p:cNvSpPr/>
          <p:nvPr/>
        </p:nvSpPr>
        <p:spPr>
          <a:xfrm>
            <a:off x="9700140" y="5614813"/>
            <a:ext cx="682347"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RGPD</a:t>
            </a:r>
            <a:endParaRPr lang="en-US" sz="1800" dirty="0"/>
          </a:p>
        </p:txBody>
      </p:sp>
      <p:sp>
        <p:nvSpPr>
          <p:cNvPr id="30" name="Shape 28"/>
          <p:cNvSpPr/>
          <p:nvPr/>
        </p:nvSpPr>
        <p:spPr>
          <a:xfrm>
            <a:off x="10555782" y="5536708"/>
            <a:ext cx="2381548"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31" name="Text 29"/>
          <p:cNvSpPr/>
          <p:nvPr/>
        </p:nvSpPr>
        <p:spPr>
          <a:xfrm>
            <a:off x="10710087" y="5614813"/>
            <a:ext cx="2149138"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Federated Learning</a:t>
            </a:r>
            <a:endParaRPr lang="en-US" sz="1800" dirty="0"/>
          </a:p>
        </p:txBody>
      </p:sp>
      <p:sp>
        <p:nvSpPr>
          <p:cNvPr id="32" name="Shape 30"/>
          <p:cNvSpPr/>
          <p:nvPr/>
        </p:nvSpPr>
        <p:spPr>
          <a:xfrm>
            <a:off x="13032521" y="5536708"/>
            <a:ext cx="1642527"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33" name="Text 31"/>
          <p:cNvSpPr/>
          <p:nvPr/>
        </p:nvSpPr>
        <p:spPr>
          <a:xfrm>
            <a:off x="13186826" y="5614813"/>
            <a:ext cx="1410117"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Confidentiel</a:t>
            </a:r>
            <a:endParaRPr lang="en-US" sz="1800" dirty="0"/>
          </a:p>
        </p:txBody>
      </p:sp>
      <p:sp>
        <p:nvSpPr>
          <p:cNvPr id="34" name="Shape 32"/>
          <p:cNvSpPr/>
          <p:nvPr/>
        </p:nvSpPr>
        <p:spPr>
          <a:xfrm>
            <a:off x="1028700" y="6422799"/>
            <a:ext cx="8029574" cy="3112710"/>
          </a:xfrm>
          <a:prstGeom prst="roundRect">
            <a:avLst>
              <a:gd name="adj" fmla="val 10404"/>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35" name="Shape 33"/>
          <p:cNvSpPr/>
          <p:nvPr/>
        </p:nvSpPr>
        <p:spPr>
          <a:xfrm>
            <a:off x="1344811" y="6662829"/>
            <a:ext cx="476131" cy="476131"/>
          </a:xfrm>
          <a:prstGeom prst="roundRect">
            <a:avLst>
              <a:gd name="adj" fmla="val 28007"/>
            </a:avLst>
          </a:prstGeom>
          <a:solidFill>
            <a:srgbClr val="E1EBF7"/>
          </a:solidFill>
          <a:ln/>
        </p:spPr>
      </p:sp>
      <p:sp>
        <p:nvSpPr>
          <p:cNvPr id="36" name="Text 34"/>
          <p:cNvSpPr/>
          <p:nvPr/>
        </p:nvSpPr>
        <p:spPr>
          <a:xfrm>
            <a:off x="1306711" y="6662829"/>
            <a:ext cx="552331" cy="514231"/>
          </a:xfrm>
          <a:prstGeom prst="rect">
            <a:avLst/>
          </a:prstGeom>
          <a:noFill/>
          <a:ln/>
        </p:spPr>
        <p:txBody>
          <a:bodyPr wrap="square" lIns="25400" tIns="25400" rIns="25400" bIns="25400" rtlCol="0" anchor="ctr">
            <a:normAutofit/>
          </a:bodyPr>
          <a:lstStyle/>
          <a:p>
            <a:pPr algn="ctr" indent="0" marL="0">
              <a:buNone/>
            </a:pPr>
            <a:r>
              <a:rPr lang="en-US" sz="1875" b="1" dirty="0">
                <a:solidFill>
                  <a:srgbClr val="143A77"/>
                </a:solidFill>
                <a:latin typeface="Arial" pitchFamily="34" charset="0"/>
                <a:ea typeface="Arial" pitchFamily="34" charset="-122"/>
                <a:cs typeface="Arial" pitchFamily="34" charset="-120"/>
              </a:rPr>
              <a:t>03</a:t>
            </a:r>
            <a:endParaRPr lang="en-US" sz="1875" dirty="0"/>
          </a:p>
        </p:txBody>
      </p:sp>
      <p:sp>
        <p:nvSpPr>
          <p:cNvPr id="37" name="Text 35"/>
          <p:cNvSpPr/>
          <p:nvPr/>
        </p:nvSpPr>
        <p:spPr>
          <a:xfrm>
            <a:off x="1973282" y="6718014"/>
            <a:ext cx="3092593"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0F1E3D"/>
                </a:solidFill>
                <a:latin typeface="Arial" pitchFamily="34" charset="0"/>
                <a:ea typeface="Arial" pitchFamily="34" charset="-122"/>
                <a:cs typeface="Arial" pitchFamily="34" charset="-120"/>
              </a:rPr>
              <a:t>Fiabilité du réseau GAB</a:t>
            </a:r>
            <a:endParaRPr lang="en-US" sz="2100" dirty="0"/>
          </a:p>
        </p:txBody>
      </p:sp>
      <p:sp>
        <p:nvSpPr>
          <p:cNvPr id="38" name="Text 36"/>
          <p:cNvSpPr/>
          <p:nvPr/>
        </p:nvSpPr>
        <p:spPr>
          <a:xfrm>
            <a:off x="1344811" y="7253260"/>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C2453B"/>
                </a:solidFill>
                <a:latin typeface="Arial" pitchFamily="34" charset="0"/>
                <a:ea typeface="Arial" pitchFamily="34" charset="-122"/>
                <a:cs typeface="Arial" pitchFamily="34" charset="-120"/>
              </a:rPr>
              <a:t>⚠ Aujourd'hui </a:t>
            </a:r>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 un retrait non-servi sur un automate n'est détecté qu'après coup. Le client est déjà impacté.</a:t>
            </a:r>
            <a:endParaRPr lang="en-US" sz="1875" dirty="0"/>
          </a:p>
        </p:txBody>
      </p:sp>
      <p:sp>
        <p:nvSpPr>
          <p:cNvPr id="39" name="Text 37"/>
          <p:cNvSpPr/>
          <p:nvPr/>
        </p:nvSpPr>
        <p:spPr>
          <a:xfrm>
            <a:off x="1344811" y="7986208"/>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 </a:t>
            </a:r>
            <a:pPr algn="l" indent="0" marL="0">
              <a:lnSpc>
                <a:spcPct val="130000"/>
              </a:lnSpc>
              <a:buNone/>
            </a:pPr>
            <a:r>
              <a:rPr lang="en-US" sz="1875" dirty="0">
                <a:solidFill>
                  <a:srgbClr val="0F1E3D"/>
                </a:solidFill>
                <a:latin typeface="Arial" pitchFamily="34" charset="0"/>
                <a:ea typeface="Arial" pitchFamily="34" charset="-122"/>
                <a:cs typeface="Arial" pitchFamily="34" charset="-120"/>
              </a:rPr>
              <a:t>Modéliser les données GAB (flux, incidents, horaires) pour prédire les pannes avant qu'elles arrivent.</a:t>
            </a:r>
            <a:endParaRPr lang="en-US" sz="1875" dirty="0"/>
          </a:p>
        </p:txBody>
      </p:sp>
      <p:sp>
        <p:nvSpPr>
          <p:cNvPr id="40" name="Shape 38"/>
          <p:cNvSpPr/>
          <p:nvPr/>
        </p:nvSpPr>
        <p:spPr>
          <a:xfrm>
            <a:off x="1344811" y="8830778"/>
            <a:ext cx="1380172"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41" name="Text 39"/>
          <p:cNvSpPr/>
          <p:nvPr/>
        </p:nvSpPr>
        <p:spPr>
          <a:xfrm>
            <a:off x="1499116" y="8908883"/>
            <a:ext cx="1147762"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GAB / DAB</a:t>
            </a:r>
            <a:endParaRPr lang="en-US" sz="1800" dirty="0"/>
          </a:p>
        </p:txBody>
      </p:sp>
      <p:sp>
        <p:nvSpPr>
          <p:cNvPr id="42" name="Shape 40"/>
          <p:cNvSpPr/>
          <p:nvPr/>
        </p:nvSpPr>
        <p:spPr>
          <a:xfrm>
            <a:off x="2820174" y="8830778"/>
            <a:ext cx="1568589"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43" name="Text 41"/>
          <p:cNvSpPr/>
          <p:nvPr/>
        </p:nvSpPr>
        <p:spPr>
          <a:xfrm>
            <a:off x="2974479" y="8908883"/>
            <a:ext cx="1336179"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ML prédictif</a:t>
            </a:r>
            <a:endParaRPr lang="en-US" sz="1800" dirty="0"/>
          </a:p>
        </p:txBody>
      </p:sp>
      <p:sp>
        <p:nvSpPr>
          <p:cNvPr id="44" name="Shape 42"/>
          <p:cNvSpPr/>
          <p:nvPr/>
        </p:nvSpPr>
        <p:spPr>
          <a:xfrm>
            <a:off x="4483953" y="8830778"/>
            <a:ext cx="1649135"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45" name="Text 43"/>
          <p:cNvSpPr/>
          <p:nvPr/>
        </p:nvSpPr>
        <p:spPr>
          <a:xfrm>
            <a:off x="4638258" y="8908883"/>
            <a:ext cx="1416725"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Disponibilité</a:t>
            </a:r>
            <a:endParaRPr lang="en-US" sz="1800" dirty="0"/>
          </a:p>
        </p:txBody>
      </p:sp>
      <p:sp>
        <p:nvSpPr>
          <p:cNvPr id="46" name="Shape 44"/>
          <p:cNvSpPr/>
          <p:nvPr/>
        </p:nvSpPr>
        <p:spPr>
          <a:xfrm>
            <a:off x="9229724" y="6434381"/>
            <a:ext cx="8029574" cy="3112710"/>
          </a:xfrm>
          <a:prstGeom prst="roundRect">
            <a:avLst>
              <a:gd name="adj" fmla="val 10404"/>
            </a:avLst>
          </a:prstGeom>
          <a:solidFill>
            <a:srgbClr val="FFFFFF"/>
          </a:solidFill>
          <a:ln w="11430">
            <a:solidFill>
              <a:srgbClr val="0B2350">
                <a:alpha val="8000"/>
              </a:srgbClr>
            </a:solidFill>
            <a:prstDash val="solid"/>
          </a:ln>
          <a:effectLst>
            <a:outerShdw sx="100000" sy="100000" kx="0" ky="0" algn="bl" rotWithShape="0" blurRad="419100" dist="171450" dir="5400000">
              <a:srgbClr val="00204F">
                <a:alpha val="40000"/>
              </a:srgbClr>
            </a:outerShdw>
          </a:effectLst>
        </p:spPr>
      </p:sp>
      <p:sp>
        <p:nvSpPr>
          <p:cNvPr id="47" name="Shape 45"/>
          <p:cNvSpPr/>
          <p:nvPr/>
        </p:nvSpPr>
        <p:spPr>
          <a:xfrm>
            <a:off x="9545835" y="6674411"/>
            <a:ext cx="476131" cy="476131"/>
          </a:xfrm>
          <a:prstGeom prst="roundRect">
            <a:avLst>
              <a:gd name="adj" fmla="val 28007"/>
            </a:avLst>
          </a:prstGeom>
          <a:solidFill>
            <a:srgbClr val="E1EBF7"/>
          </a:solidFill>
          <a:ln/>
        </p:spPr>
      </p:sp>
      <p:sp>
        <p:nvSpPr>
          <p:cNvPr id="48" name="Text 46"/>
          <p:cNvSpPr/>
          <p:nvPr/>
        </p:nvSpPr>
        <p:spPr>
          <a:xfrm>
            <a:off x="9507735" y="6674411"/>
            <a:ext cx="552331" cy="514231"/>
          </a:xfrm>
          <a:prstGeom prst="rect">
            <a:avLst/>
          </a:prstGeom>
          <a:noFill/>
          <a:ln/>
        </p:spPr>
        <p:txBody>
          <a:bodyPr wrap="square" lIns="25400" tIns="25400" rIns="25400" bIns="25400" rtlCol="0" anchor="ctr">
            <a:normAutofit/>
          </a:bodyPr>
          <a:lstStyle/>
          <a:p>
            <a:pPr algn="ctr" indent="0" marL="0">
              <a:buNone/>
            </a:pPr>
            <a:r>
              <a:rPr lang="en-US" sz="1875" b="1" dirty="0">
                <a:solidFill>
                  <a:srgbClr val="143A77"/>
                </a:solidFill>
                <a:latin typeface="Arial" pitchFamily="34" charset="0"/>
                <a:ea typeface="Arial" pitchFamily="34" charset="-122"/>
                <a:cs typeface="Arial" pitchFamily="34" charset="-120"/>
              </a:rPr>
              <a:t>04</a:t>
            </a:r>
            <a:endParaRPr lang="en-US" sz="1875" dirty="0"/>
          </a:p>
        </p:txBody>
      </p:sp>
      <p:sp>
        <p:nvSpPr>
          <p:cNvPr id="49" name="Text 47"/>
          <p:cNvSpPr/>
          <p:nvPr/>
        </p:nvSpPr>
        <p:spPr>
          <a:xfrm>
            <a:off x="10174307" y="6729596"/>
            <a:ext cx="5099505"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0F1E3D"/>
                </a:solidFill>
                <a:latin typeface="Arial" pitchFamily="34" charset="0"/>
                <a:ea typeface="Arial" pitchFamily="34" charset="-122"/>
                <a:cs typeface="Arial" pitchFamily="34" charset="-120"/>
              </a:rPr>
              <a:t>Surveillance des flux Instant Payment</a:t>
            </a:r>
            <a:endParaRPr lang="en-US" sz="2100" dirty="0"/>
          </a:p>
        </p:txBody>
      </p:sp>
      <p:sp>
        <p:nvSpPr>
          <p:cNvPr id="50" name="Text 48"/>
          <p:cNvSpPr/>
          <p:nvPr/>
        </p:nvSpPr>
        <p:spPr>
          <a:xfrm>
            <a:off x="9545835" y="7264841"/>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C2453B"/>
                </a:solidFill>
                <a:latin typeface="Arial" pitchFamily="34" charset="0"/>
                <a:ea typeface="Arial" pitchFamily="34" charset="-122"/>
                <a:cs typeface="Arial" pitchFamily="34" charset="-120"/>
              </a:rPr>
              <a:t>⚠ Aujourd'hui </a:t>
            </a:r>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 le SCT Inst doit être traité en moins de 10 s, 24h/24. Aucun modèle de surveillance n'est adapté à cette contrainte.</a:t>
            </a:r>
            <a:endParaRPr lang="en-US" sz="1875" dirty="0"/>
          </a:p>
        </p:txBody>
      </p:sp>
      <p:sp>
        <p:nvSpPr>
          <p:cNvPr id="51" name="Text 49"/>
          <p:cNvSpPr/>
          <p:nvPr/>
        </p:nvSpPr>
        <p:spPr>
          <a:xfrm>
            <a:off x="9545835" y="7997790"/>
            <a:ext cx="7619273"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 </a:t>
            </a:r>
            <a:pPr algn="l" indent="0" marL="0">
              <a:lnSpc>
                <a:spcPct val="130000"/>
              </a:lnSpc>
              <a:buNone/>
            </a:pPr>
            <a:r>
              <a:rPr lang="en-US" sz="1875" dirty="0">
                <a:solidFill>
                  <a:srgbClr val="0F1E3D"/>
                </a:solidFill>
                <a:latin typeface="Arial" pitchFamily="34" charset="0"/>
                <a:ea typeface="Arial" pitchFamily="34" charset="-122"/>
                <a:cs typeface="Arial" pitchFamily="34" charset="-120"/>
              </a:rPr>
              <a:t>Surveiller en temps réel : détecter les comportements suspects sans ralentir le paiement.</a:t>
            </a:r>
            <a:endParaRPr lang="en-US" sz="1875" dirty="0"/>
          </a:p>
        </p:txBody>
      </p:sp>
      <p:sp>
        <p:nvSpPr>
          <p:cNvPr id="52" name="Shape 50"/>
          <p:cNvSpPr/>
          <p:nvPr/>
        </p:nvSpPr>
        <p:spPr>
          <a:xfrm>
            <a:off x="9545835" y="8842360"/>
            <a:ext cx="1204436"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53" name="Text 51"/>
          <p:cNvSpPr/>
          <p:nvPr/>
        </p:nvSpPr>
        <p:spPr>
          <a:xfrm>
            <a:off x="9700140" y="8920465"/>
            <a:ext cx="972026"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SCT Inst</a:t>
            </a:r>
            <a:endParaRPr lang="en-US" sz="1800" dirty="0"/>
          </a:p>
        </p:txBody>
      </p:sp>
      <p:sp>
        <p:nvSpPr>
          <p:cNvPr id="54" name="Shape 52"/>
          <p:cNvSpPr/>
          <p:nvPr/>
        </p:nvSpPr>
        <p:spPr>
          <a:xfrm>
            <a:off x="10845462" y="8842360"/>
            <a:ext cx="1471612"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55" name="Text 53"/>
          <p:cNvSpPr/>
          <p:nvPr/>
        </p:nvSpPr>
        <p:spPr>
          <a:xfrm>
            <a:off x="10999767" y="8920465"/>
            <a:ext cx="1239202"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Temps réel</a:t>
            </a:r>
            <a:endParaRPr lang="en-US" sz="1800" dirty="0"/>
          </a:p>
        </p:txBody>
      </p:sp>
      <p:sp>
        <p:nvSpPr>
          <p:cNvPr id="56" name="Shape 54"/>
          <p:cNvSpPr/>
          <p:nvPr/>
        </p:nvSpPr>
        <p:spPr>
          <a:xfrm>
            <a:off x="12412264" y="8842360"/>
            <a:ext cx="1428036" cy="464701"/>
          </a:xfrm>
          <a:prstGeom prst="roundRect">
            <a:avLst>
              <a:gd name="adj" fmla="val 50000"/>
            </a:avLst>
          </a:prstGeom>
          <a:solidFill>
            <a:srgbClr val="002E73">
              <a:alpha val="4000"/>
            </a:srgbClr>
          </a:solidFill>
          <a:ln w="11430">
            <a:solidFill>
              <a:srgbClr val="0B2350">
                <a:alpha val="8000"/>
              </a:srgbClr>
            </a:solidFill>
            <a:prstDash val="solid"/>
          </a:ln>
        </p:spPr>
      </p:sp>
      <p:sp>
        <p:nvSpPr>
          <p:cNvPr id="57" name="Text 55"/>
          <p:cNvSpPr/>
          <p:nvPr/>
        </p:nvSpPr>
        <p:spPr>
          <a:xfrm>
            <a:off x="12566569" y="8920465"/>
            <a:ext cx="1195626" cy="346591"/>
          </a:xfrm>
          <a:prstGeom prst="rect">
            <a:avLst/>
          </a:prstGeom>
          <a:noFill/>
          <a:ln/>
        </p:spPr>
        <p:txBody>
          <a:bodyPr wrap="square" lIns="25400" tIns="25400" rIns="25400" bIns="25400" rtlCol="0" anchor="t">
            <a:normAutofit/>
          </a:bodyPr>
          <a:lstStyle/>
          <a:p>
            <a:pPr algn="l" indent="0" marL="0">
              <a:buNone/>
            </a:pPr>
            <a:r>
              <a:rPr lang="en-US" sz="1800" dirty="0">
                <a:solidFill>
                  <a:srgbClr val="5E6E8E"/>
                </a:solidFill>
                <a:latin typeface="Arial" pitchFamily="34" charset="0"/>
                <a:ea typeface="Arial" pitchFamily="34" charset="-122"/>
                <a:cs typeface="Arial" pitchFamily="34" charset="-120"/>
              </a:rPr>
              <a:t>EBA · SEPA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1904881" y="-1714500"/>
            <a:ext cx="4952940" cy="4952940"/>
          </a:xfrm>
          <a:prstGeom prst="ellipse">
            <a:avLst/>
          </a:prstGeom>
          <a:ln w="11430">
            <a:solidFill>
              <a:srgbClr val="46AFE8">
                <a:alpha val="20000"/>
              </a:srgbClr>
            </a:solidFill>
            <a:prstDash val="solid"/>
          </a:ln>
        </p:spPr>
      </p:sp>
      <p:sp>
        <p:nvSpPr>
          <p:cNvPr id="3" name="Shape 1"/>
          <p:cNvSpPr/>
          <p:nvPr/>
        </p:nvSpPr>
        <p:spPr>
          <a:xfrm>
            <a:off x="-3143250" y="-2857500"/>
            <a:ext cx="7619880" cy="7619880"/>
          </a:xfrm>
          <a:prstGeom prst="ellipse">
            <a:avLst/>
          </a:prstGeom>
          <a:ln w="11430">
            <a:solidFill>
              <a:srgbClr val="9FD4F1">
                <a:alpha val="13000"/>
              </a:srgbClr>
            </a:solidFill>
            <a:prstDash val="solid"/>
          </a:ln>
        </p:spPr>
      </p:sp>
      <p:sp>
        <p:nvSpPr>
          <p:cNvPr id="4" name="Shape 2"/>
          <p:cNvSpPr/>
          <p:nvPr/>
        </p:nvSpPr>
        <p:spPr>
          <a:xfrm>
            <a:off x="1028700" y="911506"/>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5" name="Text 3"/>
          <p:cNvSpPr/>
          <p:nvPr/>
        </p:nvSpPr>
        <p:spPr>
          <a:xfrm>
            <a:off x="1304806" y="819173"/>
            <a:ext cx="2640624"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6AFE8"/>
                </a:solidFill>
                <a:latin typeface="Arial" pitchFamily="34" charset="0"/>
                <a:ea typeface="Arial" pitchFamily="34" charset="-122"/>
                <a:cs typeface="Arial" pitchFamily="34" charset="-120"/>
              </a:rPr>
              <a:t>06 — SUJET PHARE</a:t>
            </a:r>
            <a:endParaRPr lang="en-US" sz="1800" dirty="0"/>
          </a:p>
        </p:txBody>
      </p:sp>
      <p:sp>
        <p:nvSpPr>
          <p:cNvPr id="6" name="Text 4"/>
          <p:cNvSpPr/>
          <p:nvPr/>
        </p:nvSpPr>
        <p:spPr>
          <a:xfrm>
            <a:off x="1028700" y="1299951"/>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FFFFFF"/>
                </a:solidFill>
                <a:latin typeface="Arial" pitchFamily="34" charset="0"/>
                <a:ea typeface="Arial" pitchFamily="34" charset="-122"/>
                <a:cs typeface="Arial" pitchFamily="34" charset="-120"/>
              </a:rPr>
              <a:t>Focus — Sécuriser les données de paiement par l'IA</a:t>
            </a:r>
            <a:endParaRPr lang="en-US" sz="4350" dirty="0"/>
          </a:p>
        </p:txBody>
      </p:sp>
      <p:sp>
        <p:nvSpPr>
          <p:cNvPr id="7" name="Shape 5"/>
          <p:cNvSpPr/>
          <p:nvPr/>
        </p:nvSpPr>
        <p:spPr>
          <a:xfrm>
            <a:off x="1028700" y="2160059"/>
            <a:ext cx="16230599" cy="1226225"/>
          </a:xfrm>
          <a:prstGeom prst="roundRect">
            <a:avLst>
              <a:gd name="adj" fmla="val 26410"/>
            </a:avLst>
          </a:prstGeom>
          <a:solidFill>
            <a:srgbClr val="C2453B">
              <a:alpha val="13000"/>
            </a:srgbClr>
          </a:solidFill>
          <a:ln w="11430">
            <a:solidFill>
              <a:srgbClr val="FF8C82">
                <a:alpha val="30000"/>
              </a:srgbClr>
            </a:solidFill>
            <a:prstDash val="solid"/>
          </a:ln>
        </p:spPr>
      </p:sp>
      <p:sp>
        <p:nvSpPr>
          <p:cNvPr id="8" name="Text 6"/>
          <p:cNvSpPr/>
          <p:nvPr/>
        </p:nvSpPr>
        <p:spPr>
          <a:xfrm>
            <a:off x="1383030" y="2438130"/>
            <a:ext cx="15987597" cy="708184"/>
          </a:xfrm>
          <a:prstGeom prst="rect">
            <a:avLst/>
          </a:prstGeom>
          <a:noFill/>
          <a:ln/>
        </p:spPr>
        <p:txBody>
          <a:bodyPr wrap="square" lIns="25400" tIns="25400" rIns="25400" bIns="25400" rtlCol="0" anchor="t">
            <a:normAutofit/>
          </a:bodyPr>
          <a:lstStyle/>
          <a:p>
            <a:pPr algn="l" indent="0" marL="0">
              <a:lnSpc>
                <a:spcPct val="136000"/>
              </a:lnSpc>
              <a:buNone/>
            </a:pPr>
            <a:r>
              <a:rPr lang="en-US" sz="1875" b="1" dirty="0">
                <a:solidFill>
                  <a:srgbClr val="FF9B90"/>
                </a:solidFill>
                <a:latin typeface="Arial" pitchFamily="34" charset="0"/>
                <a:ea typeface="Arial" pitchFamily="34" charset="-122"/>
                <a:cs typeface="Arial" pitchFamily="34" charset="-120"/>
              </a:rPr>
              <a:t>⚠ Le vrai problème — </a:t>
            </a:r>
            <a:pPr algn="l" indent="0" marL="0">
              <a:lnSpc>
                <a:spcPct val="136000"/>
              </a:lnSpc>
              <a:buNone/>
            </a:pPr>
            <a:r>
              <a:rPr lang="en-US" sz="1875" dirty="0">
                <a:solidFill>
                  <a:srgbClr val="FFFFFF"/>
                </a:solidFill>
                <a:latin typeface="Arial" pitchFamily="34" charset="0"/>
                <a:ea typeface="Arial" pitchFamily="34" charset="-122"/>
                <a:cs typeface="Arial" pitchFamily="34" charset="-120"/>
              </a:rPr>
              <a:t>LBP traite des millions de transactions contenant des données ultra-sensibles. Pour utiliser l'IA il faut résoudre une contradiction : </a:t>
            </a:r>
            <a:pPr algn="l" indent="0" marL="0">
              <a:lnSpc>
                <a:spcPct val="136000"/>
              </a:lnSpc>
              <a:buNone/>
            </a:pPr>
            <a:r>
              <a:rPr lang="en-US" sz="1875" b="1" dirty="0">
                <a:solidFill>
                  <a:srgbClr val="FFFFFF"/>
                </a:solidFill>
                <a:latin typeface="Arial" pitchFamily="34" charset="0"/>
                <a:ea typeface="Arial" pitchFamily="34" charset="-122"/>
                <a:cs typeface="Arial" pitchFamily="34" charset="-120"/>
              </a:rPr>
              <a:t>les modèles ont besoin de données — mais ces données ne doivent pas être exposées.</a:t>
            </a:r>
            <a:endParaRPr lang="en-US" sz="1875" dirty="0"/>
          </a:p>
        </p:txBody>
      </p:sp>
      <p:sp>
        <p:nvSpPr>
          <p:cNvPr id="9" name="Shape 7"/>
          <p:cNvSpPr/>
          <p:nvPr/>
        </p:nvSpPr>
        <p:spPr>
          <a:xfrm>
            <a:off x="1028700" y="3676580"/>
            <a:ext cx="4929544" cy="1771471"/>
          </a:xfrm>
          <a:prstGeom prst="roundRect">
            <a:avLst>
              <a:gd name="adj" fmla="val 18281"/>
            </a:avLst>
          </a:prstGeom>
          <a:solidFill>
            <a:srgbClr val="FFFFFF">
              <a:alpha val="5000"/>
            </a:srgbClr>
          </a:solidFill>
          <a:ln w="11430">
            <a:solidFill>
              <a:srgbClr val="FFFFFF">
                <a:alpha val="13000"/>
              </a:srgbClr>
            </a:solidFill>
            <a:prstDash val="solid"/>
          </a:ln>
        </p:spPr>
      </p:sp>
      <p:sp>
        <p:nvSpPr>
          <p:cNvPr id="10" name="Text 8"/>
          <p:cNvSpPr/>
          <p:nvPr/>
        </p:nvSpPr>
        <p:spPr>
          <a:xfrm>
            <a:off x="1260852" y="3973759"/>
            <a:ext cx="4465240" cy="403860"/>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Transactions LBP</a:t>
            </a:r>
            <a:endParaRPr lang="en-US" sz="2100" dirty="0"/>
          </a:p>
        </p:txBody>
      </p:sp>
      <p:sp>
        <p:nvSpPr>
          <p:cNvPr id="11" name="Text 9"/>
          <p:cNvSpPr/>
          <p:nvPr/>
        </p:nvSpPr>
        <p:spPr>
          <a:xfrm>
            <a:off x="1260852" y="4434710"/>
            <a:ext cx="4465240" cy="346710"/>
          </a:xfrm>
          <a:prstGeom prst="rect">
            <a:avLst/>
          </a:prstGeom>
          <a:noFill/>
          <a:ln/>
        </p:spPr>
        <p:txBody>
          <a:bodyPr wrap="square" lIns="25400" tIns="25400" rIns="25400" bIns="25400" rtlCol="0" anchor="t">
            <a:normAutofit/>
          </a:bodyPr>
          <a:lstStyle/>
          <a:p>
            <a:pPr algn="ctr" indent="0" marL="0">
              <a:buNone/>
            </a:pPr>
            <a:r>
              <a:rPr lang="en-US" sz="1800" b="1" dirty="0">
                <a:solidFill>
                  <a:srgbClr val="46AFE8"/>
                </a:solidFill>
                <a:latin typeface="Arial" pitchFamily="34" charset="0"/>
                <a:ea typeface="Arial" pitchFamily="34" charset="-122"/>
                <a:cs typeface="Arial" pitchFamily="34" charset="-120"/>
              </a:rPr>
              <a:t>SCT · IP · CB · GAB</a:t>
            </a:r>
            <a:endParaRPr lang="en-US" sz="1800" dirty="0"/>
          </a:p>
        </p:txBody>
      </p:sp>
      <p:sp>
        <p:nvSpPr>
          <p:cNvPr id="12" name="Text 10"/>
          <p:cNvSpPr/>
          <p:nvPr/>
        </p:nvSpPr>
        <p:spPr>
          <a:xfrm>
            <a:off x="1260852" y="4876551"/>
            <a:ext cx="4465240" cy="312420"/>
          </a:xfrm>
          <a:prstGeom prst="rect">
            <a:avLst/>
          </a:prstGeom>
          <a:noFill/>
          <a:ln/>
        </p:spPr>
        <p:txBody>
          <a:bodyPr wrap="square" lIns="25400" tIns="25400" rIns="25400" bIns="25400" rtlCol="0" anchor="t">
            <a:normAutofit/>
          </a:bodyPr>
          <a:lstStyle/>
          <a:p>
            <a:pPr algn="ctr" indent="0" marL="0">
              <a:buNone/>
            </a:pPr>
            <a:r>
              <a:rPr lang="en-US" sz="1875" dirty="0">
                <a:solidFill>
                  <a:srgbClr val="FFFFFF">
                    <a:alpha val="72000"/>
                  </a:srgbClr>
                </a:solidFill>
                <a:latin typeface="Arial" pitchFamily="34" charset="0"/>
                <a:ea typeface="Arial" pitchFamily="34" charset="-122"/>
                <a:cs typeface="Arial" pitchFamily="34" charset="-120"/>
              </a:rPr>
              <a:t>La donnée reste en local</a:t>
            </a:r>
            <a:endParaRPr lang="en-US" sz="1875" dirty="0"/>
          </a:p>
        </p:txBody>
      </p:sp>
      <p:sp>
        <p:nvSpPr>
          <p:cNvPr id="13" name="Text 11"/>
          <p:cNvSpPr/>
          <p:nvPr/>
        </p:nvSpPr>
        <p:spPr>
          <a:xfrm>
            <a:off x="6091594" y="3676580"/>
            <a:ext cx="454283" cy="1809571"/>
          </a:xfrm>
          <a:prstGeom prst="rect">
            <a:avLst/>
          </a:prstGeom>
          <a:noFill/>
          <a:ln/>
        </p:spPr>
        <p:txBody>
          <a:bodyPr wrap="square" lIns="25400" tIns="25400" rIns="25400" bIns="25400" rtlCol="0" anchor="ctr">
            <a:normAutofit/>
          </a:bodyPr>
          <a:lstStyle/>
          <a:p>
            <a:pPr algn="ctr" indent="0" marL="0">
              <a:buNone/>
            </a:pPr>
            <a:r>
              <a:rPr lang="en-US" sz="3450" dirty="0">
                <a:solidFill>
                  <a:srgbClr val="46AFE8"/>
                </a:solidFill>
                <a:latin typeface="Arial" pitchFamily="34" charset="0"/>
                <a:ea typeface="Arial" pitchFamily="34" charset="-122"/>
                <a:cs typeface="Arial" pitchFamily="34" charset="-120"/>
              </a:rPr>
              <a:t>→</a:t>
            </a:r>
            <a:endParaRPr lang="en-US" sz="3450" dirty="0"/>
          </a:p>
        </p:txBody>
      </p:sp>
      <p:sp>
        <p:nvSpPr>
          <p:cNvPr id="14" name="Shape 12"/>
          <p:cNvSpPr/>
          <p:nvPr/>
        </p:nvSpPr>
        <p:spPr>
          <a:xfrm>
            <a:off x="6679227" y="3676580"/>
            <a:ext cx="4929544" cy="1771471"/>
          </a:xfrm>
          <a:prstGeom prst="roundRect">
            <a:avLst>
              <a:gd name="adj" fmla="val 18281"/>
            </a:avLst>
          </a:prstGeom>
          <a:solidFill>
            <a:srgbClr val="3CA8E4">
              <a:alpha val="20000"/>
            </a:srgbClr>
          </a:solidFill>
          <a:ln w="11430">
            <a:solidFill>
              <a:srgbClr val="3CA8E4">
                <a:alpha val="40000"/>
              </a:srgbClr>
            </a:solidFill>
            <a:prstDash val="solid"/>
          </a:ln>
        </p:spPr>
      </p:sp>
      <p:sp>
        <p:nvSpPr>
          <p:cNvPr id="15" name="Text 13"/>
          <p:cNvSpPr/>
          <p:nvPr/>
        </p:nvSpPr>
        <p:spPr>
          <a:xfrm>
            <a:off x="6911380" y="3973759"/>
            <a:ext cx="4465240" cy="403860"/>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Modèle IA de sécurité</a:t>
            </a:r>
            <a:endParaRPr lang="en-US" sz="2100" dirty="0"/>
          </a:p>
        </p:txBody>
      </p:sp>
      <p:sp>
        <p:nvSpPr>
          <p:cNvPr id="16" name="Text 14"/>
          <p:cNvSpPr/>
          <p:nvPr/>
        </p:nvSpPr>
        <p:spPr>
          <a:xfrm>
            <a:off x="6911380" y="4434710"/>
            <a:ext cx="4465240" cy="346710"/>
          </a:xfrm>
          <a:prstGeom prst="rect">
            <a:avLst/>
          </a:prstGeom>
          <a:noFill/>
          <a:ln/>
        </p:spPr>
        <p:txBody>
          <a:bodyPr wrap="square" lIns="25400" tIns="25400" rIns="25400" bIns="25400" rtlCol="0" anchor="t">
            <a:normAutofit/>
          </a:bodyPr>
          <a:lstStyle/>
          <a:p>
            <a:pPr algn="ctr" indent="0" marL="0">
              <a:buNone/>
            </a:pPr>
            <a:r>
              <a:rPr lang="en-US" sz="1800" b="1" dirty="0">
                <a:solidFill>
                  <a:srgbClr val="46AFE8"/>
                </a:solidFill>
                <a:latin typeface="Arial" pitchFamily="34" charset="0"/>
                <a:ea typeface="Arial" pitchFamily="34" charset="-122"/>
                <a:cs typeface="Arial" pitchFamily="34" charset="-120"/>
              </a:rPr>
              <a:t>Federated Learning</a:t>
            </a:r>
            <a:endParaRPr lang="en-US" sz="1800" dirty="0"/>
          </a:p>
        </p:txBody>
      </p:sp>
      <p:sp>
        <p:nvSpPr>
          <p:cNvPr id="17" name="Text 15"/>
          <p:cNvSpPr/>
          <p:nvPr/>
        </p:nvSpPr>
        <p:spPr>
          <a:xfrm>
            <a:off x="6911380" y="4876551"/>
            <a:ext cx="4465240" cy="312420"/>
          </a:xfrm>
          <a:prstGeom prst="rect">
            <a:avLst/>
          </a:prstGeom>
          <a:noFill/>
          <a:ln/>
        </p:spPr>
        <p:txBody>
          <a:bodyPr wrap="square" lIns="25400" tIns="25400" rIns="25400" bIns="25400" rtlCol="0" anchor="t">
            <a:normAutofit/>
          </a:bodyPr>
          <a:lstStyle/>
          <a:p>
            <a:pPr algn="ctr" indent="0" marL="0">
              <a:buNone/>
            </a:pPr>
            <a:r>
              <a:rPr lang="en-US" sz="1875" dirty="0">
                <a:solidFill>
                  <a:srgbClr val="FFFFFF">
                    <a:alpha val="82000"/>
                  </a:srgbClr>
                </a:solidFill>
                <a:latin typeface="Arial" pitchFamily="34" charset="0"/>
                <a:ea typeface="Arial" pitchFamily="34" charset="-122"/>
                <a:cs typeface="Arial" pitchFamily="34" charset="-120"/>
              </a:rPr>
              <a:t>Entraîné sans voir la donnée brute</a:t>
            </a:r>
            <a:endParaRPr lang="en-US" sz="1875" dirty="0"/>
          </a:p>
        </p:txBody>
      </p:sp>
      <p:sp>
        <p:nvSpPr>
          <p:cNvPr id="18" name="Text 16"/>
          <p:cNvSpPr/>
          <p:nvPr/>
        </p:nvSpPr>
        <p:spPr>
          <a:xfrm>
            <a:off x="11742122" y="3676580"/>
            <a:ext cx="454283" cy="1809571"/>
          </a:xfrm>
          <a:prstGeom prst="rect">
            <a:avLst/>
          </a:prstGeom>
          <a:noFill/>
          <a:ln/>
        </p:spPr>
        <p:txBody>
          <a:bodyPr wrap="square" lIns="25400" tIns="25400" rIns="25400" bIns="25400" rtlCol="0" anchor="ctr">
            <a:normAutofit/>
          </a:bodyPr>
          <a:lstStyle/>
          <a:p>
            <a:pPr algn="ctr" indent="0" marL="0">
              <a:buNone/>
            </a:pPr>
            <a:r>
              <a:rPr lang="en-US" sz="3450" dirty="0">
                <a:solidFill>
                  <a:srgbClr val="46AFE8"/>
                </a:solidFill>
                <a:latin typeface="Arial" pitchFamily="34" charset="0"/>
                <a:ea typeface="Arial" pitchFamily="34" charset="-122"/>
                <a:cs typeface="Arial" pitchFamily="34" charset="-120"/>
              </a:rPr>
              <a:t>→</a:t>
            </a:r>
            <a:endParaRPr lang="en-US" sz="3450" dirty="0"/>
          </a:p>
        </p:txBody>
      </p:sp>
      <p:sp>
        <p:nvSpPr>
          <p:cNvPr id="19" name="Shape 17"/>
          <p:cNvSpPr/>
          <p:nvPr/>
        </p:nvSpPr>
        <p:spPr>
          <a:xfrm>
            <a:off x="12329754" y="3676580"/>
            <a:ext cx="4929544" cy="1771471"/>
          </a:xfrm>
          <a:prstGeom prst="roundRect">
            <a:avLst>
              <a:gd name="adj" fmla="val 18281"/>
            </a:avLst>
          </a:prstGeom>
          <a:solidFill>
            <a:srgbClr val="FFFFFF">
              <a:alpha val="5000"/>
            </a:srgbClr>
          </a:solidFill>
          <a:ln w="11430">
            <a:solidFill>
              <a:srgbClr val="FFFFFF">
                <a:alpha val="13000"/>
              </a:srgbClr>
            </a:solidFill>
            <a:prstDash val="solid"/>
          </a:ln>
        </p:spPr>
      </p:sp>
      <p:sp>
        <p:nvSpPr>
          <p:cNvPr id="20" name="Text 18"/>
          <p:cNvSpPr/>
          <p:nvPr/>
        </p:nvSpPr>
        <p:spPr>
          <a:xfrm>
            <a:off x="12561907" y="3973759"/>
            <a:ext cx="4465240" cy="403860"/>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Résultat confidentiel</a:t>
            </a:r>
            <a:endParaRPr lang="en-US" sz="2100" dirty="0"/>
          </a:p>
        </p:txBody>
      </p:sp>
      <p:sp>
        <p:nvSpPr>
          <p:cNvPr id="21" name="Text 19"/>
          <p:cNvSpPr/>
          <p:nvPr/>
        </p:nvSpPr>
        <p:spPr>
          <a:xfrm>
            <a:off x="12561907" y="4434710"/>
            <a:ext cx="4465240" cy="346710"/>
          </a:xfrm>
          <a:prstGeom prst="rect">
            <a:avLst/>
          </a:prstGeom>
          <a:noFill/>
          <a:ln/>
        </p:spPr>
        <p:txBody>
          <a:bodyPr wrap="square" lIns="25400" tIns="25400" rIns="25400" bIns="25400" rtlCol="0" anchor="t">
            <a:normAutofit/>
          </a:bodyPr>
          <a:lstStyle/>
          <a:p>
            <a:pPr algn="ctr" indent="0" marL="0">
              <a:buNone/>
            </a:pPr>
            <a:r>
              <a:rPr lang="en-US" sz="1800" b="1" dirty="0">
                <a:solidFill>
                  <a:srgbClr val="46AFE8"/>
                </a:solidFill>
                <a:latin typeface="Arial" pitchFamily="34" charset="0"/>
                <a:ea typeface="Arial" pitchFamily="34" charset="-122"/>
                <a:cs typeface="Arial" pitchFamily="34" charset="-120"/>
              </a:rPr>
              <a:t>Alerte · Conformité</a:t>
            </a:r>
            <a:endParaRPr lang="en-US" sz="1800" dirty="0"/>
          </a:p>
        </p:txBody>
      </p:sp>
      <p:sp>
        <p:nvSpPr>
          <p:cNvPr id="22" name="Text 20"/>
          <p:cNvSpPr/>
          <p:nvPr/>
        </p:nvSpPr>
        <p:spPr>
          <a:xfrm>
            <a:off x="12561907" y="4876551"/>
            <a:ext cx="4465240" cy="312420"/>
          </a:xfrm>
          <a:prstGeom prst="rect">
            <a:avLst/>
          </a:prstGeom>
          <a:noFill/>
          <a:ln/>
        </p:spPr>
        <p:txBody>
          <a:bodyPr wrap="square" lIns="25400" tIns="25400" rIns="25400" bIns="25400" rtlCol="0" anchor="t">
            <a:normAutofit/>
          </a:bodyPr>
          <a:lstStyle/>
          <a:p>
            <a:pPr algn="ctr" indent="0" marL="0">
              <a:buNone/>
            </a:pPr>
            <a:r>
              <a:rPr lang="en-US" sz="1875" dirty="0">
                <a:solidFill>
                  <a:srgbClr val="FFFFFF">
                    <a:alpha val="72000"/>
                  </a:srgbClr>
                </a:solidFill>
                <a:latin typeface="Arial" pitchFamily="34" charset="0"/>
                <a:ea typeface="Arial" pitchFamily="34" charset="-122"/>
                <a:cs typeface="Arial" pitchFamily="34" charset="-120"/>
              </a:rPr>
              <a:t>RGPD garantie</a:t>
            </a:r>
            <a:endParaRPr lang="en-US" sz="1875" dirty="0"/>
          </a:p>
        </p:txBody>
      </p:sp>
      <p:sp>
        <p:nvSpPr>
          <p:cNvPr id="23" name="Text 21"/>
          <p:cNvSpPr/>
          <p:nvPr/>
        </p:nvSpPr>
        <p:spPr>
          <a:xfrm>
            <a:off x="785241" y="5741151"/>
            <a:ext cx="16717517" cy="508694"/>
          </a:xfrm>
          <a:prstGeom prst="rect">
            <a:avLst/>
          </a:prstGeom>
          <a:noFill/>
          <a:ln/>
        </p:spPr>
        <p:txBody>
          <a:bodyPr wrap="square" lIns="25400" tIns="25400" rIns="25400" bIns="25400" rtlCol="0" anchor="t">
            <a:normAutofit/>
          </a:bodyPr>
          <a:lstStyle/>
          <a:p>
            <a:pPr algn="ctr" indent="0" marL="0">
              <a:lnSpc>
                <a:spcPct val="130000"/>
              </a:lnSpc>
              <a:buNone/>
            </a:pPr>
            <a:r>
              <a:rPr lang="en-US" sz="2850" dirty="0">
                <a:solidFill>
                  <a:srgbClr val="FFFFFF"/>
                </a:solidFill>
                <a:latin typeface="Georgia" pitchFamily="34" charset="0"/>
                <a:ea typeface="Georgia" pitchFamily="34" charset="-122"/>
                <a:cs typeface="Georgia" pitchFamily="34" charset="-120"/>
              </a:rPr>
              <a:t>« Le modèle se déplace vers la donnée — </a:t>
            </a:r>
            <a:pPr algn="ctr" indent="0" marL="0">
              <a:lnSpc>
                <a:spcPct val="130000"/>
              </a:lnSpc>
              <a:buNone/>
            </a:pPr>
            <a:r>
              <a:rPr lang="en-US" sz="2850" dirty="0">
                <a:solidFill>
                  <a:srgbClr val="46AFE8"/>
                </a:solidFill>
                <a:latin typeface="Georgia" pitchFamily="34" charset="0"/>
                <a:ea typeface="Georgia" pitchFamily="34" charset="-122"/>
                <a:cs typeface="Georgia" pitchFamily="34" charset="-120"/>
              </a:rPr>
              <a:t>la donnée ne se déplace jamais vers le modèle. </a:t>
            </a:r>
            <a:pPr algn="ctr" indent="0" marL="0">
              <a:lnSpc>
                <a:spcPct val="130000"/>
              </a:lnSpc>
              <a:buNone/>
            </a:pPr>
            <a:r>
              <a:rPr lang="en-US" sz="2850" dirty="0">
                <a:solidFill>
                  <a:srgbClr val="FFFFFF"/>
                </a:solidFill>
                <a:latin typeface="Georgia" pitchFamily="34" charset="0"/>
                <a:ea typeface="Georgia" pitchFamily="34" charset="-122"/>
                <a:cs typeface="Georgia" pitchFamily="34" charset="-120"/>
              </a:rPr>
              <a:t>»</a:t>
            </a:r>
            <a:endParaRPr lang="en-US" sz="2850" dirty="0"/>
          </a:p>
        </p:txBody>
      </p:sp>
      <p:sp>
        <p:nvSpPr>
          <p:cNvPr id="24" name="Shape 22"/>
          <p:cNvSpPr/>
          <p:nvPr/>
        </p:nvSpPr>
        <p:spPr>
          <a:xfrm>
            <a:off x="1028700" y="8854239"/>
            <a:ext cx="22860" cy="697230"/>
          </a:xfrm>
          <a:prstGeom prst="rect">
            <a:avLst/>
          </a:prstGeom>
          <a:solidFill>
            <a:srgbClr val="46AFE8"/>
          </a:solidFill>
          <a:ln/>
        </p:spPr>
      </p:sp>
      <p:sp>
        <p:nvSpPr>
          <p:cNvPr id="25" name="Text 23"/>
          <p:cNvSpPr/>
          <p:nvPr/>
        </p:nvSpPr>
        <p:spPr>
          <a:xfrm>
            <a:off x="1261050" y="8854239"/>
            <a:ext cx="5189273"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 Conformité RGPD by design</a:t>
            </a:r>
            <a:endParaRPr lang="en-US" sz="2100" dirty="0"/>
          </a:p>
        </p:txBody>
      </p:sp>
      <p:sp>
        <p:nvSpPr>
          <p:cNvPr id="26" name="Text 24"/>
          <p:cNvSpPr/>
          <p:nvPr/>
        </p:nvSpPr>
        <p:spPr>
          <a:xfrm>
            <a:off x="1261050" y="9277149"/>
            <a:ext cx="5189273" cy="312420"/>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72000"/>
                  </a:srgbClr>
                </a:solidFill>
                <a:latin typeface="Arial" pitchFamily="34" charset="0"/>
                <a:ea typeface="Arial" pitchFamily="34" charset="-122"/>
                <a:cs typeface="Arial" pitchFamily="34" charset="-120"/>
              </a:rPr>
              <a:t>Aucune donnée brute ne quitte LBP</a:t>
            </a:r>
            <a:endParaRPr lang="en-US" sz="1875" dirty="0"/>
          </a:p>
        </p:txBody>
      </p:sp>
      <p:sp>
        <p:nvSpPr>
          <p:cNvPr id="27" name="Shape 25"/>
          <p:cNvSpPr/>
          <p:nvPr/>
        </p:nvSpPr>
        <p:spPr>
          <a:xfrm>
            <a:off x="6508670" y="8854239"/>
            <a:ext cx="22860" cy="697230"/>
          </a:xfrm>
          <a:prstGeom prst="rect">
            <a:avLst/>
          </a:prstGeom>
          <a:solidFill>
            <a:srgbClr val="46AFE8"/>
          </a:solidFill>
          <a:ln/>
        </p:spPr>
      </p:sp>
      <p:sp>
        <p:nvSpPr>
          <p:cNvPr id="28" name="Text 26"/>
          <p:cNvSpPr/>
          <p:nvPr/>
        </p:nvSpPr>
        <p:spPr>
          <a:xfrm>
            <a:off x="6741021" y="8854239"/>
            <a:ext cx="5189273"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 Sécurisation en temps réel</a:t>
            </a:r>
            <a:endParaRPr lang="en-US" sz="2100" dirty="0"/>
          </a:p>
        </p:txBody>
      </p:sp>
      <p:sp>
        <p:nvSpPr>
          <p:cNvPr id="29" name="Text 27"/>
          <p:cNvSpPr/>
          <p:nvPr/>
        </p:nvSpPr>
        <p:spPr>
          <a:xfrm>
            <a:off x="6741021" y="9277149"/>
            <a:ext cx="5189273" cy="312420"/>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72000"/>
                  </a:srgbClr>
                </a:solidFill>
                <a:latin typeface="Arial" pitchFamily="34" charset="0"/>
                <a:ea typeface="Arial" pitchFamily="34" charset="-122"/>
                <a:cs typeface="Arial" pitchFamily="34" charset="-120"/>
              </a:rPr>
              <a:t>Applicable sur Instant Payment (&lt; 10 s)</a:t>
            </a:r>
            <a:endParaRPr lang="en-US" sz="1875" dirty="0"/>
          </a:p>
        </p:txBody>
      </p:sp>
      <p:sp>
        <p:nvSpPr>
          <p:cNvPr id="30" name="Shape 28"/>
          <p:cNvSpPr/>
          <p:nvPr/>
        </p:nvSpPr>
        <p:spPr>
          <a:xfrm>
            <a:off x="11988640" y="8854239"/>
            <a:ext cx="22860" cy="697230"/>
          </a:xfrm>
          <a:prstGeom prst="rect">
            <a:avLst/>
          </a:prstGeom>
          <a:solidFill>
            <a:srgbClr val="46AFE8"/>
          </a:solidFill>
          <a:ln/>
        </p:spPr>
      </p:sp>
      <p:sp>
        <p:nvSpPr>
          <p:cNvPr id="31" name="Text 29"/>
          <p:cNvSpPr/>
          <p:nvPr/>
        </p:nvSpPr>
        <p:spPr>
          <a:xfrm>
            <a:off x="12220991" y="8854239"/>
            <a:ext cx="5189457"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 Avantage concurrentiel</a:t>
            </a:r>
            <a:endParaRPr lang="en-US" sz="2100" dirty="0"/>
          </a:p>
        </p:txBody>
      </p:sp>
      <p:sp>
        <p:nvSpPr>
          <p:cNvPr id="32" name="Text 30"/>
          <p:cNvSpPr/>
          <p:nvPr/>
        </p:nvSpPr>
        <p:spPr>
          <a:xfrm>
            <a:off x="12220991" y="9277149"/>
            <a:ext cx="5189457" cy="312420"/>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72000"/>
                  </a:srgbClr>
                </a:solidFill>
                <a:latin typeface="Arial" pitchFamily="34" charset="0"/>
                <a:ea typeface="Arial" pitchFamily="34" charset="-122"/>
                <a:cs typeface="Arial" pitchFamily="34" charset="-120"/>
              </a:rPr>
              <a:t>Peu de banques françaises l'ont exploré</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1028700" y="911418"/>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3" name="Text 1"/>
          <p:cNvSpPr/>
          <p:nvPr/>
        </p:nvSpPr>
        <p:spPr>
          <a:xfrm>
            <a:off x="1304806" y="819085"/>
            <a:ext cx="3315175"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2A96D6"/>
                </a:solidFill>
                <a:latin typeface="Arial" pitchFamily="34" charset="0"/>
                <a:ea typeface="Arial" pitchFamily="34" charset="-122"/>
                <a:cs typeface="Arial" pitchFamily="34" charset="-120"/>
              </a:rPr>
              <a:t>07 — FEUILLE DE ROUTE</a:t>
            </a:r>
            <a:endParaRPr lang="en-US" sz="1800" dirty="0"/>
          </a:p>
        </p:txBody>
      </p:sp>
      <p:sp>
        <p:nvSpPr>
          <p:cNvPr id="4" name="Text 2"/>
          <p:cNvSpPr/>
          <p:nvPr/>
        </p:nvSpPr>
        <p:spPr>
          <a:xfrm>
            <a:off x="1028700" y="1299686"/>
            <a:ext cx="16717517" cy="612457"/>
          </a:xfrm>
          <a:prstGeom prst="rect">
            <a:avLst/>
          </a:prstGeom>
          <a:noFill/>
          <a:ln/>
        </p:spPr>
        <p:txBody>
          <a:bodyPr wrap="square" lIns="25400" tIns="25400" rIns="25400" bIns="25400" rtlCol="0" anchor="t">
            <a:normAutofit/>
          </a:bodyPr>
          <a:lstStyle/>
          <a:p>
            <a:pPr algn="l" indent="0" marL="0">
              <a:lnSpc>
                <a:spcPct val="104000"/>
              </a:lnSpc>
              <a:buNone/>
            </a:pPr>
            <a:r>
              <a:rPr lang="en-US" sz="4350" b="1" spc="-87" kern="0" dirty="0">
                <a:solidFill>
                  <a:srgbClr val="0F1E3D"/>
                </a:solidFill>
                <a:latin typeface="Arial" pitchFamily="34" charset="0"/>
                <a:ea typeface="Arial" pitchFamily="34" charset="-122"/>
                <a:cs typeface="Arial" pitchFamily="34" charset="-120"/>
              </a:rPr>
              <a:t>Calendrier &amp; prochaines étapes</a:t>
            </a:r>
            <a:endParaRPr lang="en-US" sz="4350" dirty="0"/>
          </a:p>
        </p:txBody>
      </p:sp>
      <p:sp>
        <p:nvSpPr>
          <p:cNvPr id="5" name="Shape 3"/>
          <p:cNvSpPr/>
          <p:nvPr/>
        </p:nvSpPr>
        <p:spPr>
          <a:xfrm>
            <a:off x="1028700" y="2606754"/>
            <a:ext cx="16230599" cy="28575"/>
          </a:xfrm>
          <a:prstGeom prst="roundRect">
            <a:avLst>
              <a:gd name="adj" fmla="val 50000"/>
            </a:avLst>
          </a:prstGeom>
          <a:solidFill>
            <a:srgbClr val="46AFE8"/>
          </a:solidFill>
          <a:ln/>
        </p:spPr>
      </p:sp>
      <p:sp>
        <p:nvSpPr>
          <p:cNvPr id="6" name="Shape 4"/>
          <p:cNvSpPr/>
          <p:nvPr/>
        </p:nvSpPr>
        <p:spPr>
          <a:xfrm>
            <a:off x="1028700" y="2293024"/>
            <a:ext cx="628650" cy="628650"/>
          </a:xfrm>
          <a:prstGeom prst="ellipse">
            <a:avLst/>
          </a:prstGeom>
          <a:solidFill>
            <a:srgbClr val="46AFE8"/>
          </a:solidFill>
          <a:ln/>
          <a:effectLst>
            <a:outerShdw sx="100000" sy="100000" kx="0" ky="0" algn="bl" rotWithShape="0" blurRad="101600" dist="50800" dir="16200000">
              <a:srgbClr val="F7F9FC">
                <a:alpha val="100000"/>
              </a:srgbClr>
            </a:outerShdw>
          </a:effectLst>
        </p:spPr>
      </p:sp>
      <p:sp>
        <p:nvSpPr>
          <p:cNvPr id="7" name="Text 5"/>
          <p:cNvSpPr/>
          <p:nvPr/>
        </p:nvSpPr>
        <p:spPr>
          <a:xfrm>
            <a:off x="990600" y="2293024"/>
            <a:ext cx="704850" cy="66675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8" name="Shape 6"/>
          <p:cNvSpPr/>
          <p:nvPr/>
        </p:nvSpPr>
        <p:spPr>
          <a:xfrm>
            <a:off x="1028700" y="3131165"/>
            <a:ext cx="1623239" cy="502920"/>
          </a:xfrm>
          <a:prstGeom prst="roundRect">
            <a:avLst>
              <a:gd name="adj" fmla="val 50000"/>
            </a:avLst>
          </a:prstGeom>
          <a:solidFill>
            <a:srgbClr val="EDF3FA"/>
          </a:solidFill>
          <a:ln w="11430">
            <a:solidFill>
              <a:srgbClr val="0B2350">
                <a:alpha val="8000"/>
              </a:srgbClr>
            </a:solidFill>
            <a:prstDash val="solid"/>
          </a:ln>
        </p:spPr>
      </p:sp>
      <p:sp>
        <p:nvSpPr>
          <p:cNvPr id="9" name="Text 7"/>
          <p:cNvSpPr/>
          <p:nvPr/>
        </p:nvSpPr>
        <p:spPr>
          <a:xfrm>
            <a:off x="1211580" y="3228320"/>
            <a:ext cx="1333679"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143A77"/>
                </a:solidFill>
                <a:latin typeface="Arial" pitchFamily="34" charset="0"/>
                <a:ea typeface="Arial" pitchFamily="34" charset="-122"/>
                <a:cs typeface="Arial" pitchFamily="34" charset="-120"/>
              </a:rPr>
              <a:t>Maintenant</a:t>
            </a:r>
            <a:endParaRPr lang="en-US" sz="1800" dirty="0"/>
          </a:p>
        </p:txBody>
      </p:sp>
      <p:sp>
        <p:nvSpPr>
          <p:cNvPr id="10" name="Text 8"/>
          <p:cNvSpPr/>
          <p:nvPr/>
        </p:nvSpPr>
        <p:spPr>
          <a:xfrm>
            <a:off x="1028700" y="3786425"/>
            <a:ext cx="4002786" cy="344567"/>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F1E3D"/>
                </a:solidFill>
                <a:latin typeface="Arial" pitchFamily="34" charset="0"/>
                <a:ea typeface="Arial" pitchFamily="34" charset="-122"/>
                <a:cs typeface="Arial" pitchFamily="34" charset="-120"/>
              </a:rPr>
              <a:t>Validation du principe</a:t>
            </a:r>
            <a:endParaRPr lang="en-US" sz="2100" dirty="0"/>
          </a:p>
        </p:txBody>
      </p:sp>
      <p:sp>
        <p:nvSpPr>
          <p:cNvPr id="11" name="Text 9"/>
          <p:cNvSpPr/>
          <p:nvPr/>
        </p:nvSpPr>
        <p:spPr>
          <a:xfrm>
            <a:off x="1028700" y="4264342"/>
            <a:ext cx="142994" cy="347424"/>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2" name="Text 10"/>
          <p:cNvSpPr/>
          <p:nvPr/>
        </p:nvSpPr>
        <p:spPr>
          <a:xfrm>
            <a:off x="1209794" y="4287202"/>
            <a:ext cx="3353437" cy="300990"/>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On valide le principe ensemble</a:t>
            </a:r>
            <a:endParaRPr lang="en-US" sz="1875" dirty="0"/>
          </a:p>
        </p:txBody>
      </p:sp>
      <p:sp>
        <p:nvSpPr>
          <p:cNvPr id="13" name="Text 11"/>
          <p:cNvSpPr/>
          <p:nvPr/>
        </p:nvSpPr>
        <p:spPr>
          <a:xfrm>
            <a:off x="1028700" y="4706897"/>
            <a:ext cx="142994"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4" name="Text 12"/>
          <p:cNvSpPr/>
          <p:nvPr/>
        </p:nvSpPr>
        <p:spPr>
          <a:xfrm>
            <a:off x="1209794" y="4729757"/>
            <a:ext cx="3154769" cy="610314"/>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On choisit l'axe de recherche prioritaire</a:t>
            </a:r>
            <a:endParaRPr lang="en-US" sz="1875" dirty="0"/>
          </a:p>
        </p:txBody>
      </p:sp>
      <p:sp>
        <p:nvSpPr>
          <p:cNvPr id="15" name="Text 13"/>
          <p:cNvSpPr/>
          <p:nvPr/>
        </p:nvSpPr>
        <p:spPr>
          <a:xfrm>
            <a:off x="1028700" y="5458777"/>
            <a:ext cx="142994" cy="347424"/>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16" name="Text 14"/>
          <p:cNvSpPr/>
          <p:nvPr/>
        </p:nvSpPr>
        <p:spPr>
          <a:xfrm>
            <a:off x="1209794" y="5481637"/>
            <a:ext cx="3755003" cy="300990"/>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J'identifie un laboratoire partenaire</a:t>
            </a:r>
            <a:endParaRPr lang="en-US" sz="1875" dirty="0"/>
          </a:p>
        </p:txBody>
      </p:sp>
      <p:sp>
        <p:nvSpPr>
          <p:cNvPr id="17" name="Shape 15"/>
          <p:cNvSpPr/>
          <p:nvPr/>
        </p:nvSpPr>
        <p:spPr>
          <a:xfrm>
            <a:off x="5143499" y="2296979"/>
            <a:ext cx="628650" cy="628650"/>
          </a:xfrm>
          <a:prstGeom prst="ellipse">
            <a:avLst/>
          </a:prstGeom>
          <a:solidFill>
            <a:srgbClr val="FFFFFF"/>
          </a:solidFill>
          <a:ln w="22860">
            <a:solidFill>
              <a:srgbClr val="46AFE8"/>
            </a:solidFill>
            <a:prstDash val="solid"/>
          </a:ln>
          <a:effectLst>
            <a:outerShdw sx="100000" sy="100000" kx="0" ky="0" algn="bl" rotWithShape="0" blurRad="101600" dist="50800" dir="16200000">
              <a:srgbClr val="F7F9FC">
                <a:alpha val="100000"/>
              </a:srgbClr>
            </a:outerShdw>
          </a:effectLst>
        </p:spPr>
      </p:sp>
      <p:sp>
        <p:nvSpPr>
          <p:cNvPr id="18" name="Text 16"/>
          <p:cNvSpPr/>
          <p:nvPr/>
        </p:nvSpPr>
        <p:spPr>
          <a:xfrm>
            <a:off x="5128259" y="2319839"/>
            <a:ext cx="659130" cy="621030"/>
          </a:xfrm>
          <a:prstGeom prst="rect">
            <a:avLst/>
          </a:prstGeom>
          <a:noFill/>
          <a:ln/>
        </p:spPr>
        <p:txBody>
          <a:bodyPr wrap="square" lIns="25400" tIns="25400" rIns="25400" bIns="25400" rtlCol="0" anchor="ctr">
            <a:normAutofit/>
          </a:bodyPr>
          <a:lstStyle/>
          <a:p>
            <a:pPr algn="ctr" indent="0" marL="0">
              <a:buNone/>
            </a:pPr>
            <a:r>
              <a:rPr lang="en-US" sz="1950" b="1" dirty="0">
                <a:solidFill>
                  <a:srgbClr val="143A77"/>
                </a:solidFill>
                <a:latin typeface="Arial" pitchFamily="34" charset="0"/>
                <a:ea typeface="Arial" pitchFamily="34" charset="-122"/>
                <a:cs typeface="Arial" pitchFamily="34" charset="-120"/>
              </a:rPr>
              <a:t>2</a:t>
            </a:r>
            <a:endParaRPr lang="en-US" sz="1950" dirty="0"/>
          </a:p>
        </p:txBody>
      </p:sp>
      <p:sp>
        <p:nvSpPr>
          <p:cNvPr id="19" name="Shape 17"/>
          <p:cNvSpPr/>
          <p:nvPr/>
        </p:nvSpPr>
        <p:spPr>
          <a:xfrm>
            <a:off x="5143499" y="3135120"/>
            <a:ext cx="1334274" cy="502920"/>
          </a:xfrm>
          <a:prstGeom prst="roundRect">
            <a:avLst>
              <a:gd name="adj" fmla="val 50000"/>
            </a:avLst>
          </a:prstGeom>
          <a:solidFill>
            <a:srgbClr val="EDF3FA"/>
          </a:solidFill>
          <a:ln w="11430">
            <a:solidFill>
              <a:srgbClr val="0B2350">
                <a:alpha val="8000"/>
              </a:srgbClr>
            </a:solidFill>
            <a:prstDash val="solid"/>
          </a:ln>
        </p:spPr>
      </p:sp>
      <p:sp>
        <p:nvSpPr>
          <p:cNvPr id="20" name="Text 18"/>
          <p:cNvSpPr/>
          <p:nvPr/>
        </p:nvSpPr>
        <p:spPr>
          <a:xfrm>
            <a:off x="5326379" y="3232275"/>
            <a:ext cx="1044714"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143A77"/>
                </a:solidFill>
                <a:latin typeface="Arial" pitchFamily="34" charset="0"/>
                <a:ea typeface="Arial" pitchFamily="34" charset="-122"/>
                <a:cs typeface="Arial" pitchFamily="34" charset="-120"/>
              </a:rPr>
              <a:t>Été 2026</a:t>
            </a:r>
            <a:endParaRPr lang="en-US" sz="1800" dirty="0"/>
          </a:p>
        </p:txBody>
      </p:sp>
      <p:sp>
        <p:nvSpPr>
          <p:cNvPr id="21" name="Text 19"/>
          <p:cNvSpPr/>
          <p:nvPr/>
        </p:nvSpPr>
        <p:spPr>
          <a:xfrm>
            <a:off x="5143499" y="3790380"/>
            <a:ext cx="4002786" cy="344567"/>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F1E3D"/>
                </a:solidFill>
                <a:latin typeface="Arial" pitchFamily="34" charset="0"/>
                <a:ea typeface="Arial" pitchFamily="34" charset="-122"/>
                <a:cs typeface="Arial" pitchFamily="34" charset="-120"/>
              </a:rPr>
              <a:t>Montage du dossier ANRT</a:t>
            </a:r>
            <a:endParaRPr lang="en-US" sz="2100" dirty="0"/>
          </a:p>
        </p:txBody>
      </p:sp>
      <p:sp>
        <p:nvSpPr>
          <p:cNvPr id="22" name="Text 20"/>
          <p:cNvSpPr/>
          <p:nvPr/>
        </p:nvSpPr>
        <p:spPr>
          <a:xfrm>
            <a:off x="5143499" y="4268297"/>
            <a:ext cx="142994" cy="347424"/>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23" name="Text 21"/>
          <p:cNvSpPr/>
          <p:nvPr/>
        </p:nvSpPr>
        <p:spPr>
          <a:xfrm>
            <a:off x="5324594" y="4291157"/>
            <a:ext cx="3626237" cy="300990"/>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Je contacte un directeur de thèse</a:t>
            </a:r>
            <a:endParaRPr lang="en-US" sz="1875" dirty="0"/>
          </a:p>
        </p:txBody>
      </p:sp>
      <p:sp>
        <p:nvSpPr>
          <p:cNvPr id="24" name="Text 22"/>
          <p:cNvSpPr/>
          <p:nvPr/>
        </p:nvSpPr>
        <p:spPr>
          <a:xfrm>
            <a:off x="5143499" y="4710852"/>
            <a:ext cx="142994"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25" name="Text 23"/>
          <p:cNvSpPr/>
          <p:nvPr/>
        </p:nvSpPr>
        <p:spPr>
          <a:xfrm>
            <a:off x="5324594" y="4733712"/>
            <a:ext cx="3524144" cy="610314"/>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Je rédige le projet de thèse (~10 pages)</a:t>
            </a:r>
            <a:endParaRPr lang="en-US" sz="1875" dirty="0"/>
          </a:p>
        </p:txBody>
      </p:sp>
      <p:sp>
        <p:nvSpPr>
          <p:cNvPr id="26" name="Text 24"/>
          <p:cNvSpPr/>
          <p:nvPr/>
        </p:nvSpPr>
        <p:spPr>
          <a:xfrm>
            <a:off x="5143499" y="5462732"/>
            <a:ext cx="142994"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27" name="Text 25"/>
          <p:cNvSpPr/>
          <p:nvPr/>
        </p:nvSpPr>
        <p:spPr>
          <a:xfrm>
            <a:off x="5324594" y="5485592"/>
            <a:ext cx="3325477" cy="610314"/>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On soumet le dossier CIFRE à l'ANRT</a:t>
            </a:r>
            <a:endParaRPr lang="en-US" sz="1875" dirty="0"/>
          </a:p>
        </p:txBody>
      </p:sp>
      <p:sp>
        <p:nvSpPr>
          <p:cNvPr id="28" name="Shape 26"/>
          <p:cNvSpPr/>
          <p:nvPr/>
        </p:nvSpPr>
        <p:spPr>
          <a:xfrm>
            <a:off x="9258299" y="2303576"/>
            <a:ext cx="628650" cy="628650"/>
          </a:xfrm>
          <a:prstGeom prst="ellipse">
            <a:avLst/>
          </a:prstGeom>
          <a:solidFill>
            <a:srgbClr val="FFFFFF"/>
          </a:solidFill>
          <a:ln w="22860">
            <a:solidFill>
              <a:srgbClr val="46AFE8"/>
            </a:solidFill>
            <a:prstDash val="solid"/>
          </a:ln>
          <a:effectLst>
            <a:outerShdw sx="100000" sy="100000" kx="0" ky="0" algn="bl" rotWithShape="0" blurRad="101600" dist="50800" dir="16200000">
              <a:srgbClr val="F7F9FC">
                <a:alpha val="100000"/>
              </a:srgbClr>
            </a:outerShdw>
          </a:effectLst>
        </p:spPr>
      </p:sp>
      <p:sp>
        <p:nvSpPr>
          <p:cNvPr id="29" name="Text 27"/>
          <p:cNvSpPr/>
          <p:nvPr/>
        </p:nvSpPr>
        <p:spPr>
          <a:xfrm>
            <a:off x="9243059" y="2326436"/>
            <a:ext cx="659130" cy="621030"/>
          </a:xfrm>
          <a:prstGeom prst="rect">
            <a:avLst/>
          </a:prstGeom>
          <a:noFill/>
          <a:ln/>
        </p:spPr>
        <p:txBody>
          <a:bodyPr wrap="square" lIns="25400" tIns="25400" rIns="25400" bIns="25400" rtlCol="0" anchor="ctr">
            <a:normAutofit/>
          </a:bodyPr>
          <a:lstStyle/>
          <a:p>
            <a:pPr algn="ctr" indent="0" marL="0">
              <a:buNone/>
            </a:pPr>
            <a:r>
              <a:rPr lang="en-US" sz="1950" b="1" dirty="0">
                <a:solidFill>
                  <a:srgbClr val="143A77"/>
                </a:solidFill>
                <a:latin typeface="Arial" pitchFamily="34" charset="0"/>
                <a:ea typeface="Arial" pitchFamily="34" charset="-122"/>
                <a:cs typeface="Arial" pitchFamily="34" charset="-120"/>
              </a:rPr>
              <a:t>3</a:t>
            </a:r>
            <a:endParaRPr lang="en-US" sz="1950" dirty="0"/>
          </a:p>
        </p:txBody>
      </p:sp>
      <p:sp>
        <p:nvSpPr>
          <p:cNvPr id="30" name="Shape 28"/>
          <p:cNvSpPr/>
          <p:nvPr/>
        </p:nvSpPr>
        <p:spPr>
          <a:xfrm>
            <a:off x="9258299" y="3141717"/>
            <a:ext cx="1616631" cy="502920"/>
          </a:xfrm>
          <a:prstGeom prst="roundRect">
            <a:avLst>
              <a:gd name="adj" fmla="val 50000"/>
            </a:avLst>
          </a:prstGeom>
          <a:solidFill>
            <a:srgbClr val="EDF3FA"/>
          </a:solidFill>
          <a:ln w="11430">
            <a:solidFill>
              <a:srgbClr val="0B2350">
                <a:alpha val="8000"/>
              </a:srgbClr>
            </a:solidFill>
            <a:prstDash val="solid"/>
          </a:ln>
        </p:spPr>
      </p:sp>
      <p:sp>
        <p:nvSpPr>
          <p:cNvPr id="31" name="Text 29"/>
          <p:cNvSpPr/>
          <p:nvPr/>
        </p:nvSpPr>
        <p:spPr>
          <a:xfrm>
            <a:off x="9441179" y="3238872"/>
            <a:ext cx="1327071"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143A77"/>
                </a:solidFill>
                <a:latin typeface="Arial" pitchFamily="34" charset="0"/>
                <a:ea typeface="Arial" pitchFamily="34" charset="-122"/>
                <a:cs typeface="Arial" pitchFamily="34" charset="-120"/>
              </a:rPr>
              <a:t>Début 2027</a:t>
            </a:r>
            <a:endParaRPr lang="en-US" sz="1800" dirty="0"/>
          </a:p>
        </p:txBody>
      </p:sp>
      <p:sp>
        <p:nvSpPr>
          <p:cNvPr id="32" name="Text 30"/>
          <p:cNvSpPr/>
          <p:nvPr/>
        </p:nvSpPr>
        <p:spPr>
          <a:xfrm>
            <a:off x="9258299" y="3796977"/>
            <a:ext cx="4002786" cy="344567"/>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F1E3D"/>
                </a:solidFill>
                <a:latin typeface="Arial" pitchFamily="34" charset="0"/>
                <a:ea typeface="Arial" pitchFamily="34" charset="-122"/>
                <a:cs typeface="Arial" pitchFamily="34" charset="-120"/>
              </a:rPr>
              <a:t>Instruction &amp; démarrage</a:t>
            </a:r>
            <a:endParaRPr lang="en-US" sz="2100" dirty="0"/>
          </a:p>
        </p:txBody>
      </p:sp>
      <p:sp>
        <p:nvSpPr>
          <p:cNvPr id="33" name="Text 31"/>
          <p:cNvSpPr/>
          <p:nvPr/>
        </p:nvSpPr>
        <p:spPr>
          <a:xfrm>
            <a:off x="9258299" y="4274894"/>
            <a:ext cx="142994"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34" name="Text 32"/>
          <p:cNvSpPr/>
          <p:nvPr/>
        </p:nvSpPr>
        <p:spPr>
          <a:xfrm>
            <a:off x="9439394" y="4297754"/>
            <a:ext cx="3179418" cy="610314"/>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L'ANRT instruit le dossier (~2 mois)</a:t>
            </a:r>
            <a:endParaRPr lang="en-US" sz="1875" dirty="0"/>
          </a:p>
        </p:txBody>
      </p:sp>
      <p:sp>
        <p:nvSpPr>
          <p:cNvPr id="35" name="Text 33"/>
          <p:cNvSpPr/>
          <p:nvPr/>
        </p:nvSpPr>
        <p:spPr>
          <a:xfrm>
            <a:off x="9258299" y="5026773"/>
            <a:ext cx="142994" cy="347424"/>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36" name="Text 34"/>
          <p:cNvSpPr/>
          <p:nvPr/>
        </p:nvSpPr>
        <p:spPr>
          <a:xfrm>
            <a:off x="9439394" y="5026773"/>
            <a:ext cx="624661" cy="347424"/>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143A77"/>
                </a:solidFill>
                <a:latin typeface="Arial" pitchFamily="34" charset="0"/>
                <a:ea typeface="Arial" pitchFamily="34" charset="-122"/>
                <a:cs typeface="Arial" pitchFamily="34" charset="-120"/>
              </a:rPr>
              <a:t>93 %</a:t>
            </a:r>
            <a:endParaRPr lang="en-US" sz="1875" dirty="0"/>
          </a:p>
        </p:txBody>
      </p:sp>
      <p:sp>
        <p:nvSpPr>
          <p:cNvPr id="37" name="Text 35"/>
          <p:cNvSpPr/>
          <p:nvPr/>
        </p:nvSpPr>
        <p:spPr>
          <a:xfrm>
            <a:off x="10102154" y="5049634"/>
            <a:ext cx="3087076" cy="300990"/>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de taux d'acceptation (2023)</a:t>
            </a:r>
            <a:endParaRPr lang="en-US" sz="1875" dirty="0"/>
          </a:p>
        </p:txBody>
      </p:sp>
      <p:sp>
        <p:nvSpPr>
          <p:cNvPr id="38" name="Text 36"/>
          <p:cNvSpPr/>
          <p:nvPr/>
        </p:nvSpPr>
        <p:spPr>
          <a:xfrm>
            <a:off x="9258299" y="5469329"/>
            <a:ext cx="142994" cy="656748"/>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39" name="Text 37"/>
          <p:cNvSpPr/>
          <p:nvPr/>
        </p:nvSpPr>
        <p:spPr>
          <a:xfrm>
            <a:off x="9439394" y="5492189"/>
            <a:ext cx="2904043" cy="610314"/>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Signature de la convention tripartite</a:t>
            </a:r>
            <a:endParaRPr lang="en-US" sz="1875" dirty="0"/>
          </a:p>
        </p:txBody>
      </p:sp>
      <p:sp>
        <p:nvSpPr>
          <p:cNvPr id="40" name="Shape 38"/>
          <p:cNvSpPr/>
          <p:nvPr/>
        </p:nvSpPr>
        <p:spPr>
          <a:xfrm>
            <a:off x="13373099" y="2315797"/>
            <a:ext cx="628650" cy="628650"/>
          </a:xfrm>
          <a:prstGeom prst="ellipse">
            <a:avLst/>
          </a:prstGeom>
          <a:solidFill>
            <a:srgbClr val="FFFFFF"/>
          </a:solidFill>
          <a:ln w="22860">
            <a:solidFill>
              <a:srgbClr val="46AFE8"/>
            </a:solidFill>
            <a:prstDash val="solid"/>
          </a:ln>
          <a:effectLst>
            <a:outerShdw sx="100000" sy="100000" kx="0" ky="0" algn="bl" rotWithShape="0" blurRad="101600" dist="50800" dir="16200000">
              <a:srgbClr val="F7F9FC">
                <a:alpha val="100000"/>
              </a:srgbClr>
            </a:outerShdw>
          </a:effectLst>
        </p:spPr>
      </p:sp>
      <p:sp>
        <p:nvSpPr>
          <p:cNvPr id="41" name="Text 39"/>
          <p:cNvSpPr/>
          <p:nvPr/>
        </p:nvSpPr>
        <p:spPr>
          <a:xfrm>
            <a:off x="13357859" y="2338657"/>
            <a:ext cx="659130" cy="621030"/>
          </a:xfrm>
          <a:prstGeom prst="rect">
            <a:avLst/>
          </a:prstGeom>
          <a:noFill/>
          <a:ln/>
        </p:spPr>
        <p:txBody>
          <a:bodyPr wrap="square" lIns="25400" tIns="25400" rIns="25400" bIns="25400" rtlCol="0" anchor="ctr">
            <a:normAutofit/>
          </a:bodyPr>
          <a:lstStyle/>
          <a:p>
            <a:pPr algn="ctr" indent="0" marL="0">
              <a:buNone/>
            </a:pPr>
            <a:r>
              <a:rPr lang="en-US" sz="1950" b="1" dirty="0">
                <a:solidFill>
                  <a:srgbClr val="143A77"/>
                </a:solidFill>
                <a:latin typeface="Arial" pitchFamily="34" charset="0"/>
                <a:ea typeface="Arial" pitchFamily="34" charset="-122"/>
                <a:cs typeface="Arial" pitchFamily="34" charset="-120"/>
              </a:rPr>
              <a:t>4</a:t>
            </a:r>
            <a:endParaRPr lang="en-US" sz="1950" dirty="0"/>
          </a:p>
        </p:txBody>
      </p:sp>
      <p:sp>
        <p:nvSpPr>
          <p:cNvPr id="42" name="Shape 40"/>
          <p:cNvSpPr/>
          <p:nvPr/>
        </p:nvSpPr>
        <p:spPr>
          <a:xfrm>
            <a:off x="13373099" y="3153938"/>
            <a:ext cx="1673959" cy="502920"/>
          </a:xfrm>
          <a:prstGeom prst="roundRect">
            <a:avLst>
              <a:gd name="adj" fmla="val 50000"/>
            </a:avLst>
          </a:prstGeom>
          <a:solidFill>
            <a:srgbClr val="EDF3FA"/>
          </a:solidFill>
          <a:ln w="11430">
            <a:solidFill>
              <a:srgbClr val="0B2350">
                <a:alpha val="8000"/>
              </a:srgbClr>
            </a:solidFill>
            <a:prstDash val="solid"/>
          </a:ln>
        </p:spPr>
      </p:sp>
      <p:sp>
        <p:nvSpPr>
          <p:cNvPr id="43" name="Text 41"/>
          <p:cNvSpPr/>
          <p:nvPr/>
        </p:nvSpPr>
        <p:spPr>
          <a:xfrm>
            <a:off x="13555979" y="3251093"/>
            <a:ext cx="1384399" cy="346710"/>
          </a:xfrm>
          <a:prstGeom prst="rect">
            <a:avLst/>
          </a:prstGeom>
          <a:noFill/>
          <a:ln/>
        </p:spPr>
        <p:txBody>
          <a:bodyPr wrap="square" lIns="25400" tIns="25400" rIns="25400" bIns="25400" rtlCol="0" anchor="ctr">
            <a:normAutofit/>
          </a:bodyPr>
          <a:lstStyle/>
          <a:p>
            <a:pPr algn="l" indent="0" marL="0">
              <a:buNone/>
            </a:pPr>
            <a:r>
              <a:rPr lang="en-US" sz="1800" b="1" dirty="0">
                <a:solidFill>
                  <a:srgbClr val="143A77"/>
                </a:solidFill>
                <a:latin typeface="Arial" pitchFamily="34" charset="0"/>
                <a:ea typeface="Arial" pitchFamily="34" charset="-122"/>
                <a:cs typeface="Arial" pitchFamily="34" charset="-120"/>
              </a:rPr>
              <a:t>2027 – 2030</a:t>
            </a:r>
            <a:endParaRPr lang="en-US" sz="1800" dirty="0"/>
          </a:p>
        </p:txBody>
      </p:sp>
      <p:sp>
        <p:nvSpPr>
          <p:cNvPr id="44" name="Text 42"/>
          <p:cNvSpPr/>
          <p:nvPr/>
        </p:nvSpPr>
        <p:spPr>
          <a:xfrm>
            <a:off x="13373099" y="3809198"/>
            <a:ext cx="4002786" cy="344567"/>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F1E3D"/>
                </a:solidFill>
                <a:latin typeface="Arial" pitchFamily="34" charset="0"/>
                <a:ea typeface="Arial" pitchFamily="34" charset="-122"/>
                <a:cs typeface="Arial" pitchFamily="34" charset="-120"/>
              </a:rPr>
              <a:t>3 ans de thèse</a:t>
            </a:r>
            <a:endParaRPr lang="en-US" sz="2100" dirty="0"/>
          </a:p>
        </p:txBody>
      </p:sp>
      <p:sp>
        <p:nvSpPr>
          <p:cNvPr id="45" name="Text 43"/>
          <p:cNvSpPr/>
          <p:nvPr/>
        </p:nvSpPr>
        <p:spPr>
          <a:xfrm>
            <a:off x="13373099" y="4287115"/>
            <a:ext cx="142994" cy="656749"/>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46" name="Text 44"/>
          <p:cNvSpPr/>
          <p:nvPr/>
        </p:nvSpPr>
        <p:spPr>
          <a:xfrm>
            <a:off x="13554194" y="4309975"/>
            <a:ext cx="3735687" cy="610314"/>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Recherche appliquée sur données LBP</a:t>
            </a:r>
            <a:endParaRPr lang="en-US" sz="1875" dirty="0"/>
          </a:p>
        </p:txBody>
      </p:sp>
      <p:sp>
        <p:nvSpPr>
          <p:cNvPr id="47" name="Text 45"/>
          <p:cNvSpPr/>
          <p:nvPr/>
        </p:nvSpPr>
        <p:spPr>
          <a:xfrm>
            <a:off x="13373099" y="5038994"/>
            <a:ext cx="142994" cy="347425"/>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48" name="Text 46"/>
          <p:cNvSpPr/>
          <p:nvPr/>
        </p:nvSpPr>
        <p:spPr>
          <a:xfrm>
            <a:off x="13554194" y="5061854"/>
            <a:ext cx="3762729" cy="300990"/>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Résultats opérationnels en continu</a:t>
            </a:r>
            <a:endParaRPr lang="en-US" sz="1875" dirty="0"/>
          </a:p>
        </p:txBody>
      </p:sp>
      <p:sp>
        <p:nvSpPr>
          <p:cNvPr id="49" name="Text 47"/>
          <p:cNvSpPr/>
          <p:nvPr/>
        </p:nvSpPr>
        <p:spPr>
          <a:xfrm>
            <a:off x="13373099" y="5481550"/>
            <a:ext cx="142994" cy="347424"/>
          </a:xfrm>
          <a:prstGeom prst="rect">
            <a:avLst/>
          </a:prstGeom>
          <a:noFill/>
          <a:ln/>
        </p:spPr>
        <p:txBody>
          <a:bodyPr wrap="square" lIns="25400" tIns="25400" rIns="25400" bIns="25400" rtlCol="0" anchor="t">
            <a:normAutofit/>
          </a:bodyPr>
          <a:lstStyle/>
          <a:p>
            <a:pPr algn="l" indent="0" marL="0">
              <a:lnSpc>
                <a:spcPct val="130000"/>
              </a:lnSpc>
              <a:buNone/>
            </a:pPr>
            <a:r>
              <a:rPr lang="en-US" sz="1875" b="1" dirty="0">
                <a:solidFill>
                  <a:srgbClr val="2A96D6"/>
                </a:solidFill>
                <a:latin typeface="Arial" pitchFamily="34" charset="0"/>
                <a:ea typeface="Arial" pitchFamily="34" charset="-122"/>
                <a:cs typeface="Arial" pitchFamily="34" charset="-120"/>
              </a:rPr>
              <a:t>·</a:t>
            </a:r>
            <a:endParaRPr lang="en-US" sz="1875" dirty="0"/>
          </a:p>
        </p:txBody>
      </p:sp>
      <p:sp>
        <p:nvSpPr>
          <p:cNvPr id="50" name="Text 48"/>
          <p:cNvSpPr/>
          <p:nvPr/>
        </p:nvSpPr>
        <p:spPr>
          <a:xfrm>
            <a:off x="13554194" y="5504410"/>
            <a:ext cx="3503541" cy="300990"/>
          </a:xfrm>
          <a:prstGeom prst="rect">
            <a:avLst/>
          </a:prstGeom>
          <a:noFill/>
          <a:ln/>
        </p:spPr>
        <p:txBody>
          <a:bodyPr wrap="square" lIns="0" tIns="0" rIns="0" bIns="0" rtlCol="0" anchor="t">
            <a:normAutofit/>
          </a:bodyPr>
          <a:lstStyle/>
          <a:p>
            <a:pPr algn="l" indent="0" marL="0">
              <a:lnSpc>
                <a:spcPct val="130000"/>
              </a:lnSpc>
              <a:buNone/>
            </a:pPr>
            <a:r>
              <a:rPr lang="en-US" sz="1875" dirty="0">
                <a:solidFill>
                  <a:srgbClr val="5E6E8E"/>
                </a:solidFill>
                <a:latin typeface="Arial" pitchFamily="34" charset="0"/>
                <a:ea typeface="Arial" pitchFamily="34" charset="-122"/>
                <a:cs typeface="Arial" pitchFamily="34" charset="-120"/>
              </a:rPr>
              <a:t>Soutenance — titre de Docteure</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13906380" y="6762631"/>
            <a:ext cx="6286499" cy="6286499"/>
          </a:xfrm>
          <a:prstGeom prst="ellipse">
            <a:avLst/>
          </a:prstGeom>
          <a:ln w="11430">
            <a:solidFill>
              <a:srgbClr val="46AFE8">
                <a:alpha val="20000"/>
              </a:srgbClr>
            </a:solidFill>
            <a:prstDash val="solid"/>
          </a:ln>
        </p:spPr>
      </p:sp>
      <p:sp>
        <p:nvSpPr>
          <p:cNvPr id="3" name="Shape 1"/>
          <p:cNvSpPr/>
          <p:nvPr/>
        </p:nvSpPr>
        <p:spPr>
          <a:xfrm>
            <a:off x="12287249" y="4952940"/>
            <a:ext cx="9524940" cy="9524940"/>
          </a:xfrm>
          <a:prstGeom prst="ellipse">
            <a:avLst/>
          </a:prstGeom>
          <a:ln w="11430">
            <a:solidFill>
              <a:srgbClr val="9FD4F1">
                <a:alpha val="13000"/>
              </a:srgbClr>
            </a:solidFill>
            <a:prstDash val="solid"/>
          </a:ln>
        </p:spPr>
      </p:sp>
      <p:sp>
        <p:nvSpPr>
          <p:cNvPr id="4" name="Shape 2"/>
          <p:cNvSpPr/>
          <p:nvPr/>
        </p:nvSpPr>
        <p:spPr>
          <a:xfrm>
            <a:off x="1333381" y="-857250"/>
            <a:ext cx="2286000" cy="2286000"/>
          </a:xfrm>
          <a:prstGeom prst="ellipse">
            <a:avLst/>
          </a:prstGeom>
          <a:solidFill>
            <a:srgbClr val="46AFE8">
              <a:alpha val="7000"/>
            </a:srgbClr>
          </a:solidFill>
          <a:ln/>
        </p:spPr>
      </p:sp>
      <p:sp>
        <p:nvSpPr>
          <p:cNvPr id="5" name="Shape 3"/>
          <p:cNvSpPr/>
          <p:nvPr/>
        </p:nvSpPr>
        <p:spPr>
          <a:xfrm>
            <a:off x="1028700" y="911372"/>
            <a:ext cx="123765" cy="123765"/>
          </a:xfrm>
          <a:prstGeom prst="roundRect">
            <a:avLst>
              <a:gd name="adj" fmla="val 30784"/>
            </a:avLst>
          </a:prstGeom>
          <a:solidFill>
            <a:srgbClr val="46AFE8"/>
          </a:solidFill>
          <a:ln/>
          <a:effectLst>
            <a:outerShdw sx="100000" sy="100000" kx="0" ky="0" algn="bl" rotWithShape="0" blurRad="101600" dist="50800" dir="16200000">
              <a:srgbClr val="3CA8E4">
                <a:alpha val="16000"/>
              </a:srgbClr>
            </a:outerShdw>
          </a:effectLst>
        </p:spPr>
      </p:sp>
      <p:sp>
        <p:nvSpPr>
          <p:cNvPr id="6" name="Text 4"/>
          <p:cNvSpPr/>
          <p:nvPr/>
        </p:nvSpPr>
        <p:spPr>
          <a:xfrm>
            <a:off x="1304806" y="819039"/>
            <a:ext cx="5754373" cy="34671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6AFE8"/>
                </a:solidFill>
                <a:latin typeface="Arial" pitchFamily="34" charset="0"/>
                <a:ea typeface="Arial" pitchFamily="34" charset="-122"/>
                <a:cs typeface="Arial" pitchFamily="34" charset="-120"/>
              </a:rPr>
              <a:t>CE QUE JE VOUS DEMANDE AUJOURD'HUI</a:t>
            </a:r>
            <a:endParaRPr lang="en-US" sz="1800" dirty="0"/>
          </a:p>
        </p:txBody>
      </p:sp>
      <p:sp>
        <p:nvSpPr>
          <p:cNvPr id="7" name="Text 5"/>
          <p:cNvSpPr/>
          <p:nvPr/>
        </p:nvSpPr>
        <p:spPr>
          <a:xfrm>
            <a:off x="1028700" y="1547003"/>
            <a:ext cx="13734927" cy="1598295"/>
          </a:xfrm>
          <a:prstGeom prst="rect">
            <a:avLst/>
          </a:prstGeom>
          <a:noFill/>
          <a:ln/>
        </p:spPr>
        <p:txBody>
          <a:bodyPr wrap="square" lIns="25400" tIns="25400" rIns="25400" bIns="25400" rtlCol="0" anchor="t">
            <a:normAutofit/>
          </a:bodyPr>
          <a:lstStyle/>
          <a:p>
            <a:pPr algn="l" indent="0" marL="0">
              <a:lnSpc>
                <a:spcPct val="105000"/>
              </a:lnSpc>
              <a:buNone/>
            </a:pPr>
            <a:r>
              <a:rPr lang="en-US" sz="5850" b="1" spc="-117" kern="0" dirty="0">
                <a:solidFill>
                  <a:srgbClr val="FFFFFF"/>
                </a:solidFill>
                <a:latin typeface="Georgia" pitchFamily="34" charset="0"/>
                <a:ea typeface="Georgia" pitchFamily="34" charset="-122"/>
                <a:cs typeface="Georgia" pitchFamily="34" charset="-120"/>
              </a:rPr>
              <a:t>Valider le principe. </a:t>
            </a:r>
            <a:pPr algn="l" indent="0" marL="0">
              <a:lnSpc>
                <a:spcPct val="105000"/>
              </a:lnSpc>
              <a:buNone/>
            </a:pPr>
            <a:r>
              <a:rPr lang="en-US" sz="5850" b="1" spc="-117" kern="0" dirty="0">
                <a:solidFill>
                  <a:srgbClr val="46AFE8"/>
                </a:solidFill>
                <a:latin typeface="Georgia" pitchFamily="34" charset="0"/>
                <a:ea typeface="Georgia" pitchFamily="34" charset="-122"/>
                <a:cs typeface="Georgia" pitchFamily="34" charset="-120"/>
              </a:rPr>
              <a:t>Je prends tout le reste en charge.</a:t>
            </a:r>
            <a:endParaRPr lang="en-US" sz="5850" dirty="0"/>
          </a:p>
        </p:txBody>
      </p:sp>
      <p:sp>
        <p:nvSpPr>
          <p:cNvPr id="8" name="Text 6"/>
          <p:cNvSpPr/>
          <p:nvPr/>
        </p:nvSpPr>
        <p:spPr>
          <a:xfrm>
            <a:off x="1028700" y="3624948"/>
            <a:ext cx="306407"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46AFE8"/>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1430357" y="3624948"/>
            <a:ext cx="6650033" cy="752475"/>
          </a:xfrm>
          <a:prstGeom prst="rect">
            <a:avLst/>
          </a:prstGeom>
          <a:noFill/>
          <a:ln/>
        </p:spPr>
        <p:txBody>
          <a:bodyPr wrap="square" lIns="25400" tIns="25400" rIns="25400" bIns="25400" rtlCol="0" anchor="t">
            <a:normAutofit/>
          </a:bodyPr>
          <a:lstStyle/>
          <a:p>
            <a:pPr algn="l" indent="0" marL="0">
              <a:lnSpc>
                <a:spcPct val="134000"/>
              </a:lnSpc>
              <a:buNone/>
            </a:pPr>
            <a:r>
              <a:rPr lang="en-US" sz="2100" dirty="0">
                <a:solidFill>
                  <a:srgbClr val="FFFFFF">
                    <a:alpha val="90000"/>
                  </a:srgbClr>
                </a:solidFill>
                <a:latin typeface="Arial" pitchFamily="34" charset="0"/>
                <a:ea typeface="Arial" pitchFamily="34" charset="-122"/>
                <a:cs typeface="Arial" pitchFamily="34" charset="-120"/>
              </a:rPr>
              <a:t>Je trouve le laboratoire partenaire et le directeur de thèse.</a:t>
            </a:r>
            <a:endParaRPr lang="en-US" sz="2100" dirty="0"/>
          </a:p>
        </p:txBody>
      </p:sp>
      <p:sp>
        <p:nvSpPr>
          <p:cNvPr id="10" name="Text 8"/>
          <p:cNvSpPr/>
          <p:nvPr/>
        </p:nvSpPr>
        <p:spPr>
          <a:xfrm>
            <a:off x="8458199" y="3621548"/>
            <a:ext cx="306407"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46AFE8"/>
                </a:solidFill>
                <a:latin typeface="Arial" pitchFamily="34" charset="0"/>
                <a:ea typeface="Arial" pitchFamily="34" charset="-122"/>
                <a:cs typeface="Arial" pitchFamily="34" charset="-120"/>
              </a:rPr>
              <a:t>→</a:t>
            </a:r>
            <a:endParaRPr lang="en-US" sz="2100" dirty="0"/>
          </a:p>
        </p:txBody>
      </p:sp>
      <p:sp>
        <p:nvSpPr>
          <p:cNvPr id="11" name="Text 9"/>
          <p:cNvSpPr/>
          <p:nvPr/>
        </p:nvSpPr>
        <p:spPr>
          <a:xfrm>
            <a:off x="8859857" y="3621548"/>
            <a:ext cx="5720341" cy="395287"/>
          </a:xfrm>
          <a:prstGeom prst="rect">
            <a:avLst/>
          </a:prstGeom>
          <a:noFill/>
          <a:ln/>
        </p:spPr>
        <p:txBody>
          <a:bodyPr wrap="square" lIns="25400" tIns="25400" rIns="25400" bIns="25400" rtlCol="0" anchor="t">
            <a:normAutofit/>
          </a:bodyPr>
          <a:lstStyle/>
          <a:p>
            <a:pPr algn="l" indent="0" marL="0">
              <a:lnSpc>
                <a:spcPct val="134000"/>
              </a:lnSpc>
              <a:buNone/>
            </a:pPr>
            <a:r>
              <a:rPr lang="en-US" sz="2100" dirty="0">
                <a:solidFill>
                  <a:srgbClr val="FFFFFF">
                    <a:alpha val="90000"/>
                  </a:srgbClr>
                </a:solidFill>
                <a:latin typeface="Arial" pitchFamily="34" charset="0"/>
                <a:ea typeface="Arial" pitchFamily="34" charset="-122"/>
                <a:cs typeface="Arial" pitchFamily="34" charset="-120"/>
              </a:rPr>
              <a:t>Je rédige le projet de thèse et le dossier ANRT.</a:t>
            </a:r>
            <a:endParaRPr lang="en-US" sz="2100" dirty="0"/>
          </a:p>
        </p:txBody>
      </p:sp>
      <p:sp>
        <p:nvSpPr>
          <p:cNvPr id="12" name="Text 10"/>
          <p:cNvSpPr/>
          <p:nvPr/>
        </p:nvSpPr>
        <p:spPr>
          <a:xfrm>
            <a:off x="1028700" y="4535606"/>
            <a:ext cx="306407"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46AFE8"/>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430357" y="4535606"/>
            <a:ext cx="6650033" cy="752475"/>
          </a:xfrm>
          <a:prstGeom prst="rect">
            <a:avLst/>
          </a:prstGeom>
          <a:noFill/>
          <a:ln/>
        </p:spPr>
        <p:txBody>
          <a:bodyPr wrap="square" lIns="25400" tIns="25400" rIns="25400" bIns="25400" rtlCol="0" anchor="t">
            <a:normAutofit/>
          </a:bodyPr>
          <a:lstStyle/>
          <a:p>
            <a:pPr algn="l" indent="0" marL="0">
              <a:lnSpc>
                <a:spcPct val="134000"/>
              </a:lnSpc>
              <a:buNone/>
            </a:pPr>
            <a:r>
              <a:rPr lang="en-US" sz="2100" dirty="0">
                <a:solidFill>
                  <a:srgbClr val="FFFFFF">
                    <a:alpha val="90000"/>
                  </a:srgbClr>
                </a:solidFill>
                <a:latin typeface="Arial" pitchFamily="34" charset="0"/>
                <a:ea typeface="Arial" pitchFamily="34" charset="-122"/>
                <a:cs typeface="Arial" pitchFamily="34" charset="-120"/>
              </a:rPr>
              <a:t>Je co-construis le sujet final avec vous, selon les priorités de la Direction.</a:t>
            </a:r>
            <a:endParaRPr lang="en-US" sz="2100" dirty="0"/>
          </a:p>
        </p:txBody>
      </p:sp>
      <p:sp>
        <p:nvSpPr>
          <p:cNvPr id="14" name="Text 12"/>
          <p:cNvSpPr/>
          <p:nvPr/>
        </p:nvSpPr>
        <p:spPr>
          <a:xfrm>
            <a:off x="8458199" y="4546590"/>
            <a:ext cx="306407" cy="403860"/>
          </a:xfrm>
          <a:prstGeom prst="rect">
            <a:avLst/>
          </a:prstGeom>
          <a:noFill/>
          <a:ln/>
        </p:spPr>
        <p:txBody>
          <a:bodyPr wrap="square" lIns="25400" tIns="25400" rIns="25400" bIns="25400" rtlCol="0" anchor="t">
            <a:normAutofit/>
          </a:bodyPr>
          <a:lstStyle/>
          <a:p>
            <a:pPr algn="l" indent="0" marL="0">
              <a:buNone/>
            </a:pPr>
            <a:r>
              <a:rPr lang="en-US" sz="2100" b="1" dirty="0">
                <a:solidFill>
                  <a:srgbClr val="46AFE8"/>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8859857" y="4546590"/>
            <a:ext cx="6650033" cy="763905"/>
          </a:xfrm>
          <a:prstGeom prst="rect">
            <a:avLst/>
          </a:prstGeom>
          <a:noFill/>
          <a:ln/>
        </p:spPr>
        <p:txBody>
          <a:bodyPr wrap="square" lIns="25400" tIns="25400" rIns="25400" bIns="25400" rtlCol="0" anchor="t">
            <a:normAutofit/>
          </a:bodyPr>
          <a:lstStyle/>
          <a:p>
            <a:pPr algn="l" indent="0" marL="0">
              <a:lnSpc>
                <a:spcPct val="134000"/>
              </a:lnSpc>
              <a:buNone/>
            </a:pPr>
            <a:r>
              <a:rPr lang="en-US" sz="2100" dirty="0">
                <a:solidFill>
                  <a:srgbClr val="FFFFFF">
                    <a:alpha val="90000"/>
                  </a:srgbClr>
                </a:solidFill>
                <a:latin typeface="Arial" pitchFamily="34" charset="0"/>
                <a:ea typeface="Arial" pitchFamily="34" charset="-122"/>
                <a:cs typeface="Arial" pitchFamily="34" charset="-120"/>
              </a:rPr>
              <a:t>LBP reçoit </a:t>
            </a:r>
            <a:pPr algn="l" indent="0" marL="0">
              <a:lnSpc>
                <a:spcPct val="134000"/>
              </a:lnSpc>
              <a:buNone/>
            </a:pPr>
            <a:r>
              <a:rPr lang="en-US" sz="2100" b="1" dirty="0">
                <a:solidFill>
                  <a:srgbClr val="FFFFFF"/>
                </a:solidFill>
                <a:latin typeface="Arial" pitchFamily="34" charset="0"/>
                <a:ea typeface="Arial" pitchFamily="34" charset="-122"/>
                <a:cs typeface="Arial" pitchFamily="34" charset="-120"/>
              </a:rPr>
              <a:t>14 000 €/an </a:t>
            </a:r>
            <a:pPr algn="l" indent="0" marL="0">
              <a:lnSpc>
                <a:spcPct val="134000"/>
              </a:lnSpc>
              <a:buNone/>
            </a:pPr>
            <a:r>
              <a:rPr lang="en-US" sz="2100" dirty="0">
                <a:solidFill>
                  <a:srgbClr val="FFFFFF">
                    <a:alpha val="90000"/>
                  </a:srgbClr>
                </a:solidFill>
                <a:latin typeface="Arial" pitchFamily="34" charset="0"/>
                <a:ea typeface="Arial" pitchFamily="34" charset="-122"/>
                <a:cs typeface="Arial" pitchFamily="34" charset="-120"/>
              </a:rPr>
              <a:t>de l'État — environ 60 % du coût couvert.</a:t>
            </a:r>
            <a:endParaRPr lang="en-US" sz="2100" dirty="0"/>
          </a:p>
        </p:txBody>
      </p:sp>
      <p:sp>
        <p:nvSpPr>
          <p:cNvPr id="16" name="Shape 14"/>
          <p:cNvSpPr/>
          <p:nvPr/>
        </p:nvSpPr>
        <p:spPr>
          <a:xfrm>
            <a:off x="1028700" y="7909267"/>
            <a:ext cx="16230599" cy="1657171"/>
          </a:xfrm>
          <a:prstGeom prst="roundRect">
            <a:avLst>
              <a:gd name="adj" fmla="val 19542"/>
            </a:avLst>
          </a:prstGeom>
          <a:solidFill>
            <a:srgbClr val="FFFFFF">
              <a:alpha val="5000"/>
            </a:srgbClr>
          </a:solidFill>
          <a:ln w="11430">
            <a:solidFill>
              <a:srgbClr val="FFFFFF">
                <a:alpha val="13000"/>
              </a:srgbClr>
            </a:solidFill>
            <a:prstDash val="solid"/>
          </a:ln>
        </p:spPr>
      </p:sp>
      <p:sp>
        <p:nvSpPr>
          <p:cNvPr id="17" name="Text 15"/>
          <p:cNvSpPr/>
          <p:nvPr/>
        </p:nvSpPr>
        <p:spPr>
          <a:xfrm>
            <a:off x="1421070" y="8206447"/>
            <a:ext cx="11997872" cy="436185"/>
          </a:xfrm>
          <a:prstGeom prst="rect">
            <a:avLst/>
          </a:prstGeom>
          <a:noFill/>
          <a:ln/>
        </p:spPr>
        <p:txBody>
          <a:bodyPr wrap="square" lIns="25400" tIns="25400" rIns="25400" bIns="25400" rtlCol="0" anchor="t">
            <a:normAutofit/>
          </a:bodyPr>
          <a:lstStyle/>
          <a:p>
            <a:pPr algn="l" indent="0" marL="0">
              <a:lnSpc>
                <a:spcPct val="110000"/>
              </a:lnSpc>
              <a:buNone/>
            </a:pPr>
            <a:r>
              <a:rPr lang="en-US" sz="2850" b="1" dirty="0">
                <a:solidFill>
                  <a:srgbClr val="FFFFFF"/>
                </a:solidFill>
                <a:latin typeface="Arial" pitchFamily="34" charset="0"/>
                <a:ea typeface="Arial" pitchFamily="34" charset="-122"/>
                <a:cs typeface="Arial" pitchFamily="34" charset="-120"/>
              </a:rPr>
              <a:t>BNP Paribas le fait. Société Générale le fait. Crédit Agricole le fait.</a:t>
            </a:r>
            <a:endParaRPr lang="en-US" sz="2850" dirty="0"/>
          </a:p>
        </p:txBody>
      </p:sp>
      <p:sp>
        <p:nvSpPr>
          <p:cNvPr id="18" name="Text 16"/>
          <p:cNvSpPr/>
          <p:nvPr/>
        </p:nvSpPr>
        <p:spPr>
          <a:xfrm>
            <a:off x="1421070" y="8871173"/>
            <a:ext cx="10048537" cy="436185"/>
          </a:xfrm>
          <a:prstGeom prst="rect">
            <a:avLst/>
          </a:prstGeom>
          <a:noFill/>
          <a:ln/>
        </p:spPr>
        <p:txBody>
          <a:bodyPr wrap="square" lIns="25400" tIns="25400" rIns="25400" bIns="25400" rtlCol="0" anchor="t">
            <a:normAutofit/>
          </a:bodyPr>
          <a:lstStyle/>
          <a:p>
            <a:pPr algn="l" indent="0" marL="0">
              <a:lnSpc>
                <a:spcPct val="110000"/>
              </a:lnSpc>
              <a:buNone/>
            </a:pPr>
            <a:r>
              <a:rPr lang="en-US" sz="2850" b="1" dirty="0">
                <a:solidFill>
                  <a:srgbClr val="46AFE8"/>
                </a:solidFill>
                <a:latin typeface="Arial" pitchFamily="34" charset="0"/>
                <a:ea typeface="Arial" pitchFamily="34" charset="-122"/>
                <a:cs typeface="Arial" pitchFamily="34" charset="-120"/>
              </a:rPr>
              <a:t>LBP peut prendre une longueur d'avance — maintenant.</a:t>
            </a:r>
            <a:endParaRPr lang="en-US" sz="2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2026-06-06T21:46:40Z</dcterms:created>
  <dcterms:modified xsi:type="dcterms:W3CDTF">2026-06-06T21:46:40Z</dcterms:modified>
</cp:coreProperties>
</file>