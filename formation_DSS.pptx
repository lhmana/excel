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9144000"/>
  <p:notesSz cx="9144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80" cy="9143999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Shape 1"/>
          <p:cNvSpPr/>
          <p:nvPr/>
        </p:nvSpPr>
        <p:spPr>
          <a:xfrm>
            <a:off x="5905381" y="-1523940"/>
            <a:ext cx="7429499" cy="7429499"/>
          </a:xfrm>
          <a:prstGeom prst="rect">
            <a:avLst/>
          </a:prstGeom>
          <a:solidFill>
            <a:srgbClr val="41B6E6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66690"/>
            <a:ext cx="438090" cy="4380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2950" y="2742307"/>
            <a:ext cx="9025767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BANQUE POSTALE · DATA LAB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742950" y="3184148"/>
            <a:ext cx="9025767" cy="1503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Bienvenue dans Dataiku DSS</a:t>
            </a:r>
            <a:endParaRPr lang="en-US" sz="5550" dirty="0"/>
          </a:p>
        </p:txBody>
      </p:sp>
      <p:sp>
        <p:nvSpPr>
          <p:cNvPr id="7" name="Text 4"/>
          <p:cNvSpPr/>
          <p:nvPr/>
        </p:nvSpPr>
        <p:spPr>
          <a:xfrm>
            <a:off x="742950" y="4859536"/>
            <a:ext cx="90257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1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nouveau terrain de jeu data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742950" y="5316735"/>
            <a:ext cx="7652384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</a:t>
            </a:r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 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</a:t>
            </a:r>
            <a:pPr algn="l" indent="0" marL="0">
              <a:lnSpc>
                <a:spcPct val="15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HiveSQL </a:t>
            </a:r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apprenez à interroger vos données avec des recettes simples, visuelles et réutilisables.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742950" y="7574518"/>
            <a:ext cx="1867019" cy="441841"/>
          </a:xfrm>
          <a:prstGeom prst="roundRect">
            <a:avLst>
              <a:gd name="adj" fmla="val 28025"/>
            </a:avLst>
          </a:prstGeom>
          <a:solidFill>
            <a:srgbClr val="FFFFFF">
              <a:alpha val="5000"/>
            </a:srgbClr>
          </a:solidFill>
          <a:ln w="11430">
            <a:solidFill>
              <a:srgbClr val="8FD3F0">
                <a:alpha val="2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5830" y="7732573"/>
            <a:ext cx="463748" cy="16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DURÉE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1418034" y="7709713"/>
            <a:ext cx="10852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Demi-journée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2724269" y="7574518"/>
            <a:ext cx="1620560" cy="441841"/>
          </a:xfrm>
          <a:prstGeom prst="roundRect">
            <a:avLst>
              <a:gd name="adj" fmla="val 28025"/>
            </a:avLst>
          </a:prstGeom>
          <a:solidFill>
            <a:srgbClr val="FFFFFF">
              <a:alpha val="5000"/>
            </a:srgbClr>
          </a:solidFill>
          <a:ln w="11430">
            <a:solidFill>
              <a:srgbClr val="8FD3F0">
                <a:alpha val="2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07149" y="7732573"/>
            <a:ext cx="541258" cy="16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NIVEAU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76863" y="7709713"/>
            <a:ext cx="7612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Débutant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4459128" y="7574518"/>
            <a:ext cx="2337256" cy="441841"/>
          </a:xfrm>
          <a:prstGeom prst="roundRect">
            <a:avLst>
              <a:gd name="adj" fmla="val 28025"/>
            </a:avLst>
          </a:prstGeom>
          <a:solidFill>
            <a:srgbClr val="FFFFFF">
              <a:alpha val="5000"/>
            </a:srgbClr>
          </a:solidFill>
          <a:ln w="11430">
            <a:solidFill>
              <a:srgbClr val="8FD3F0">
                <a:alpha val="2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42009" y="7732573"/>
            <a:ext cx="541258" cy="16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OUTILS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211723" y="7709713"/>
            <a:ext cx="14779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HiveSQL + Dataiku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6910685" y="7574518"/>
            <a:ext cx="2407979" cy="441841"/>
          </a:xfrm>
          <a:prstGeom prst="roundRect">
            <a:avLst>
              <a:gd name="adj" fmla="val 28025"/>
            </a:avLst>
          </a:prstGeom>
          <a:solidFill>
            <a:srgbClr val="FFFFFF">
              <a:alpha val="5000"/>
            </a:srgbClr>
          </a:solidFill>
          <a:ln w="11430">
            <a:solidFill>
              <a:srgbClr val="8FD3F0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93565" y="7732573"/>
            <a:ext cx="541258" cy="16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7663279" y="7709713"/>
            <a:ext cx="15487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pratiques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742950" y="8340149"/>
            <a:ext cx="1102716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FORMATION INTERNE · DATAIKU DSS · HIVESQL · LA BANQUE POSTALE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466574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4665747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va voir ensemble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883934"/>
            <a:ext cx="3492400" cy="1560016"/>
          </a:xfrm>
          <a:prstGeom prst="roundRect">
            <a:avLst>
              <a:gd name="adj" fmla="val 9769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7230" y="2895364"/>
            <a:ext cx="47506" cy="1537156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8" name="Shape 5"/>
          <p:cNvSpPr/>
          <p:nvPr/>
        </p:nvSpPr>
        <p:spPr>
          <a:xfrm>
            <a:off x="925830" y="3123964"/>
            <a:ext cx="380940" cy="380940"/>
          </a:xfrm>
          <a:prstGeom prst="roundRect">
            <a:avLst>
              <a:gd name="adj" fmla="val 27504"/>
            </a:avLst>
          </a:prstGeom>
          <a:solidFill>
            <a:srgbClr val="003087"/>
          </a:solidFill>
          <a:ln/>
        </p:spPr>
      </p:sp>
      <p:sp>
        <p:nvSpPr>
          <p:cNvPr id="9" name="Text 6"/>
          <p:cNvSpPr/>
          <p:nvPr/>
        </p:nvSpPr>
        <p:spPr>
          <a:xfrm>
            <a:off x="887730" y="3123964"/>
            <a:ext cx="457140" cy="41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925830" y="3676355"/>
            <a:ext cx="3102711" cy="265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25" b="1" spc="-26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 → Dataiku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925830" y="3970856"/>
            <a:ext cx="3102711" cy="2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grand saut, en douceur</a:t>
            </a:r>
            <a:endParaRPr lang="en-US" sz="1163" dirty="0"/>
          </a:p>
        </p:txBody>
      </p:sp>
      <p:sp>
        <p:nvSpPr>
          <p:cNvPr id="12" name="Shape 9"/>
          <p:cNvSpPr/>
          <p:nvPr/>
        </p:nvSpPr>
        <p:spPr>
          <a:xfrm>
            <a:off x="4349650" y="2883934"/>
            <a:ext cx="3492400" cy="1560016"/>
          </a:xfrm>
          <a:prstGeom prst="roundRect">
            <a:avLst>
              <a:gd name="adj" fmla="val 9769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1081" y="2895364"/>
            <a:ext cx="47506" cy="1537156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89681" y="3123964"/>
            <a:ext cx="380940" cy="380940"/>
          </a:xfrm>
          <a:prstGeom prst="roundRect">
            <a:avLst>
              <a:gd name="adj" fmla="val 27504"/>
            </a:avLst>
          </a:prstGeom>
          <a:solidFill>
            <a:srgbClr val="003087"/>
          </a:solidFill>
          <a:ln/>
        </p:spPr>
      </p:sp>
      <p:sp>
        <p:nvSpPr>
          <p:cNvPr id="15" name="Text 12"/>
          <p:cNvSpPr/>
          <p:nvPr/>
        </p:nvSpPr>
        <p:spPr>
          <a:xfrm>
            <a:off x="4551581" y="3123964"/>
            <a:ext cx="457140" cy="41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4589681" y="3676355"/>
            <a:ext cx="3102711" cy="265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25" b="1" spc="-26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DSS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4589681" y="3970856"/>
            <a:ext cx="3102711" cy="2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rapide des 4 zones</a:t>
            </a:r>
            <a:endParaRPr lang="en-US" sz="1163" dirty="0"/>
          </a:p>
        </p:txBody>
      </p:sp>
      <p:sp>
        <p:nvSpPr>
          <p:cNvPr id="18" name="Shape 15"/>
          <p:cNvSpPr/>
          <p:nvPr/>
        </p:nvSpPr>
        <p:spPr>
          <a:xfrm>
            <a:off x="8013501" y="2884311"/>
            <a:ext cx="3492579" cy="1560016"/>
          </a:xfrm>
          <a:prstGeom prst="roundRect">
            <a:avLst>
              <a:gd name="adj" fmla="val 9769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88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24931" y="2895741"/>
            <a:ext cx="47506" cy="1537156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20" name="Shape 17"/>
          <p:cNvSpPr/>
          <p:nvPr/>
        </p:nvSpPr>
        <p:spPr>
          <a:xfrm>
            <a:off x="8253531" y="3124340"/>
            <a:ext cx="380940" cy="380940"/>
          </a:xfrm>
          <a:prstGeom prst="roundRect">
            <a:avLst>
              <a:gd name="adj" fmla="val 27504"/>
            </a:avLst>
          </a:prstGeom>
          <a:solidFill>
            <a:srgbClr val="003087"/>
          </a:solidFill>
          <a:ln/>
        </p:spPr>
      </p:sp>
      <p:sp>
        <p:nvSpPr>
          <p:cNvPr id="21" name="Text 18"/>
          <p:cNvSpPr/>
          <p:nvPr/>
        </p:nvSpPr>
        <p:spPr>
          <a:xfrm>
            <a:off x="8215431" y="3124340"/>
            <a:ext cx="457140" cy="41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8253531" y="3676731"/>
            <a:ext cx="3102895" cy="265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25" b="1" spc="-26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HiveSQL — les bases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8253531" y="3971232"/>
            <a:ext cx="3102895" cy="2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· WHERE · GROUP BY</a:t>
            </a:r>
            <a:endParaRPr lang="en-US" sz="1163" dirty="0"/>
          </a:p>
        </p:txBody>
      </p:sp>
      <p:sp>
        <p:nvSpPr>
          <p:cNvPr id="24" name="Shape 21"/>
          <p:cNvSpPr/>
          <p:nvPr/>
        </p:nvSpPr>
        <p:spPr>
          <a:xfrm>
            <a:off x="685800" y="4615777"/>
            <a:ext cx="3492400" cy="1560016"/>
          </a:xfrm>
          <a:prstGeom prst="roundRect">
            <a:avLst>
              <a:gd name="adj" fmla="val 9769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88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97230" y="4627207"/>
            <a:ext cx="47506" cy="1537156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26" name="Shape 23"/>
          <p:cNvSpPr/>
          <p:nvPr/>
        </p:nvSpPr>
        <p:spPr>
          <a:xfrm>
            <a:off x="925830" y="4855807"/>
            <a:ext cx="380940" cy="380940"/>
          </a:xfrm>
          <a:prstGeom prst="roundRect">
            <a:avLst>
              <a:gd name="adj" fmla="val 27504"/>
            </a:avLst>
          </a:prstGeom>
          <a:solidFill>
            <a:srgbClr val="003087"/>
          </a:solidFill>
          <a:ln/>
        </p:spPr>
      </p:sp>
      <p:sp>
        <p:nvSpPr>
          <p:cNvPr id="27" name="Text 24"/>
          <p:cNvSpPr/>
          <p:nvPr/>
        </p:nvSpPr>
        <p:spPr>
          <a:xfrm>
            <a:off x="887730" y="4855807"/>
            <a:ext cx="457140" cy="41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925830" y="5408197"/>
            <a:ext cx="3102711" cy="265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25" b="1" spc="-26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fonctions</a:t>
            </a:r>
            <a:endParaRPr lang="en-US" sz="1725" dirty="0"/>
          </a:p>
        </p:txBody>
      </p:sp>
      <p:sp>
        <p:nvSpPr>
          <p:cNvPr id="29" name="Text 26"/>
          <p:cNvSpPr/>
          <p:nvPr/>
        </p:nvSpPr>
        <p:spPr>
          <a:xfrm>
            <a:off x="925830" y="5702698"/>
            <a:ext cx="3102711" cy="2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 · TRIM · CASE WHEN…</a:t>
            </a:r>
            <a:endParaRPr lang="en-US" sz="1163" dirty="0"/>
          </a:p>
        </p:txBody>
      </p:sp>
      <p:sp>
        <p:nvSpPr>
          <p:cNvPr id="30" name="Shape 27"/>
          <p:cNvSpPr/>
          <p:nvPr/>
        </p:nvSpPr>
        <p:spPr>
          <a:xfrm>
            <a:off x="4349650" y="4616955"/>
            <a:ext cx="3492400" cy="1560016"/>
          </a:xfrm>
          <a:prstGeom prst="roundRect">
            <a:avLst>
              <a:gd name="adj" fmla="val 9769"/>
            </a:avLst>
          </a:prstGeom>
          <a:solidFill>
            <a:srgbClr val="FFFFFF">
              <a:alpha val="99000"/>
            </a:srgbClr>
          </a:solidFill>
          <a:ln w="11430">
            <a:solidFill>
              <a:srgbClr val="DCE2EE">
                <a:alpha val="99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61081" y="4628384"/>
            <a:ext cx="47506" cy="1537156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32" name="Shape 29"/>
          <p:cNvSpPr/>
          <p:nvPr/>
        </p:nvSpPr>
        <p:spPr>
          <a:xfrm>
            <a:off x="4589681" y="4856984"/>
            <a:ext cx="380940" cy="380940"/>
          </a:xfrm>
          <a:prstGeom prst="roundRect">
            <a:avLst>
              <a:gd name="adj" fmla="val 27504"/>
            </a:avLst>
          </a:prstGeom>
          <a:solidFill>
            <a:srgbClr val="003087"/>
          </a:solidFill>
          <a:ln/>
        </p:spPr>
      </p:sp>
      <p:sp>
        <p:nvSpPr>
          <p:cNvPr id="33" name="Text 30"/>
          <p:cNvSpPr/>
          <p:nvPr/>
        </p:nvSpPr>
        <p:spPr>
          <a:xfrm>
            <a:off x="4551581" y="4856984"/>
            <a:ext cx="457140" cy="41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4589681" y="5409375"/>
            <a:ext cx="3102711" cy="265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25" b="1" spc="-26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Recettes visuelles</a:t>
            </a:r>
            <a:endParaRPr lang="en-US" sz="1725" dirty="0"/>
          </a:p>
        </p:txBody>
      </p:sp>
      <p:sp>
        <p:nvSpPr>
          <p:cNvPr id="35" name="Text 32"/>
          <p:cNvSpPr/>
          <p:nvPr/>
        </p:nvSpPr>
        <p:spPr>
          <a:xfrm>
            <a:off x="4589681" y="5703876"/>
            <a:ext cx="3102711" cy="2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drag &amp; drop dans Dataiku</a:t>
            </a:r>
            <a:endParaRPr lang="en-US" sz="1163" dirty="0"/>
          </a:p>
        </p:txBody>
      </p:sp>
      <p:sp>
        <p:nvSpPr>
          <p:cNvPr id="36" name="Shape 33"/>
          <p:cNvSpPr/>
          <p:nvPr/>
        </p:nvSpPr>
        <p:spPr>
          <a:xfrm>
            <a:off x="8013501" y="4616955"/>
            <a:ext cx="3492579" cy="1560016"/>
          </a:xfrm>
          <a:prstGeom prst="roundRect">
            <a:avLst>
              <a:gd name="adj" fmla="val 9769"/>
            </a:avLst>
          </a:prstGeom>
          <a:solidFill>
            <a:srgbClr val="FFFFFF">
              <a:alpha val="99000"/>
            </a:srgbClr>
          </a:solidFill>
          <a:ln w="11430">
            <a:solidFill>
              <a:srgbClr val="DCE2EE">
                <a:alpha val="99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024931" y="4628384"/>
            <a:ext cx="47506" cy="1537156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38" name="Shape 35"/>
          <p:cNvSpPr/>
          <p:nvPr/>
        </p:nvSpPr>
        <p:spPr>
          <a:xfrm>
            <a:off x="8253531" y="4856984"/>
            <a:ext cx="380940" cy="380940"/>
          </a:xfrm>
          <a:prstGeom prst="roundRect">
            <a:avLst>
              <a:gd name="adj" fmla="val 27504"/>
            </a:avLst>
          </a:prstGeom>
          <a:solidFill>
            <a:srgbClr val="E0B400"/>
          </a:solidFill>
          <a:ln/>
        </p:spPr>
      </p:sp>
      <p:sp>
        <p:nvSpPr>
          <p:cNvPr id="39" name="Text 36"/>
          <p:cNvSpPr/>
          <p:nvPr/>
        </p:nvSpPr>
        <p:spPr>
          <a:xfrm>
            <a:off x="8215431" y="4856984"/>
            <a:ext cx="457140" cy="41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8253531" y="5409375"/>
            <a:ext cx="3102895" cy="265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25" b="1" spc="-26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1725" dirty="0"/>
          </a:p>
        </p:txBody>
      </p:sp>
      <p:sp>
        <p:nvSpPr>
          <p:cNvPr id="41" name="Text 38"/>
          <p:cNvSpPr/>
          <p:nvPr/>
        </p:nvSpPr>
        <p:spPr>
          <a:xfrm>
            <a:off x="8253531" y="5703876"/>
            <a:ext cx="3102895" cy="2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de jouer !</a:t>
            </a:r>
            <a:endParaRPr lang="en-US" sz="1163" dirty="0"/>
          </a:p>
        </p:txBody>
      </p:sp>
      <p:sp>
        <p:nvSpPr>
          <p:cNvPr id="42" name="Shape 39"/>
          <p:cNvSpPr/>
          <p:nvPr/>
        </p:nvSpPr>
        <p:spPr>
          <a:xfrm>
            <a:off x="685800" y="7668040"/>
            <a:ext cx="10820280" cy="908328"/>
          </a:xfrm>
          <a:prstGeom prst="roundRect">
            <a:avLst>
              <a:gd name="adj" fmla="val 14681"/>
            </a:avLst>
          </a:prstGeom>
          <a:solidFill>
            <a:srgbClr val="FBFCFF">
              <a:alpha val="97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873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85800" y="8564938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85800" y="7668040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85800" y="7668040"/>
            <a:ext cx="45720" cy="908328"/>
          </a:xfrm>
          <a:prstGeom prst="rect">
            <a:avLst/>
          </a:prstGeom>
          <a:solidFill>
            <a:srgbClr val="41B6E6">
              <a:alpha val="97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11494650" y="7668040"/>
            <a:ext cx="11430" cy="908328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941010" y="7869970"/>
            <a:ext cx="583763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ASTUCE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600914" y="7850920"/>
            <a:ext cx="9974773" cy="580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panique ! Tout ce que vous faisiez dans ICM avec des clics, on va juste apprendre à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l'écrire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C'est plus flexible — et finalement plus simple.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798439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96144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9614412" cy="79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 vs Dataiku — ce qui change (et ce qui ne change pas)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1322308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3695643"/>
            <a:ext cx="4613969" cy="2353865"/>
          </a:xfrm>
          <a:prstGeom prst="roundRect">
            <a:avLst>
              <a:gd name="adj" fmla="val 7284"/>
            </a:avLst>
          </a:prstGeom>
          <a:solidFill>
            <a:srgbClr val="EAEEF6"/>
          </a:solidFill>
          <a:ln w="11430">
            <a:solidFill>
              <a:srgbClr val="C7D0E2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3870" y="3954604"/>
            <a:ext cx="417956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 · AVANT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963870" y="4371799"/>
            <a:ext cx="76081" cy="76081"/>
          </a:xfrm>
          <a:prstGeom prst="roundRect">
            <a:avLst>
              <a:gd name="adj" fmla="val 25039"/>
            </a:avLst>
          </a:prstGeom>
          <a:solidFill>
            <a:srgbClr val="8590A8"/>
          </a:solidFill>
          <a:ln/>
        </p:spPr>
      </p:sp>
      <p:sp>
        <p:nvSpPr>
          <p:cNvPr id="9" name="Text 6"/>
          <p:cNvSpPr/>
          <p:nvPr/>
        </p:nvSpPr>
        <p:spPr>
          <a:xfrm>
            <a:off x="1173361" y="4286074"/>
            <a:ext cx="1820168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clique sur des filtres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3870" y="4699340"/>
            <a:ext cx="76081" cy="76081"/>
          </a:xfrm>
          <a:prstGeom prst="roundRect">
            <a:avLst>
              <a:gd name="adj" fmla="val 25039"/>
            </a:avLst>
          </a:prstGeom>
          <a:solidFill>
            <a:srgbClr val="8590A8"/>
          </a:solidFill>
          <a:ln/>
        </p:spPr>
      </p:sp>
      <p:sp>
        <p:nvSpPr>
          <p:cNvPr id="11" name="Text 8"/>
          <p:cNvSpPr/>
          <p:nvPr/>
        </p:nvSpPr>
        <p:spPr>
          <a:xfrm>
            <a:off x="1173361" y="4613615"/>
            <a:ext cx="2512933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coche les colonnes à afficher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3870" y="5026881"/>
            <a:ext cx="76081" cy="76081"/>
          </a:xfrm>
          <a:prstGeom prst="roundRect">
            <a:avLst>
              <a:gd name="adj" fmla="val 25039"/>
            </a:avLst>
          </a:prstGeom>
          <a:solidFill>
            <a:srgbClr val="8590A8"/>
          </a:solidFill>
          <a:ln/>
        </p:spPr>
      </p:sp>
      <p:sp>
        <p:nvSpPr>
          <p:cNvPr id="13" name="Text 10"/>
          <p:cNvSpPr/>
          <p:nvPr/>
        </p:nvSpPr>
        <p:spPr>
          <a:xfrm>
            <a:off x="1173361" y="4941156"/>
            <a:ext cx="2125563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sélectionne une période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63870" y="5354421"/>
            <a:ext cx="76081" cy="76081"/>
          </a:xfrm>
          <a:prstGeom prst="roundRect">
            <a:avLst>
              <a:gd name="adj" fmla="val 25039"/>
            </a:avLst>
          </a:prstGeom>
          <a:solidFill>
            <a:srgbClr val="8590A8"/>
          </a:solidFill>
          <a:ln/>
        </p:spPr>
      </p:sp>
      <p:sp>
        <p:nvSpPr>
          <p:cNvPr id="15" name="Text 12"/>
          <p:cNvSpPr/>
          <p:nvPr/>
        </p:nvSpPr>
        <p:spPr>
          <a:xfrm>
            <a:off x="1173361" y="5268696"/>
            <a:ext cx="147191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J'exporte en Excel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63870" y="5681962"/>
            <a:ext cx="76081" cy="76081"/>
          </a:xfrm>
          <a:prstGeom prst="roundRect">
            <a:avLst>
              <a:gd name="adj" fmla="val 25039"/>
            </a:avLst>
          </a:prstGeom>
          <a:solidFill>
            <a:srgbClr val="8590A8"/>
          </a:solidFill>
          <a:ln/>
        </p:spPr>
      </p:sp>
      <p:sp>
        <p:nvSpPr>
          <p:cNvPr id="17" name="Text 14"/>
          <p:cNvSpPr/>
          <p:nvPr/>
        </p:nvSpPr>
        <p:spPr>
          <a:xfrm>
            <a:off x="1173361" y="5596237"/>
            <a:ext cx="226826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figé, pas réutilisable</a:t>
            </a:r>
            <a:endParaRPr lang="en-US" sz="13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615" y="4692037"/>
            <a:ext cx="361831" cy="36183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061471" y="3549500"/>
            <a:ext cx="5444609" cy="2649438"/>
          </a:xfrm>
          <a:prstGeom prst="roundRect">
            <a:avLst>
              <a:gd name="adj" fmla="val 6471"/>
            </a:avLst>
          </a:prstGeom>
          <a:solidFill>
            <a:srgbClr val="FFFF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61471" y="6187508"/>
            <a:ext cx="5444609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061471" y="3549500"/>
            <a:ext cx="5444609" cy="34290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061471" y="3549500"/>
            <a:ext cx="11430" cy="2649438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11494650" y="3549500"/>
            <a:ext cx="11430" cy="2649438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6339542" y="3831321"/>
            <a:ext cx="503512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DATAIKU + HIVESQL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6339542" y="4482831"/>
            <a:ext cx="4888468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6" name="Text 22"/>
          <p:cNvSpPr/>
          <p:nvPr/>
        </p:nvSpPr>
        <p:spPr>
          <a:xfrm>
            <a:off x="6339542" y="4162791"/>
            <a:ext cx="190464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col = 'valeur'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272711" y="4197081"/>
            <a:ext cx="103149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les filtres ICM</a:t>
            </a:r>
            <a:endParaRPr lang="en-US" sz="1088" dirty="0"/>
          </a:p>
        </p:txBody>
      </p:sp>
      <p:sp>
        <p:nvSpPr>
          <p:cNvPr id="28" name="Shape 24"/>
          <p:cNvSpPr/>
          <p:nvPr/>
        </p:nvSpPr>
        <p:spPr>
          <a:xfrm>
            <a:off x="6339542" y="4938067"/>
            <a:ext cx="4888468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9" name="Text 25"/>
          <p:cNvSpPr/>
          <p:nvPr/>
        </p:nvSpPr>
        <p:spPr>
          <a:xfrm>
            <a:off x="6339542" y="4618027"/>
            <a:ext cx="163032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col1, col2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888557" y="4652317"/>
            <a:ext cx="14156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cocher les colonnes</a:t>
            </a:r>
            <a:endParaRPr lang="en-US" sz="1088" dirty="0"/>
          </a:p>
        </p:txBody>
      </p:sp>
      <p:sp>
        <p:nvSpPr>
          <p:cNvPr id="31" name="Shape 27"/>
          <p:cNvSpPr/>
          <p:nvPr/>
        </p:nvSpPr>
        <p:spPr>
          <a:xfrm>
            <a:off x="6339542" y="5393302"/>
            <a:ext cx="4888468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2" name="Text 28"/>
          <p:cNvSpPr/>
          <p:nvPr/>
        </p:nvSpPr>
        <p:spPr>
          <a:xfrm>
            <a:off x="6339542" y="5073262"/>
            <a:ext cx="181320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date BETWEEN…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873019" y="5107552"/>
            <a:ext cx="143119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sélection de période</a:t>
            </a:r>
            <a:endParaRPr lang="en-US" sz="1088" dirty="0"/>
          </a:p>
        </p:txBody>
      </p:sp>
      <p:sp>
        <p:nvSpPr>
          <p:cNvPr id="34" name="Text 30"/>
          <p:cNvSpPr/>
          <p:nvPr/>
        </p:nvSpPr>
        <p:spPr>
          <a:xfrm>
            <a:off x="6339542" y="5551358"/>
            <a:ext cx="2712182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réutilisable &amp; automatisable</a:t>
            </a:r>
            <a:endParaRPr lang="en-US" sz="1125" dirty="0"/>
          </a:p>
        </p:txBody>
      </p:sp>
      <p:sp>
        <p:nvSpPr>
          <p:cNvPr id="35" name="Shape 31"/>
          <p:cNvSpPr/>
          <p:nvPr/>
        </p:nvSpPr>
        <p:spPr>
          <a:xfrm>
            <a:off x="9125069" y="5528497"/>
            <a:ext cx="2102941" cy="27432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260324" y="5597077"/>
            <a:ext cx="1908631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PLANIFIABLE · PARTAGEABLE</a:t>
            </a:r>
            <a:endParaRPr lang="en-US" sz="825" dirty="0"/>
          </a:p>
        </p:txBody>
      </p:sp>
      <p:sp>
        <p:nvSpPr>
          <p:cNvPr id="37" name="Shape 33"/>
          <p:cNvSpPr/>
          <p:nvPr/>
        </p:nvSpPr>
        <p:spPr>
          <a:xfrm>
            <a:off x="685800" y="7939325"/>
            <a:ext cx="10820280" cy="637044"/>
          </a:xfrm>
          <a:prstGeom prst="roundRect">
            <a:avLst>
              <a:gd name="adj" fmla="val 20933"/>
            </a:avLst>
          </a:prstGeom>
          <a:solidFill>
            <a:srgbClr val="FBFCFF">
              <a:alpha val="97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873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85800" y="8564939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685800" y="7939325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685800" y="7939325"/>
            <a:ext cx="45720" cy="637044"/>
          </a:xfrm>
          <a:prstGeom prst="rect">
            <a:avLst/>
          </a:prstGeom>
          <a:solidFill>
            <a:srgbClr val="41B6E6">
              <a:alpha val="97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11494650" y="7939325"/>
            <a:ext cx="11430" cy="637044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941010" y="8141255"/>
            <a:ext cx="583763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ASTUCE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600914" y="8122205"/>
            <a:ext cx="9447752" cy="309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logique est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identique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vous savez déjà penser les données. On va juste apprendre à les écrire différemment.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62973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6297397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Dataiku DSS — les 4 zones à retenir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27"/>
            <a:ext cx="5324415" cy="2782133"/>
          </a:xfrm>
          <a:prstGeom prst="roundRect">
            <a:avLst>
              <a:gd name="adj" fmla="val 6163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44761" y="1920957"/>
            <a:ext cx="438090" cy="438090"/>
          </a:xfrm>
          <a:prstGeom prst="roundRect">
            <a:avLst>
              <a:gd name="adj" fmla="val 26091"/>
            </a:avLst>
          </a:prstGeom>
          <a:solidFill>
            <a:srgbClr val="E7F4FC"/>
          </a:solidFill>
          <a:ln/>
        </p:spPr>
      </p:sp>
      <p:sp>
        <p:nvSpPr>
          <p:cNvPr id="8" name="Text 5"/>
          <p:cNvSpPr/>
          <p:nvPr/>
        </p:nvSpPr>
        <p:spPr>
          <a:xfrm>
            <a:off x="906661" y="1920957"/>
            <a:ext cx="514290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554301" y="1937745"/>
            <a:ext cx="808256" cy="25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25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2381548" y="1920957"/>
            <a:ext cx="1203543" cy="25146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6803" y="1989537"/>
            <a:ext cx="100923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D'ENTRÉE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554301" y="2239032"/>
            <a:ext cx="4322861" cy="47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dossier de travail. Chaque projet = un sujet d'analyse, accessible à vos collègues.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81665" y="1681304"/>
            <a:ext cx="5324415" cy="2782133"/>
          </a:xfrm>
          <a:prstGeom prst="roundRect">
            <a:avLst>
              <a:gd name="adj" fmla="val 6163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88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0626" y="1921334"/>
            <a:ext cx="438090" cy="438090"/>
          </a:xfrm>
          <a:prstGeom prst="roundRect">
            <a:avLst>
              <a:gd name="adj" fmla="val 26091"/>
            </a:avLst>
          </a:prstGeom>
          <a:solidFill>
            <a:srgbClr val="E7F4FC"/>
          </a:solidFill>
          <a:ln/>
        </p:spPr>
      </p:sp>
      <p:sp>
        <p:nvSpPr>
          <p:cNvPr id="15" name="Text 12"/>
          <p:cNvSpPr/>
          <p:nvPr/>
        </p:nvSpPr>
        <p:spPr>
          <a:xfrm>
            <a:off x="6402526" y="1921334"/>
            <a:ext cx="514290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7050166" y="1938122"/>
            <a:ext cx="1001137" cy="25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25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8070294" y="1921334"/>
            <a:ext cx="1136928" cy="25146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05549" y="1989914"/>
            <a:ext cx="9426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VOS DONNÉES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050166" y="2239409"/>
            <a:ext cx="4322861" cy="47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tables de données — l'équivalent de vos extractions ICM. On peut les voir, filtrer, explorer.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800" y="4636065"/>
            <a:ext cx="5324415" cy="2782133"/>
          </a:xfrm>
          <a:prstGeom prst="roundRect">
            <a:avLst>
              <a:gd name="adj" fmla="val 6163"/>
            </a:avLst>
          </a:prstGeom>
          <a:solidFill>
            <a:srgbClr val="FFFF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7406769"/>
            <a:ext cx="5324415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" y="4636065"/>
            <a:ext cx="5324415" cy="34290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4636065"/>
            <a:ext cx="11430" cy="2782133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998785" y="4636065"/>
            <a:ext cx="11430" cy="2782133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44761" y="4898955"/>
            <a:ext cx="438090" cy="438090"/>
          </a:xfrm>
          <a:prstGeom prst="roundRect">
            <a:avLst>
              <a:gd name="adj" fmla="val 26091"/>
            </a:avLst>
          </a:prstGeom>
          <a:solidFill>
            <a:srgbClr val="003087"/>
          </a:solidFill>
          <a:ln/>
        </p:spPr>
      </p:sp>
      <p:sp>
        <p:nvSpPr>
          <p:cNvPr id="26" name="Text 23"/>
          <p:cNvSpPr/>
          <p:nvPr/>
        </p:nvSpPr>
        <p:spPr>
          <a:xfrm>
            <a:off x="906661" y="4898955"/>
            <a:ext cx="514290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1554301" y="4915743"/>
            <a:ext cx="1684437" cy="25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25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Recettes </a:t>
            </a:r>
            <a:pPr algn="l" indent="0" marL="0">
              <a:lnSpc>
                <a:spcPct val="104000"/>
              </a:lnSpc>
              <a:buNone/>
            </a:pPr>
            <a:r>
              <a:rPr lang="en-US" sz="1200" spc="-25" kern="0" dirty="0">
                <a:solidFill>
                  <a:srgbClr val="85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(Recipes)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3257728" y="4898955"/>
            <a:ext cx="1403568" cy="25146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92983" y="4967535"/>
            <a:ext cx="12092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CŒUR DU MÉTIER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554301" y="5217031"/>
            <a:ext cx="4322861" cy="47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où l'on transforme les données : recettes visuelles ou SQL. On va surtout travailler ici.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181665" y="4638379"/>
            <a:ext cx="5324415" cy="2782133"/>
          </a:xfrm>
          <a:prstGeom prst="roundRect">
            <a:avLst>
              <a:gd name="adj" fmla="val 6163"/>
            </a:avLst>
          </a:prstGeom>
          <a:solidFill>
            <a:srgbClr val="FFFFFF">
              <a:alpha val="97000"/>
            </a:srgbClr>
          </a:solidFill>
          <a:ln w="11430">
            <a:solidFill>
              <a:srgbClr val="DCE2EE">
                <a:alpha val="97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873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40626" y="4878409"/>
            <a:ext cx="438090" cy="438090"/>
          </a:xfrm>
          <a:prstGeom prst="roundRect">
            <a:avLst>
              <a:gd name="adj" fmla="val 26091"/>
            </a:avLst>
          </a:prstGeom>
          <a:solidFill>
            <a:srgbClr val="E7F4FC"/>
          </a:solidFill>
          <a:ln/>
        </p:spPr>
      </p:sp>
      <p:sp>
        <p:nvSpPr>
          <p:cNvPr id="33" name="Text 30"/>
          <p:cNvSpPr/>
          <p:nvPr/>
        </p:nvSpPr>
        <p:spPr>
          <a:xfrm>
            <a:off x="6402526" y="4878409"/>
            <a:ext cx="514290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7050166" y="4895197"/>
            <a:ext cx="1088648" cy="25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25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</a:t>
            </a:r>
            <a:pPr algn="l" indent="0" marL="0">
              <a:lnSpc>
                <a:spcPct val="104000"/>
              </a:lnSpc>
              <a:buNone/>
            </a:pPr>
            <a:r>
              <a:rPr lang="en-US" sz="1200" spc="-25" kern="0" dirty="0">
                <a:solidFill>
                  <a:srgbClr val="85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 flux)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8157805" y="4878409"/>
            <a:ext cx="870287" cy="25146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93060" y="4946989"/>
            <a:ext cx="6759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VUE MACRO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050166" y="5196484"/>
            <a:ext cx="4322861" cy="47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vue globale du pipeline : d'où viennent les données et comment elles se transforment.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85800" y="7672051"/>
            <a:ext cx="10820280" cy="908328"/>
          </a:xfrm>
          <a:prstGeom prst="roundRect">
            <a:avLst>
              <a:gd name="adj" fmla="val 14681"/>
            </a:avLst>
          </a:prstGeom>
          <a:solidFill>
            <a:srgbClr val="FBFCFF">
              <a:alpha val="95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742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5800" y="8568949"/>
            <a:ext cx="10820280" cy="11430"/>
          </a:xfrm>
          <a:prstGeom prst="rect">
            <a:avLst/>
          </a:prstGeom>
          <a:solidFill>
            <a:srgbClr val="DCE2EE">
              <a:alpha val="95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" y="7672051"/>
            <a:ext cx="10820280" cy="11430"/>
          </a:xfrm>
          <a:prstGeom prst="rect">
            <a:avLst/>
          </a:prstGeom>
          <a:solidFill>
            <a:srgbClr val="DCE2EE">
              <a:alpha val="9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85800" y="7672051"/>
            <a:ext cx="45720" cy="908328"/>
          </a:xfrm>
          <a:prstGeom prst="rect">
            <a:avLst/>
          </a:prstGeom>
          <a:solidFill>
            <a:srgbClr val="41B6E6">
              <a:alpha val="95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1494650" y="7672051"/>
            <a:ext cx="11430" cy="908328"/>
          </a:xfrm>
          <a:prstGeom prst="rect">
            <a:avLst/>
          </a:prstGeom>
          <a:solidFill>
            <a:srgbClr val="DCE2EE">
              <a:alpha val="9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941010" y="7873981"/>
            <a:ext cx="583763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REPÈRE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600914" y="7854931"/>
            <a:ext cx="9974773" cy="580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l'interface : barre de gauche →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vos tables,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Recipes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vos transformations. Tout part et revient du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873641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8736411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structure de base — SELECT · FROM · WHERE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27"/>
            <a:ext cx="3505081" cy="1119783"/>
          </a:xfrm>
          <a:prstGeom prst="roundRect">
            <a:avLst>
              <a:gd name="adj" fmla="val 153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2789280"/>
            <a:ext cx="3505081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680927"/>
            <a:ext cx="3505081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680927"/>
            <a:ext cx="45720" cy="1119783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10" name="Shape 7"/>
          <p:cNvSpPr/>
          <p:nvPr/>
        </p:nvSpPr>
        <p:spPr>
          <a:xfrm>
            <a:off x="4179451" y="1680927"/>
            <a:ext cx="11430" cy="1119783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1882738"/>
            <a:ext cx="3080453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960120" y="2202778"/>
            <a:ext cx="30804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colonnes 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450309"/>
            <a:ext cx="3080453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les cases cochées dans ICM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221" y="1680927"/>
            <a:ext cx="3505259" cy="1119783"/>
          </a:xfrm>
          <a:prstGeom prst="roundRect">
            <a:avLst>
              <a:gd name="adj" fmla="val 153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43221" y="2789280"/>
            <a:ext cx="350525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3221" y="1680927"/>
            <a:ext cx="350525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221" y="1680927"/>
            <a:ext cx="45720" cy="1119783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18" name="Shape 15"/>
          <p:cNvSpPr/>
          <p:nvPr/>
        </p:nvSpPr>
        <p:spPr>
          <a:xfrm>
            <a:off x="7837051" y="1680927"/>
            <a:ext cx="11430" cy="1119783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9" name="Text 16"/>
          <p:cNvSpPr/>
          <p:nvPr/>
        </p:nvSpPr>
        <p:spPr>
          <a:xfrm>
            <a:off x="4617541" y="1882738"/>
            <a:ext cx="3080637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4617541" y="2202778"/>
            <a:ext cx="30806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table 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17541" y="2450309"/>
            <a:ext cx="3080637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le choix de la vue/source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00821" y="1680927"/>
            <a:ext cx="3505081" cy="1119783"/>
          </a:xfrm>
          <a:prstGeom prst="roundRect">
            <a:avLst>
              <a:gd name="adj" fmla="val 153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00821" y="2789280"/>
            <a:ext cx="3505081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4" name="Shape 21"/>
          <p:cNvSpPr/>
          <p:nvPr/>
        </p:nvSpPr>
        <p:spPr>
          <a:xfrm>
            <a:off x="8000821" y="1680927"/>
            <a:ext cx="3505081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5" name="Shape 22"/>
          <p:cNvSpPr/>
          <p:nvPr/>
        </p:nvSpPr>
        <p:spPr>
          <a:xfrm>
            <a:off x="8000821" y="1680927"/>
            <a:ext cx="45720" cy="1119783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26" name="Shape 23"/>
          <p:cNvSpPr/>
          <p:nvPr/>
        </p:nvSpPr>
        <p:spPr>
          <a:xfrm>
            <a:off x="11494472" y="1680927"/>
            <a:ext cx="11430" cy="1119783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7" name="Text 24"/>
          <p:cNvSpPr/>
          <p:nvPr/>
        </p:nvSpPr>
        <p:spPr>
          <a:xfrm>
            <a:off x="8275141" y="1882738"/>
            <a:ext cx="3080453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575" dirty="0"/>
          </a:p>
        </p:txBody>
      </p:sp>
      <p:sp>
        <p:nvSpPr>
          <p:cNvPr id="28" name="Text 25"/>
          <p:cNvSpPr/>
          <p:nvPr/>
        </p:nvSpPr>
        <p:spPr>
          <a:xfrm>
            <a:off x="8275141" y="2202778"/>
            <a:ext cx="30804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filtre ?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75141" y="2450309"/>
            <a:ext cx="3080453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les filtres sélectionnés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85800" y="3010578"/>
            <a:ext cx="10820280" cy="4696658"/>
          </a:xfrm>
          <a:prstGeom prst="roundRect">
            <a:avLst>
              <a:gd name="adj" fmla="val 2839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5985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97230" y="3022008"/>
            <a:ext cx="10797420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32" name="Shape 29"/>
          <p:cNvSpPr/>
          <p:nvPr/>
        </p:nvSpPr>
        <p:spPr>
          <a:xfrm>
            <a:off x="697230" y="3368480"/>
            <a:ext cx="10797420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33" name="Shape 30"/>
          <p:cNvSpPr/>
          <p:nvPr/>
        </p:nvSpPr>
        <p:spPr>
          <a:xfrm>
            <a:off x="849570" y="3142916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34" name="Shape 31"/>
          <p:cNvSpPr/>
          <p:nvPr/>
        </p:nvSpPr>
        <p:spPr>
          <a:xfrm>
            <a:off x="1030307" y="3142916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35" name="Shape 32"/>
          <p:cNvSpPr/>
          <p:nvPr/>
        </p:nvSpPr>
        <p:spPr>
          <a:xfrm>
            <a:off x="1211044" y="3142916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467862" y="3126664"/>
            <a:ext cx="404527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recette_base.sql — équivalent d'une extraction ICM</a:t>
            </a:r>
            <a:endParaRPr lang="en-US" sz="938" dirty="0"/>
          </a:p>
        </p:txBody>
      </p:sp>
      <p:sp>
        <p:nvSpPr>
          <p:cNvPr id="37" name="Text 34"/>
          <p:cNvSpPr/>
          <p:nvPr/>
        </p:nvSpPr>
        <p:spPr>
          <a:xfrm>
            <a:off x="906780" y="3551360"/>
            <a:ext cx="10702243" cy="1679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38" i="1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Je veux les transactions d'un client précis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id_transaction, date_operation, montant, libelle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transactions_carte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code_client   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'C00123456'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(statut) 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date_operation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'2024-01-01'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'2024-12-31'</a:t>
            </a:r>
            <a:endParaRPr lang="en-US" sz="1238" dirty="0"/>
          </a:p>
        </p:txBody>
      </p:sp>
      <p:sp>
        <p:nvSpPr>
          <p:cNvPr id="38" name="Shape 35"/>
          <p:cNvSpPr/>
          <p:nvPr/>
        </p:nvSpPr>
        <p:spPr>
          <a:xfrm>
            <a:off x="685800" y="7937015"/>
            <a:ext cx="10820280" cy="637044"/>
          </a:xfrm>
          <a:prstGeom prst="roundRect">
            <a:avLst>
              <a:gd name="adj" fmla="val 20933"/>
            </a:avLst>
          </a:prstGeom>
          <a:solidFill>
            <a:srgbClr val="FBFC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5800" y="8562629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" y="7937015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85800" y="7937015"/>
            <a:ext cx="45720" cy="637044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1494650" y="7937015"/>
            <a:ext cx="11430" cy="637044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941010" y="8138945"/>
            <a:ext cx="583763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ASTUCE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600914" y="8119895"/>
            <a:ext cx="9900640" cy="309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colonnes à afficher ·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la source ·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les filtres. Exactement comme dans ICM, mais en texte.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789152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7891521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&amp; ORDER BY — regrouper et trier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36"/>
            <a:ext cx="4880788" cy="2422267"/>
          </a:xfrm>
          <a:prstGeom prst="roundRect">
            <a:avLst>
              <a:gd name="adj" fmla="val 7078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7611" y="1844707"/>
            <a:ext cx="461148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D'ENTRÉE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887611" y="2410313"/>
            <a:ext cx="1435537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9" name="Text 6"/>
          <p:cNvSpPr/>
          <p:nvPr/>
        </p:nvSpPr>
        <p:spPr>
          <a:xfrm>
            <a:off x="1001911" y="2166592"/>
            <a:ext cx="1283137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AGENCE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2323147" y="2410313"/>
            <a:ext cx="1605736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11" name="Text 8"/>
          <p:cNvSpPr/>
          <p:nvPr/>
        </p:nvSpPr>
        <p:spPr>
          <a:xfrm>
            <a:off x="2437447" y="2166592"/>
            <a:ext cx="1453336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</a:t>
            </a:r>
            <a:endParaRPr lang="en-US" sz="1088" dirty="0"/>
          </a:p>
        </p:txBody>
      </p:sp>
      <p:sp>
        <p:nvSpPr>
          <p:cNvPr id="12" name="Shape 9"/>
          <p:cNvSpPr/>
          <p:nvPr/>
        </p:nvSpPr>
        <p:spPr>
          <a:xfrm>
            <a:off x="3928884" y="2410313"/>
            <a:ext cx="1435894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13" name="Text 10"/>
          <p:cNvSpPr/>
          <p:nvPr/>
        </p:nvSpPr>
        <p:spPr>
          <a:xfrm>
            <a:off x="4043184" y="2166592"/>
            <a:ext cx="1283494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</a:t>
            </a:r>
            <a:endParaRPr lang="en-US" sz="1088" dirty="0"/>
          </a:p>
        </p:txBody>
      </p:sp>
      <p:sp>
        <p:nvSpPr>
          <p:cNvPr id="14" name="Shape 11"/>
          <p:cNvSpPr/>
          <p:nvPr/>
        </p:nvSpPr>
        <p:spPr>
          <a:xfrm>
            <a:off x="887611" y="2714994"/>
            <a:ext cx="1435537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5" name="Text 12"/>
          <p:cNvSpPr/>
          <p:nvPr/>
        </p:nvSpPr>
        <p:spPr>
          <a:xfrm>
            <a:off x="1001911" y="2488418"/>
            <a:ext cx="1283137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16" name="Shape 13"/>
          <p:cNvSpPr/>
          <p:nvPr/>
        </p:nvSpPr>
        <p:spPr>
          <a:xfrm>
            <a:off x="2323147" y="2714994"/>
            <a:ext cx="160573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7" name="Text 14"/>
          <p:cNvSpPr/>
          <p:nvPr/>
        </p:nvSpPr>
        <p:spPr>
          <a:xfrm>
            <a:off x="2361247" y="2488418"/>
            <a:ext cx="1453336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3928884" y="2714994"/>
            <a:ext cx="143589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9" name="Text 16"/>
          <p:cNvSpPr/>
          <p:nvPr/>
        </p:nvSpPr>
        <p:spPr>
          <a:xfrm>
            <a:off x="4043184" y="2488418"/>
            <a:ext cx="128349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088" dirty="0"/>
          </a:p>
        </p:txBody>
      </p:sp>
      <p:sp>
        <p:nvSpPr>
          <p:cNvPr id="20" name="Shape 17"/>
          <p:cNvSpPr/>
          <p:nvPr/>
        </p:nvSpPr>
        <p:spPr>
          <a:xfrm>
            <a:off x="887611" y="3019675"/>
            <a:ext cx="1435537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1" name="Text 18"/>
          <p:cNvSpPr/>
          <p:nvPr/>
        </p:nvSpPr>
        <p:spPr>
          <a:xfrm>
            <a:off x="1001911" y="2793099"/>
            <a:ext cx="1283137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22" name="Shape 19"/>
          <p:cNvSpPr/>
          <p:nvPr/>
        </p:nvSpPr>
        <p:spPr>
          <a:xfrm>
            <a:off x="2323147" y="3019675"/>
            <a:ext cx="160573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3" name="Text 20"/>
          <p:cNvSpPr/>
          <p:nvPr/>
        </p:nvSpPr>
        <p:spPr>
          <a:xfrm>
            <a:off x="2361247" y="2793099"/>
            <a:ext cx="1453336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3928884" y="3019675"/>
            <a:ext cx="143589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5" name="Text 22"/>
          <p:cNvSpPr/>
          <p:nvPr/>
        </p:nvSpPr>
        <p:spPr>
          <a:xfrm>
            <a:off x="4043184" y="2793099"/>
            <a:ext cx="128349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088" dirty="0"/>
          </a:p>
        </p:txBody>
      </p:sp>
      <p:sp>
        <p:nvSpPr>
          <p:cNvPr id="26" name="Shape 23"/>
          <p:cNvSpPr/>
          <p:nvPr/>
        </p:nvSpPr>
        <p:spPr>
          <a:xfrm>
            <a:off x="887611" y="3324356"/>
            <a:ext cx="1435537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7" name="Text 24"/>
          <p:cNvSpPr/>
          <p:nvPr/>
        </p:nvSpPr>
        <p:spPr>
          <a:xfrm>
            <a:off x="1001911" y="3097780"/>
            <a:ext cx="1283137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LBP002</a:t>
            </a:r>
            <a:endParaRPr lang="en-US" sz="1088" dirty="0"/>
          </a:p>
        </p:txBody>
      </p:sp>
      <p:sp>
        <p:nvSpPr>
          <p:cNvPr id="28" name="Shape 25"/>
          <p:cNvSpPr/>
          <p:nvPr/>
        </p:nvSpPr>
        <p:spPr>
          <a:xfrm>
            <a:off x="2323147" y="3324356"/>
            <a:ext cx="160573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9" name="Text 26"/>
          <p:cNvSpPr/>
          <p:nvPr/>
        </p:nvSpPr>
        <p:spPr>
          <a:xfrm>
            <a:off x="2361247" y="3097780"/>
            <a:ext cx="1453336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088" dirty="0"/>
          </a:p>
        </p:txBody>
      </p:sp>
      <p:sp>
        <p:nvSpPr>
          <p:cNvPr id="30" name="Shape 27"/>
          <p:cNvSpPr/>
          <p:nvPr/>
        </p:nvSpPr>
        <p:spPr>
          <a:xfrm>
            <a:off x="3928884" y="3324356"/>
            <a:ext cx="143589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1" name="Text 28"/>
          <p:cNvSpPr/>
          <p:nvPr/>
        </p:nvSpPr>
        <p:spPr>
          <a:xfrm>
            <a:off x="4043184" y="3097780"/>
            <a:ext cx="128349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088" dirty="0"/>
          </a:p>
        </p:txBody>
      </p:sp>
      <p:sp>
        <p:nvSpPr>
          <p:cNvPr id="32" name="Shape 29"/>
          <p:cNvSpPr/>
          <p:nvPr/>
        </p:nvSpPr>
        <p:spPr>
          <a:xfrm>
            <a:off x="887611" y="3629037"/>
            <a:ext cx="1435537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3" name="Text 30"/>
          <p:cNvSpPr/>
          <p:nvPr/>
        </p:nvSpPr>
        <p:spPr>
          <a:xfrm>
            <a:off x="1001911" y="3402461"/>
            <a:ext cx="1283137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34" name="Shape 31"/>
          <p:cNvSpPr/>
          <p:nvPr/>
        </p:nvSpPr>
        <p:spPr>
          <a:xfrm>
            <a:off x="2323147" y="3629037"/>
            <a:ext cx="160573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5" name="Text 32"/>
          <p:cNvSpPr/>
          <p:nvPr/>
        </p:nvSpPr>
        <p:spPr>
          <a:xfrm>
            <a:off x="2361247" y="3402461"/>
            <a:ext cx="1453336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88" dirty="0"/>
          </a:p>
        </p:txBody>
      </p:sp>
      <p:sp>
        <p:nvSpPr>
          <p:cNvPr id="36" name="Shape 33"/>
          <p:cNvSpPr/>
          <p:nvPr/>
        </p:nvSpPr>
        <p:spPr>
          <a:xfrm>
            <a:off x="3928884" y="3629037"/>
            <a:ext cx="143589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7" name="Text 34"/>
          <p:cNvSpPr/>
          <p:nvPr/>
        </p:nvSpPr>
        <p:spPr>
          <a:xfrm>
            <a:off x="4043184" y="3402461"/>
            <a:ext cx="128349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5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</a:t>
            </a:r>
            <a:endParaRPr lang="en-US" sz="1088" dirty="0"/>
          </a:p>
        </p:txBody>
      </p:sp>
      <p:sp>
        <p:nvSpPr>
          <p:cNvPr id="38" name="Text 35"/>
          <p:cNvSpPr/>
          <p:nvPr/>
        </p:nvSpPr>
        <p:spPr>
          <a:xfrm>
            <a:off x="1001911" y="3707142"/>
            <a:ext cx="1283137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LBP002</a:t>
            </a:r>
            <a:endParaRPr lang="en-US" sz="1088" dirty="0"/>
          </a:p>
        </p:txBody>
      </p:sp>
      <p:sp>
        <p:nvSpPr>
          <p:cNvPr id="39" name="Text 36"/>
          <p:cNvSpPr/>
          <p:nvPr/>
        </p:nvSpPr>
        <p:spPr>
          <a:xfrm>
            <a:off x="2361247" y="3707142"/>
            <a:ext cx="1453336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310</a:t>
            </a:r>
            <a:endParaRPr lang="en-US" sz="1088" dirty="0"/>
          </a:p>
        </p:txBody>
      </p:sp>
      <p:sp>
        <p:nvSpPr>
          <p:cNvPr id="40" name="Text 37"/>
          <p:cNvSpPr/>
          <p:nvPr/>
        </p:nvSpPr>
        <p:spPr>
          <a:xfrm>
            <a:off x="4043184" y="3707142"/>
            <a:ext cx="1283494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088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236434"/>
            <a:ext cx="361831" cy="361831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1219081" y="4274475"/>
            <a:ext cx="2590681" cy="28575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354336" y="4343055"/>
            <a:ext cx="2397891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AGENCE + COUNT + SUM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685800" y="4731496"/>
            <a:ext cx="4880788" cy="1576804"/>
          </a:xfrm>
          <a:prstGeom prst="roundRect">
            <a:avLst>
              <a:gd name="adj" fmla="val 108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685800" y="6296871"/>
            <a:ext cx="4880788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46" name="Shape 42"/>
          <p:cNvSpPr/>
          <p:nvPr/>
        </p:nvSpPr>
        <p:spPr>
          <a:xfrm>
            <a:off x="685800" y="4731496"/>
            <a:ext cx="4880788" cy="34290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47" name="Shape 43"/>
          <p:cNvSpPr/>
          <p:nvPr/>
        </p:nvSpPr>
        <p:spPr>
          <a:xfrm>
            <a:off x="685800" y="4731496"/>
            <a:ext cx="11430" cy="1576804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48" name="Shape 44"/>
          <p:cNvSpPr/>
          <p:nvPr/>
        </p:nvSpPr>
        <p:spPr>
          <a:xfrm>
            <a:off x="5555158" y="4731496"/>
            <a:ext cx="11430" cy="1576804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49" name="Text 45"/>
          <p:cNvSpPr/>
          <p:nvPr/>
        </p:nvSpPr>
        <p:spPr>
          <a:xfrm>
            <a:off x="887611" y="4918127"/>
            <a:ext cx="461148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REGROUPÉE</a:t>
            </a:r>
            <a:endParaRPr lang="en-US" sz="975" dirty="0"/>
          </a:p>
        </p:txBody>
      </p:sp>
      <p:sp>
        <p:nvSpPr>
          <p:cNvPr id="50" name="Shape 46"/>
          <p:cNvSpPr/>
          <p:nvPr/>
        </p:nvSpPr>
        <p:spPr>
          <a:xfrm>
            <a:off x="887611" y="5483733"/>
            <a:ext cx="1833265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51" name="Text 47"/>
          <p:cNvSpPr/>
          <p:nvPr/>
        </p:nvSpPr>
        <p:spPr>
          <a:xfrm>
            <a:off x="1001911" y="5240012"/>
            <a:ext cx="1680865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AGENCE</a:t>
            </a:r>
            <a:endParaRPr lang="en-US" sz="1088" dirty="0"/>
          </a:p>
        </p:txBody>
      </p:sp>
      <p:sp>
        <p:nvSpPr>
          <p:cNvPr id="52" name="Shape 48"/>
          <p:cNvSpPr/>
          <p:nvPr/>
        </p:nvSpPr>
        <p:spPr>
          <a:xfrm>
            <a:off x="2720875" y="5483733"/>
            <a:ext cx="963870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53" name="Text 49"/>
          <p:cNvSpPr/>
          <p:nvPr/>
        </p:nvSpPr>
        <p:spPr>
          <a:xfrm>
            <a:off x="2835175" y="5240012"/>
            <a:ext cx="811470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</a:t>
            </a:r>
            <a:endParaRPr lang="en-US" sz="1088" dirty="0"/>
          </a:p>
        </p:txBody>
      </p:sp>
      <p:sp>
        <p:nvSpPr>
          <p:cNvPr id="54" name="Shape 50"/>
          <p:cNvSpPr/>
          <p:nvPr/>
        </p:nvSpPr>
        <p:spPr>
          <a:xfrm>
            <a:off x="3684746" y="5483733"/>
            <a:ext cx="1680031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55" name="Text 51"/>
          <p:cNvSpPr/>
          <p:nvPr/>
        </p:nvSpPr>
        <p:spPr>
          <a:xfrm>
            <a:off x="3799046" y="5240012"/>
            <a:ext cx="1527631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088" dirty="0"/>
          </a:p>
        </p:txBody>
      </p:sp>
      <p:sp>
        <p:nvSpPr>
          <p:cNvPr id="56" name="Shape 52"/>
          <p:cNvSpPr/>
          <p:nvPr/>
        </p:nvSpPr>
        <p:spPr>
          <a:xfrm>
            <a:off x="887611" y="5811274"/>
            <a:ext cx="183326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7" name="Text 53"/>
          <p:cNvSpPr/>
          <p:nvPr/>
        </p:nvSpPr>
        <p:spPr>
          <a:xfrm>
            <a:off x="1001911" y="5561838"/>
            <a:ext cx="1680865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58" name="Shape 54"/>
          <p:cNvSpPr/>
          <p:nvPr/>
        </p:nvSpPr>
        <p:spPr>
          <a:xfrm>
            <a:off x="2720875" y="5811274"/>
            <a:ext cx="96387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9" name="Text 55"/>
          <p:cNvSpPr/>
          <p:nvPr/>
        </p:nvSpPr>
        <p:spPr>
          <a:xfrm>
            <a:off x="2758975" y="5561838"/>
            <a:ext cx="811470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88" dirty="0"/>
          </a:p>
        </p:txBody>
      </p:sp>
      <p:sp>
        <p:nvSpPr>
          <p:cNvPr id="60" name="Shape 56"/>
          <p:cNvSpPr/>
          <p:nvPr/>
        </p:nvSpPr>
        <p:spPr>
          <a:xfrm>
            <a:off x="3684746" y="5811274"/>
            <a:ext cx="1680031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1" name="Text 57"/>
          <p:cNvSpPr/>
          <p:nvPr/>
        </p:nvSpPr>
        <p:spPr>
          <a:xfrm>
            <a:off x="3722846" y="5561838"/>
            <a:ext cx="1527631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570.00</a:t>
            </a:r>
            <a:endParaRPr lang="en-US" sz="1088" dirty="0"/>
          </a:p>
        </p:txBody>
      </p:sp>
      <p:sp>
        <p:nvSpPr>
          <p:cNvPr id="62" name="Text 58"/>
          <p:cNvSpPr/>
          <p:nvPr/>
        </p:nvSpPr>
        <p:spPr>
          <a:xfrm>
            <a:off x="1001911" y="5889379"/>
            <a:ext cx="1680865" cy="226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LBP002</a:t>
            </a:r>
            <a:endParaRPr lang="en-US" sz="1088" dirty="0"/>
          </a:p>
        </p:txBody>
      </p:sp>
      <p:sp>
        <p:nvSpPr>
          <p:cNvPr id="63" name="Text 59"/>
          <p:cNvSpPr/>
          <p:nvPr/>
        </p:nvSpPr>
        <p:spPr>
          <a:xfrm>
            <a:off x="2758975" y="5889379"/>
            <a:ext cx="811470" cy="226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88" dirty="0"/>
          </a:p>
        </p:txBody>
      </p:sp>
      <p:sp>
        <p:nvSpPr>
          <p:cNvPr id="64" name="Text 60"/>
          <p:cNvSpPr/>
          <p:nvPr/>
        </p:nvSpPr>
        <p:spPr>
          <a:xfrm>
            <a:off x="3722846" y="5889379"/>
            <a:ext cx="1527631" cy="226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390.00</a:t>
            </a:r>
            <a:endParaRPr lang="en-US" sz="1088" dirty="0"/>
          </a:p>
        </p:txBody>
      </p:sp>
      <p:sp>
        <p:nvSpPr>
          <p:cNvPr id="65" name="Shape 61"/>
          <p:cNvSpPr/>
          <p:nvPr/>
        </p:nvSpPr>
        <p:spPr>
          <a:xfrm>
            <a:off x="5776079" y="1681390"/>
            <a:ext cx="5730001" cy="2810708"/>
          </a:xfrm>
          <a:prstGeom prst="roundRect">
            <a:avLst>
              <a:gd name="adj" fmla="val 4744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60000"/>
              </a:srgbClr>
            </a:outerShdw>
          </a:effectLst>
        </p:spPr>
      </p:sp>
      <p:sp>
        <p:nvSpPr>
          <p:cNvPr id="66" name="Shape 62"/>
          <p:cNvSpPr/>
          <p:nvPr/>
        </p:nvSpPr>
        <p:spPr>
          <a:xfrm>
            <a:off x="5787509" y="1692820"/>
            <a:ext cx="5707142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67" name="Shape 63"/>
          <p:cNvSpPr/>
          <p:nvPr/>
        </p:nvSpPr>
        <p:spPr>
          <a:xfrm>
            <a:off x="5787509" y="2039292"/>
            <a:ext cx="5707142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68" name="Shape 64"/>
          <p:cNvSpPr/>
          <p:nvPr/>
        </p:nvSpPr>
        <p:spPr>
          <a:xfrm>
            <a:off x="5939849" y="1813728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69" name="Shape 65"/>
          <p:cNvSpPr/>
          <p:nvPr/>
        </p:nvSpPr>
        <p:spPr>
          <a:xfrm>
            <a:off x="6120586" y="1813728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70" name="Shape 66"/>
          <p:cNvSpPr/>
          <p:nvPr/>
        </p:nvSpPr>
        <p:spPr>
          <a:xfrm>
            <a:off x="6301323" y="1813728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71" name="Text 67"/>
          <p:cNvSpPr/>
          <p:nvPr/>
        </p:nvSpPr>
        <p:spPr>
          <a:xfrm>
            <a:off x="6558141" y="1797476"/>
            <a:ext cx="251132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regrouper et compter par agence</a:t>
            </a:r>
            <a:endParaRPr lang="en-US" sz="938" dirty="0"/>
          </a:p>
        </p:txBody>
      </p:sp>
      <p:sp>
        <p:nvSpPr>
          <p:cNvPr id="72" name="Text 68"/>
          <p:cNvSpPr/>
          <p:nvPr/>
        </p:nvSpPr>
        <p:spPr>
          <a:xfrm>
            <a:off x="5997059" y="2222172"/>
            <a:ext cx="5459256" cy="1503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(code_agence)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agence,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nb_op,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(montant)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transactions_carte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(statut)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(code_agence)</a:t>
            </a:r>
            <a:endParaRPr lang="en-US" sz="1125" dirty="0"/>
          </a:p>
        </p:txBody>
      </p:sp>
      <p:sp>
        <p:nvSpPr>
          <p:cNvPr id="73" name="Shape 69"/>
          <p:cNvSpPr/>
          <p:nvPr/>
        </p:nvSpPr>
        <p:spPr>
          <a:xfrm>
            <a:off x="5776079" y="4644438"/>
            <a:ext cx="5730001" cy="2810708"/>
          </a:xfrm>
          <a:prstGeom prst="roundRect">
            <a:avLst>
              <a:gd name="adj" fmla="val 4744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60000"/>
              </a:srgbClr>
            </a:outerShdw>
          </a:effectLst>
        </p:spPr>
      </p:sp>
      <p:sp>
        <p:nvSpPr>
          <p:cNvPr id="74" name="Shape 70"/>
          <p:cNvSpPr/>
          <p:nvPr/>
        </p:nvSpPr>
        <p:spPr>
          <a:xfrm>
            <a:off x="5787509" y="4655868"/>
            <a:ext cx="5707142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75" name="Shape 71"/>
          <p:cNvSpPr/>
          <p:nvPr/>
        </p:nvSpPr>
        <p:spPr>
          <a:xfrm>
            <a:off x="5787509" y="5002340"/>
            <a:ext cx="5707142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76" name="Shape 72"/>
          <p:cNvSpPr/>
          <p:nvPr/>
        </p:nvSpPr>
        <p:spPr>
          <a:xfrm>
            <a:off x="5939849" y="4776776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77" name="Shape 73"/>
          <p:cNvSpPr/>
          <p:nvPr/>
        </p:nvSpPr>
        <p:spPr>
          <a:xfrm>
            <a:off x="6120586" y="4776776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78" name="Shape 74"/>
          <p:cNvSpPr/>
          <p:nvPr/>
        </p:nvSpPr>
        <p:spPr>
          <a:xfrm>
            <a:off x="6301323" y="4776776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79" name="Text 75"/>
          <p:cNvSpPr/>
          <p:nvPr/>
        </p:nvSpPr>
        <p:spPr>
          <a:xfrm>
            <a:off x="6558141" y="4760524"/>
            <a:ext cx="364076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ORDER BY DESC — du plus grand au plus petit</a:t>
            </a:r>
            <a:endParaRPr lang="en-US" sz="938" dirty="0"/>
          </a:p>
        </p:txBody>
      </p:sp>
      <p:sp>
        <p:nvSpPr>
          <p:cNvPr id="80" name="Text 76"/>
          <p:cNvSpPr/>
          <p:nvPr/>
        </p:nvSpPr>
        <p:spPr>
          <a:xfrm>
            <a:off x="5997059" y="5185220"/>
            <a:ext cx="5459256" cy="1748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(code_agence)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agence,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nb_op,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(montant)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transactions_carte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(statut)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(code_agence)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25" dirty="0"/>
          </a:p>
        </p:txBody>
      </p:sp>
      <p:sp>
        <p:nvSpPr>
          <p:cNvPr id="81" name="Shape 77"/>
          <p:cNvSpPr/>
          <p:nvPr/>
        </p:nvSpPr>
        <p:spPr>
          <a:xfrm>
            <a:off x="685800" y="7665922"/>
            <a:ext cx="10820280" cy="908328"/>
          </a:xfrm>
          <a:prstGeom prst="roundRect">
            <a:avLst>
              <a:gd name="adj" fmla="val 14681"/>
            </a:avLst>
          </a:prstGeom>
          <a:solidFill>
            <a:srgbClr val="FBFC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3"/>
              </a:srgbClr>
            </a:outerShdw>
          </a:effectLst>
        </p:spPr>
      </p:sp>
      <p:sp>
        <p:nvSpPr>
          <p:cNvPr id="82" name="Shape 78"/>
          <p:cNvSpPr/>
          <p:nvPr/>
        </p:nvSpPr>
        <p:spPr>
          <a:xfrm>
            <a:off x="685800" y="8562819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83" name="Shape 79"/>
          <p:cNvSpPr/>
          <p:nvPr/>
        </p:nvSpPr>
        <p:spPr>
          <a:xfrm>
            <a:off x="685800" y="7665922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84" name="Shape 80"/>
          <p:cNvSpPr/>
          <p:nvPr/>
        </p:nvSpPr>
        <p:spPr>
          <a:xfrm>
            <a:off x="685800" y="7665922"/>
            <a:ext cx="45720" cy="908328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85" name="Shape 81"/>
          <p:cNvSpPr/>
          <p:nvPr/>
        </p:nvSpPr>
        <p:spPr>
          <a:xfrm>
            <a:off x="11494650" y="7665922"/>
            <a:ext cx="11430" cy="908328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86" name="Text 82"/>
          <p:cNvSpPr/>
          <p:nvPr/>
        </p:nvSpPr>
        <p:spPr>
          <a:xfrm>
            <a:off x="941010" y="7867851"/>
            <a:ext cx="922020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RÈGLE D'OR</a:t>
            </a:r>
            <a:endParaRPr lang="en-US" sz="900" dirty="0"/>
          </a:p>
        </p:txBody>
      </p:sp>
      <p:sp>
        <p:nvSpPr>
          <p:cNvPr id="87" name="Text 83"/>
          <p:cNvSpPr/>
          <p:nvPr/>
        </p:nvSpPr>
        <p:spPr>
          <a:xfrm>
            <a:off x="1939171" y="7848801"/>
            <a:ext cx="9626368" cy="580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est dans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fonction d'agrégation doit aussi être dans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Sinon HiveSQL renvoie une erreur.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92790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9279068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 — extraire une partie d'une chaîne de texte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745767"/>
            <a:ext cx="4783455" cy="948511"/>
          </a:xfrm>
          <a:prstGeom prst="roundRect">
            <a:avLst>
              <a:gd name="adj" fmla="val 180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2682848"/>
            <a:ext cx="478345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745767"/>
            <a:ext cx="478345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745767"/>
            <a:ext cx="45720" cy="948511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10" name="Shape 7"/>
          <p:cNvSpPr/>
          <p:nvPr/>
        </p:nvSpPr>
        <p:spPr>
          <a:xfrm>
            <a:off x="5457825" y="1745767"/>
            <a:ext cx="11430" cy="948511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1" name="Text 8"/>
          <p:cNvSpPr/>
          <p:nvPr/>
        </p:nvSpPr>
        <p:spPr>
          <a:xfrm>
            <a:off x="979051" y="1966687"/>
            <a:ext cx="435818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0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pPr algn="l" indent="0" marL="0">
              <a:buNone/>
            </a:pPr>
            <a:r>
              <a:rPr lang="en-US" sz="14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chaîne , </a:t>
            </a:r>
            <a:pPr algn="l" indent="0" marL="0">
              <a:buNone/>
            </a:pPr>
            <a:r>
              <a:rPr lang="en-US" sz="1425" b="1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début </a:t>
            </a:r>
            <a:pPr algn="l" indent="0" marL="0">
              <a:buNone/>
            </a:pPr>
            <a:r>
              <a:rPr lang="en-US" sz="14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425" b="1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longueur </a:t>
            </a:r>
            <a:pPr algn="l" indent="0" marL="0">
              <a:buNone/>
            </a:pPr>
            <a:r>
              <a:rPr lang="en-US" sz="14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979051" y="2301908"/>
            <a:ext cx="43581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découper un morceau de texte à partir d'une position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59635" y="1680937"/>
            <a:ext cx="5846445" cy="1078170"/>
          </a:xfrm>
          <a:prstGeom prst="roundRect">
            <a:avLst>
              <a:gd name="adj" fmla="val 15902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80556" y="1863817"/>
            <a:ext cx="556674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— UN IBAN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5880556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93785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6013787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242387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616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6375618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604218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17446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6737449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966049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79277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7099279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327879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EEF2FA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41108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7461111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7689711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02939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75" dirty="0"/>
          </a:p>
        </p:txBody>
      </p:sp>
      <p:sp>
        <p:nvSpPr>
          <p:cNvPr id="32" name="Text 29"/>
          <p:cNvSpPr/>
          <p:nvPr/>
        </p:nvSpPr>
        <p:spPr>
          <a:xfrm>
            <a:off x="7822942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8051542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64770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75" dirty="0"/>
          </a:p>
        </p:txBody>
      </p:sp>
      <p:sp>
        <p:nvSpPr>
          <p:cNvPr id="35" name="Text 32"/>
          <p:cNvSpPr/>
          <p:nvPr/>
        </p:nvSpPr>
        <p:spPr>
          <a:xfrm>
            <a:off x="8184773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8413373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526601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75" dirty="0"/>
          </a:p>
        </p:txBody>
      </p:sp>
      <p:sp>
        <p:nvSpPr>
          <p:cNvPr id="38" name="Text 35"/>
          <p:cNvSpPr/>
          <p:nvPr/>
        </p:nvSpPr>
        <p:spPr>
          <a:xfrm>
            <a:off x="8546603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8775203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888432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75" dirty="0"/>
          </a:p>
        </p:txBody>
      </p:sp>
      <p:sp>
        <p:nvSpPr>
          <p:cNvPr id="41" name="Text 38"/>
          <p:cNvSpPr/>
          <p:nvPr/>
        </p:nvSpPr>
        <p:spPr>
          <a:xfrm>
            <a:off x="8908434" y="2412278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9137034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EEF2FA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50263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275" dirty="0"/>
          </a:p>
        </p:txBody>
      </p:sp>
      <p:sp>
        <p:nvSpPr>
          <p:cNvPr id="44" name="Text 41"/>
          <p:cNvSpPr/>
          <p:nvPr/>
        </p:nvSpPr>
        <p:spPr>
          <a:xfrm>
            <a:off x="9241690" y="2412278"/>
            <a:ext cx="190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9498865" y="2138137"/>
            <a:ext cx="323790" cy="438090"/>
          </a:xfrm>
          <a:prstGeom prst="roundRect">
            <a:avLst>
              <a:gd name="adj" fmla="val 20592"/>
            </a:avLst>
          </a:prstGeom>
          <a:solidFill>
            <a:srgbClr val="F8FAFE"/>
          </a:solidFill>
          <a:ln w="11430">
            <a:solidFill>
              <a:srgbClr val="C7D0E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612094" y="2187608"/>
            <a:ext cx="17335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75" dirty="0"/>
          </a:p>
        </p:txBody>
      </p:sp>
      <p:sp>
        <p:nvSpPr>
          <p:cNvPr id="47" name="Text 44"/>
          <p:cNvSpPr/>
          <p:nvPr/>
        </p:nvSpPr>
        <p:spPr>
          <a:xfrm>
            <a:off x="9603521" y="2412278"/>
            <a:ext cx="190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9917846" y="2277083"/>
            <a:ext cx="16210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25" dirty="0"/>
          </a:p>
        </p:txBody>
      </p:sp>
      <p:sp>
        <p:nvSpPr>
          <p:cNvPr id="49" name="Shape 46"/>
          <p:cNvSpPr/>
          <p:nvPr/>
        </p:nvSpPr>
        <p:spPr>
          <a:xfrm>
            <a:off x="685800" y="2969055"/>
            <a:ext cx="10820280" cy="4486096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85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44761" y="4811964"/>
            <a:ext cx="350275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1" name="Text 48"/>
          <p:cNvSpPr/>
          <p:nvPr/>
        </p:nvSpPr>
        <p:spPr>
          <a:xfrm>
            <a:off x="1078111" y="4526214"/>
            <a:ext cx="334114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SUBSTR(iban, 1, 2)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4447520" y="4811964"/>
            <a:ext cx="207204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3" name="Text 50"/>
          <p:cNvSpPr/>
          <p:nvPr/>
        </p:nvSpPr>
        <p:spPr>
          <a:xfrm>
            <a:off x="4580870" y="4526214"/>
            <a:ext cx="18815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8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'FR'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6519564" y="4811964"/>
            <a:ext cx="472755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5" name="Text 52"/>
          <p:cNvSpPr/>
          <p:nvPr/>
        </p:nvSpPr>
        <p:spPr>
          <a:xfrm>
            <a:off x="6652914" y="4526214"/>
            <a:ext cx="46026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pays (positions 1 à 2)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944761" y="5200584"/>
            <a:ext cx="350275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7" name="Text 54"/>
          <p:cNvSpPr/>
          <p:nvPr/>
        </p:nvSpPr>
        <p:spPr>
          <a:xfrm>
            <a:off x="1078111" y="4909119"/>
            <a:ext cx="334114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SUBSTR(iban, 5, 5)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447520" y="5200584"/>
            <a:ext cx="207204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9" name="Text 56"/>
          <p:cNvSpPr/>
          <p:nvPr/>
        </p:nvSpPr>
        <p:spPr>
          <a:xfrm>
            <a:off x="4580870" y="4909119"/>
            <a:ext cx="188154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8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'30006'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6519564" y="5200584"/>
            <a:ext cx="472755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1" name="Text 58"/>
          <p:cNvSpPr/>
          <p:nvPr/>
        </p:nvSpPr>
        <p:spPr>
          <a:xfrm>
            <a:off x="6652914" y="4909119"/>
            <a:ext cx="460268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banque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944761" y="5589204"/>
            <a:ext cx="350275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3" name="Text 60"/>
          <p:cNvSpPr/>
          <p:nvPr/>
        </p:nvSpPr>
        <p:spPr>
          <a:xfrm>
            <a:off x="1078111" y="5297739"/>
            <a:ext cx="334114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SUBSTR(ref_op, 1, 6)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4447520" y="5589204"/>
            <a:ext cx="207204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5" name="Text 62"/>
          <p:cNvSpPr/>
          <p:nvPr/>
        </p:nvSpPr>
        <p:spPr>
          <a:xfrm>
            <a:off x="4580870" y="5297739"/>
            <a:ext cx="188154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8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'202401'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6519564" y="5589204"/>
            <a:ext cx="472755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7" name="Text 64"/>
          <p:cNvSpPr/>
          <p:nvPr/>
        </p:nvSpPr>
        <p:spPr>
          <a:xfrm>
            <a:off x="6652914" y="5297739"/>
            <a:ext cx="460268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+ mois depuis une référence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1078111" y="5686359"/>
            <a:ext cx="3341142" cy="2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SUBSTR(pan, 1, 6)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4580870" y="5686359"/>
            <a:ext cx="1881545" cy="2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8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'476520'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6652914" y="5686359"/>
            <a:ext cx="4602681" cy="24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— 6 chiffres d'une carte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85800" y="7665931"/>
            <a:ext cx="10820280" cy="908328"/>
          </a:xfrm>
          <a:prstGeom prst="roundRect">
            <a:avLst>
              <a:gd name="adj" fmla="val 14681"/>
            </a:avLst>
          </a:prstGeom>
          <a:solidFill>
            <a:srgbClr val="FBFC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2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685800" y="8562829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685800" y="7665931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685800" y="7665931"/>
            <a:ext cx="45720" cy="908328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11494650" y="7665931"/>
            <a:ext cx="11430" cy="908328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941010" y="7867861"/>
            <a:ext cx="837545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BANQUE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854696" y="7848811"/>
            <a:ext cx="9713378" cy="580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 est indispensable :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carte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 ou 8 chiffres depuis un PAN),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agence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un RIB,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année/mois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une référence d'opération.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906936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9069364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· UPPER · COALESCE — nettoyer &amp; sécuriser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37"/>
            <a:ext cx="3492400" cy="5750897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5830" y="1901857"/>
            <a:ext cx="31027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buNone/>
            </a:pPr>
            <a:r>
              <a:rPr lang="en-US" sz="135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colonne 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25830" y="2206538"/>
            <a:ext cx="310271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 les espaces avant/après</a:t>
            </a:r>
            <a:endParaRPr lang="en-US" sz="1088" dirty="0"/>
          </a:p>
        </p:txBody>
      </p:sp>
      <p:sp>
        <p:nvSpPr>
          <p:cNvPr id="9" name="Shape 6"/>
          <p:cNvSpPr/>
          <p:nvPr/>
        </p:nvSpPr>
        <p:spPr>
          <a:xfrm>
            <a:off x="925830" y="2518899"/>
            <a:ext cx="3012341" cy="1054953"/>
          </a:xfrm>
          <a:prstGeom prst="roundRect">
            <a:avLst>
              <a:gd name="adj" fmla="val 9029"/>
            </a:avLst>
          </a:prstGeom>
          <a:solidFill>
            <a:srgbClr val="F8FAFE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0491" y="2634985"/>
            <a:ext cx="280470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 — DONNÉES BRUTES</a:t>
            </a:r>
            <a:endParaRPr lang="en-US" sz="788" dirty="0"/>
          </a:p>
        </p:txBody>
      </p:sp>
      <p:sp>
        <p:nvSpPr>
          <p:cNvPr id="11" name="Text 8"/>
          <p:cNvSpPr/>
          <p:nvPr/>
        </p:nvSpPr>
        <p:spPr>
          <a:xfrm>
            <a:off x="1070491" y="2815900"/>
            <a:ext cx="2804709" cy="67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LBP001 ' 'LBP002' ' LBP003'</a:t>
            </a:r>
            <a:endParaRPr lang="en-US" sz="1088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255" y="3631002"/>
            <a:ext cx="209490" cy="20949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25830" y="3931932"/>
            <a:ext cx="3012341" cy="1054953"/>
          </a:xfrm>
          <a:prstGeom prst="roundRect">
            <a:avLst>
              <a:gd name="adj" fmla="val 9029"/>
            </a:avLst>
          </a:prstGeom>
          <a:solidFill>
            <a:srgbClr val="F0F8FE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70491" y="4048018"/>
            <a:ext cx="280470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— TRIM()</a:t>
            </a:r>
            <a:endParaRPr lang="en-US" sz="788" dirty="0"/>
          </a:p>
        </p:txBody>
      </p:sp>
      <p:sp>
        <p:nvSpPr>
          <p:cNvPr id="15" name="Text 11"/>
          <p:cNvSpPr/>
          <p:nvPr/>
        </p:nvSpPr>
        <p:spPr>
          <a:xfrm>
            <a:off x="1070491" y="4228934"/>
            <a:ext cx="2804709" cy="67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'LBP001' 'LBP002' 'LBP003'</a:t>
            </a:r>
            <a:endParaRPr lang="en-US" sz="1088" dirty="0"/>
          </a:p>
        </p:txBody>
      </p:sp>
      <p:sp>
        <p:nvSpPr>
          <p:cNvPr id="16" name="Shape 12"/>
          <p:cNvSpPr/>
          <p:nvPr/>
        </p:nvSpPr>
        <p:spPr>
          <a:xfrm>
            <a:off x="4349650" y="1681393"/>
            <a:ext cx="3492400" cy="5750897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85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589681" y="1902314"/>
            <a:ext cx="31027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buNone/>
            </a:pPr>
            <a:r>
              <a:rPr lang="en-US" sz="135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col ) · </a:t>
            </a:r>
            <a:pPr algn="l" indent="0" marL="0">
              <a:buNone/>
            </a:pPr>
            <a:r>
              <a:rPr lang="en-US" sz="1350" b="1" dirty="0">
                <a:solidFill>
                  <a:srgbClr val="E0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algn="l" indent="0" marL="0">
              <a:buNone/>
            </a:pPr>
            <a:r>
              <a:rPr lang="en-US" sz="135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col )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89681" y="2206995"/>
            <a:ext cx="310271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uniformise la casse</a:t>
            </a:r>
            <a:endParaRPr lang="en-US" sz="1088" dirty="0"/>
          </a:p>
        </p:txBody>
      </p:sp>
      <p:sp>
        <p:nvSpPr>
          <p:cNvPr id="19" name="Shape 15"/>
          <p:cNvSpPr/>
          <p:nvPr/>
        </p:nvSpPr>
        <p:spPr>
          <a:xfrm>
            <a:off x="4589681" y="2519355"/>
            <a:ext cx="3012341" cy="1054953"/>
          </a:xfrm>
          <a:prstGeom prst="roundRect">
            <a:avLst>
              <a:gd name="adj" fmla="val 9029"/>
            </a:avLst>
          </a:prstGeom>
          <a:solidFill>
            <a:srgbClr val="F8FAFE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34342" y="2635441"/>
            <a:ext cx="280470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 — SAISIES VARIÉES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4734342" y="2816357"/>
            <a:ext cx="2804709" cy="67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 'VALIDE' 'Valide'</a:t>
            </a:r>
            <a:endParaRPr lang="en-US" sz="1088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06" y="3631458"/>
            <a:ext cx="209490" cy="20949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589681" y="3932388"/>
            <a:ext cx="3012341" cy="1054953"/>
          </a:xfrm>
          <a:prstGeom prst="roundRect">
            <a:avLst>
              <a:gd name="adj" fmla="val 9029"/>
            </a:avLst>
          </a:prstGeom>
          <a:solidFill>
            <a:srgbClr val="F0F8FE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34342" y="4048474"/>
            <a:ext cx="280470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— UPPER() = FILTRE FIABLE</a:t>
            </a:r>
            <a:endParaRPr lang="en-US" sz="788" dirty="0"/>
          </a:p>
        </p:txBody>
      </p:sp>
      <p:sp>
        <p:nvSpPr>
          <p:cNvPr id="25" name="Text 20"/>
          <p:cNvSpPr/>
          <p:nvPr/>
        </p:nvSpPr>
        <p:spPr>
          <a:xfrm>
            <a:off x="4734342" y="4229390"/>
            <a:ext cx="2804709" cy="67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 'VALIDE' 'VALIDE'</a:t>
            </a:r>
            <a:endParaRPr lang="en-US" sz="1088" dirty="0"/>
          </a:p>
        </p:txBody>
      </p:sp>
      <p:sp>
        <p:nvSpPr>
          <p:cNvPr id="26" name="Shape 21"/>
          <p:cNvSpPr/>
          <p:nvPr/>
        </p:nvSpPr>
        <p:spPr>
          <a:xfrm>
            <a:off x="8013501" y="1682681"/>
            <a:ext cx="3492579" cy="5750896"/>
          </a:xfrm>
          <a:prstGeom prst="roundRect">
            <a:avLst>
              <a:gd name="adj" fmla="val 4909"/>
            </a:avLst>
          </a:prstGeom>
          <a:solidFill>
            <a:srgbClr val="FFFFFF">
              <a:alpha val="99000"/>
            </a:srgbClr>
          </a:solidFill>
          <a:ln w="11430">
            <a:solidFill>
              <a:srgbClr val="DCE2EE">
                <a:alpha val="99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42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253531" y="1903602"/>
            <a:ext cx="31028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</a:t>
            </a:r>
            <a:pPr algn="l" indent="0" marL="0">
              <a:buNone/>
            </a:pPr>
            <a:r>
              <a:rPr lang="en-US" sz="135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a, b, … )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253531" y="2208283"/>
            <a:ext cx="310289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 les valeurs NULL</a:t>
            </a:r>
            <a:endParaRPr lang="en-US" sz="1088" dirty="0"/>
          </a:p>
        </p:txBody>
      </p:sp>
      <p:sp>
        <p:nvSpPr>
          <p:cNvPr id="29" name="Shape 24"/>
          <p:cNvSpPr/>
          <p:nvPr/>
        </p:nvSpPr>
        <p:spPr>
          <a:xfrm>
            <a:off x="8253531" y="2520643"/>
            <a:ext cx="3012519" cy="1054954"/>
          </a:xfrm>
          <a:prstGeom prst="roundRect">
            <a:avLst>
              <a:gd name="adj" fmla="val 9029"/>
            </a:avLst>
          </a:prstGeom>
          <a:solidFill>
            <a:srgbClr val="F8FAFE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398192" y="2636729"/>
            <a:ext cx="28048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 — NOM_AGENCE</a:t>
            </a:r>
            <a:endParaRPr lang="en-US" sz="788" dirty="0"/>
          </a:p>
        </p:txBody>
      </p:sp>
      <p:sp>
        <p:nvSpPr>
          <p:cNvPr id="31" name="Text 26"/>
          <p:cNvSpPr/>
          <p:nvPr/>
        </p:nvSpPr>
        <p:spPr>
          <a:xfrm>
            <a:off x="8398192" y="2817645"/>
            <a:ext cx="2804893" cy="67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'Paris Centre' </a:t>
            </a:r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NULL</a:t>
            </a:r>
            <a:endParaRPr lang="en-US" sz="1088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956" y="3632747"/>
            <a:ext cx="209490" cy="20949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8253531" y="3933677"/>
            <a:ext cx="3012519" cy="1054953"/>
          </a:xfrm>
          <a:prstGeom prst="roundRect">
            <a:avLst>
              <a:gd name="adj" fmla="val 9029"/>
            </a:avLst>
          </a:prstGeom>
          <a:solidFill>
            <a:srgbClr val="F0F8FE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398192" y="4049763"/>
            <a:ext cx="28048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— COALESCE(…, 'INCONNUE')</a:t>
            </a:r>
            <a:endParaRPr lang="en-US" sz="788" dirty="0"/>
          </a:p>
        </p:txBody>
      </p:sp>
      <p:sp>
        <p:nvSpPr>
          <p:cNvPr id="35" name="Text 29"/>
          <p:cNvSpPr/>
          <p:nvPr/>
        </p:nvSpPr>
        <p:spPr>
          <a:xfrm>
            <a:off x="8398192" y="4230678"/>
            <a:ext cx="2804893" cy="67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'Paris Centre' 'Inconnue' 'Inconnue'</a:t>
            </a:r>
            <a:endParaRPr lang="en-US" sz="1088" dirty="0"/>
          </a:p>
        </p:txBody>
      </p:sp>
      <p:sp>
        <p:nvSpPr>
          <p:cNvPr id="36" name="Shape 30"/>
          <p:cNvSpPr/>
          <p:nvPr/>
        </p:nvSpPr>
        <p:spPr>
          <a:xfrm>
            <a:off x="685800" y="7645541"/>
            <a:ext cx="10820280" cy="931188"/>
          </a:xfrm>
          <a:prstGeom prst="roundRect">
            <a:avLst>
              <a:gd name="adj" fmla="val 14320"/>
            </a:avLst>
          </a:prstGeom>
          <a:solidFill>
            <a:srgbClr val="FFFCF2">
              <a:alpha val="97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861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85800" y="8565299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685800" y="7645541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39" name="Shape 33"/>
          <p:cNvSpPr/>
          <p:nvPr/>
        </p:nvSpPr>
        <p:spPr>
          <a:xfrm>
            <a:off x="685800" y="7645541"/>
            <a:ext cx="45720" cy="931188"/>
          </a:xfrm>
          <a:prstGeom prst="rect">
            <a:avLst/>
          </a:prstGeom>
          <a:solidFill>
            <a:srgbClr val="E0B400">
              <a:alpha val="97000"/>
            </a:srgbClr>
          </a:solidFill>
          <a:ln/>
        </p:spPr>
      </p:sp>
      <p:sp>
        <p:nvSpPr>
          <p:cNvPr id="40" name="Shape 34"/>
          <p:cNvSpPr/>
          <p:nvPr/>
        </p:nvSpPr>
        <p:spPr>
          <a:xfrm>
            <a:off x="11494650" y="7645541"/>
            <a:ext cx="11430" cy="931188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941010" y="7847472"/>
            <a:ext cx="837545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854696" y="7828422"/>
            <a:ext cx="9713378" cy="603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TRIM,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'LBP001' ≠ ' LBP001 '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une jointure → lignes manquantes et totaux faux.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n°1 des extractions bancaires !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892146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8921466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· SUM · MAX · MIN — résumer des groupes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24"/>
            <a:ext cx="4068187" cy="2364938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25585"/>
            <a:ext cx="38135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SOURCE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868680" y="2372082"/>
            <a:ext cx="1187113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9" name="Text 6"/>
          <p:cNvSpPr/>
          <p:nvPr/>
        </p:nvSpPr>
        <p:spPr>
          <a:xfrm>
            <a:off x="982980" y="2128361"/>
            <a:ext cx="1034713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AGENCE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2055793" y="2372082"/>
            <a:ext cx="1327844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11" name="Text 8"/>
          <p:cNvSpPr/>
          <p:nvPr/>
        </p:nvSpPr>
        <p:spPr>
          <a:xfrm>
            <a:off x="2170093" y="2128361"/>
            <a:ext cx="1175444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</a:t>
            </a:r>
            <a:endParaRPr lang="en-US" sz="1088" dirty="0"/>
          </a:p>
        </p:txBody>
      </p:sp>
      <p:sp>
        <p:nvSpPr>
          <p:cNvPr id="12" name="Shape 9"/>
          <p:cNvSpPr/>
          <p:nvPr/>
        </p:nvSpPr>
        <p:spPr>
          <a:xfrm>
            <a:off x="3383637" y="2372082"/>
            <a:ext cx="1187470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13" name="Text 10"/>
          <p:cNvSpPr/>
          <p:nvPr/>
        </p:nvSpPr>
        <p:spPr>
          <a:xfrm>
            <a:off x="3497937" y="2128361"/>
            <a:ext cx="1035070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</a:t>
            </a:r>
            <a:endParaRPr lang="en-US" sz="1088" dirty="0"/>
          </a:p>
        </p:txBody>
      </p:sp>
      <p:sp>
        <p:nvSpPr>
          <p:cNvPr id="14" name="Shape 11"/>
          <p:cNvSpPr/>
          <p:nvPr/>
        </p:nvSpPr>
        <p:spPr>
          <a:xfrm>
            <a:off x="868680" y="2676763"/>
            <a:ext cx="1187113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5" name="Text 12"/>
          <p:cNvSpPr/>
          <p:nvPr/>
        </p:nvSpPr>
        <p:spPr>
          <a:xfrm>
            <a:off x="982980" y="2450187"/>
            <a:ext cx="1034713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16" name="Shape 13"/>
          <p:cNvSpPr/>
          <p:nvPr/>
        </p:nvSpPr>
        <p:spPr>
          <a:xfrm>
            <a:off x="2055793" y="2676763"/>
            <a:ext cx="132784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7" name="Text 14"/>
          <p:cNvSpPr/>
          <p:nvPr/>
        </p:nvSpPr>
        <p:spPr>
          <a:xfrm>
            <a:off x="2093893" y="2450187"/>
            <a:ext cx="117544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088" dirty="0"/>
          </a:p>
        </p:txBody>
      </p:sp>
      <p:sp>
        <p:nvSpPr>
          <p:cNvPr id="18" name="Shape 15"/>
          <p:cNvSpPr/>
          <p:nvPr/>
        </p:nvSpPr>
        <p:spPr>
          <a:xfrm>
            <a:off x="3383637" y="2676763"/>
            <a:ext cx="118747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9" name="Text 16"/>
          <p:cNvSpPr/>
          <p:nvPr/>
        </p:nvSpPr>
        <p:spPr>
          <a:xfrm>
            <a:off x="3497937" y="2450187"/>
            <a:ext cx="1035070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088" dirty="0"/>
          </a:p>
        </p:txBody>
      </p:sp>
      <p:sp>
        <p:nvSpPr>
          <p:cNvPr id="20" name="Shape 17"/>
          <p:cNvSpPr/>
          <p:nvPr/>
        </p:nvSpPr>
        <p:spPr>
          <a:xfrm>
            <a:off x="868680" y="2981444"/>
            <a:ext cx="1187113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1" name="Text 18"/>
          <p:cNvSpPr/>
          <p:nvPr/>
        </p:nvSpPr>
        <p:spPr>
          <a:xfrm>
            <a:off x="982980" y="2754868"/>
            <a:ext cx="1034713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22" name="Shape 19"/>
          <p:cNvSpPr/>
          <p:nvPr/>
        </p:nvSpPr>
        <p:spPr>
          <a:xfrm>
            <a:off x="2055793" y="2981444"/>
            <a:ext cx="132784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3" name="Text 20"/>
          <p:cNvSpPr/>
          <p:nvPr/>
        </p:nvSpPr>
        <p:spPr>
          <a:xfrm>
            <a:off x="2093893" y="2754868"/>
            <a:ext cx="117544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</a:t>
            </a:r>
            <a:endParaRPr lang="en-US" sz="1088" dirty="0"/>
          </a:p>
        </p:txBody>
      </p:sp>
      <p:sp>
        <p:nvSpPr>
          <p:cNvPr id="24" name="Shape 21"/>
          <p:cNvSpPr/>
          <p:nvPr/>
        </p:nvSpPr>
        <p:spPr>
          <a:xfrm>
            <a:off x="3383637" y="2981444"/>
            <a:ext cx="118747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5" name="Text 22"/>
          <p:cNvSpPr/>
          <p:nvPr/>
        </p:nvSpPr>
        <p:spPr>
          <a:xfrm>
            <a:off x="3497937" y="2754868"/>
            <a:ext cx="1035070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088" dirty="0"/>
          </a:p>
        </p:txBody>
      </p:sp>
      <p:sp>
        <p:nvSpPr>
          <p:cNvPr id="26" name="Shape 23"/>
          <p:cNvSpPr/>
          <p:nvPr/>
        </p:nvSpPr>
        <p:spPr>
          <a:xfrm>
            <a:off x="868680" y="3286125"/>
            <a:ext cx="1187113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7" name="Text 24"/>
          <p:cNvSpPr/>
          <p:nvPr/>
        </p:nvSpPr>
        <p:spPr>
          <a:xfrm>
            <a:off x="982980" y="3059549"/>
            <a:ext cx="1034713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LBP002</a:t>
            </a:r>
            <a:endParaRPr lang="en-US" sz="1088" dirty="0"/>
          </a:p>
        </p:txBody>
      </p:sp>
      <p:sp>
        <p:nvSpPr>
          <p:cNvPr id="28" name="Shape 25"/>
          <p:cNvSpPr/>
          <p:nvPr/>
        </p:nvSpPr>
        <p:spPr>
          <a:xfrm>
            <a:off x="2055793" y="3286125"/>
            <a:ext cx="132784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9" name="Text 26"/>
          <p:cNvSpPr/>
          <p:nvPr/>
        </p:nvSpPr>
        <p:spPr>
          <a:xfrm>
            <a:off x="2093893" y="3059549"/>
            <a:ext cx="117544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088" dirty="0"/>
          </a:p>
        </p:txBody>
      </p:sp>
      <p:sp>
        <p:nvSpPr>
          <p:cNvPr id="30" name="Shape 27"/>
          <p:cNvSpPr/>
          <p:nvPr/>
        </p:nvSpPr>
        <p:spPr>
          <a:xfrm>
            <a:off x="3383637" y="3286125"/>
            <a:ext cx="118747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1" name="Text 28"/>
          <p:cNvSpPr/>
          <p:nvPr/>
        </p:nvSpPr>
        <p:spPr>
          <a:xfrm>
            <a:off x="3497937" y="3059549"/>
            <a:ext cx="1035070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088" dirty="0"/>
          </a:p>
        </p:txBody>
      </p:sp>
      <p:sp>
        <p:nvSpPr>
          <p:cNvPr id="32" name="Shape 29"/>
          <p:cNvSpPr/>
          <p:nvPr/>
        </p:nvSpPr>
        <p:spPr>
          <a:xfrm>
            <a:off x="868680" y="3590806"/>
            <a:ext cx="1187113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3" name="Text 30"/>
          <p:cNvSpPr/>
          <p:nvPr/>
        </p:nvSpPr>
        <p:spPr>
          <a:xfrm>
            <a:off x="982980" y="3364230"/>
            <a:ext cx="1034713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34" name="Shape 31"/>
          <p:cNvSpPr/>
          <p:nvPr/>
        </p:nvSpPr>
        <p:spPr>
          <a:xfrm>
            <a:off x="2055793" y="3590806"/>
            <a:ext cx="132784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5" name="Text 32"/>
          <p:cNvSpPr/>
          <p:nvPr/>
        </p:nvSpPr>
        <p:spPr>
          <a:xfrm>
            <a:off x="2093893" y="3364230"/>
            <a:ext cx="117544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88" dirty="0"/>
          </a:p>
        </p:txBody>
      </p:sp>
      <p:sp>
        <p:nvSpPr>
          <p:cNvPr id="36" name="Shape 33"/>
          <p:cNvSpPr/>
          <p:nvPr/>
        </p:nvSpPr>
        <p:spPr>
          <a:xfrm>
            <a:off x="3383637" y="3590806"/>
            <a:ext cx="118747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7" name="Text 34"/>
          <p:cNvSpPr/>
          <p:nvPr/>
        </p:nvSpPr>
        <p:spPr>
          <a:xfrm>
            <a:off x="3497937" y="3364230"/>
            <a:ext cx="1035070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5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</a:t>
            </a:r>
            <a:endParaRPr lang="en-US" sz="1088" dirty="0"/>
          </a:p>
        </p:txBody>
      </p:sp>
      <p:sp>
        <p:nvSpPr>
          <p:cNvPr id="38" name="Text 35"/>
          <p:cNvSpPr/>
          <p:nvPr/>
        </p:nvSpPr>
        <p:spPr>
          <a:xfrm>
            <a:off x="982980" y="3668911"/>
            <a:ext cx="1034713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LBP002</a:t>
            </a:r>
            <a:endParaRPr lang="en-US" sz="1088" dirty="0"/>
          </a:p>
        </p:txBody>
      </p:sp>
      <p:sp>
        <p:nvSpPr>
          <p:cNvPr id="39" name="Text 36"/>
          <p:cNvSpPr/>
          <p:nvPr/>
        </p:nvSpPr>
        <p:spPr>
          <a:xfrm>
            <a:off x="2093893" y="3668911"/>
            <a:ext cx="1175444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310</a:t>
            </a:r>
            <a:endParaRPr lang="en-US" sz="1088" dirty="0"/>
          </a:p>
        </p:txBody>
      </p:sp>
      <p:sp>
        <p:nvSpPr>
          <p:cNvPr id="40" name="Text 37"/>
          <p:cNvSpPr/>
          <p:nvPr/>
        </p:nvSpPr>
        <p:spPr>
          <a:xfrm>
            <a:off x="3497937" y="3668911"/>
            <a:ext cx="1035070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088" dirty="0"/>
          </a:p>
        </p:txBody>
      </p:sp>
      <p:sp>
        <p:nvSpPr>
          <p:cNvPr id="41" name="Shape 38"/>
          <p:cNvSpPr/>
          <p:nvPr/>
        </p:nvSpPr>
        <p:spPr>
          <a:xfrm>
            <a:off x="685800" y="4179093"/>
            <a:ext cx="1976854" cy="811351"/>
          </a:xfrm>
          <a:prstGeom prst="roundRect">
            <a:avLst>
              <a:gd name="adj" fmla="val 21131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849570" y="4314289"/>
            <a:ext cx="17255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49570" y="4523779"/>
            <a:ext cx="172551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valides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849570" y="4718089"/>
            <a:ext cx="172551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LBP001→2 · LBP002→2</a:t>
            </a:r>
            <a:endParaRPr lang="en-US" sz="975" dirty="0"/>
          </a:p>
        </p:txBody>
      </p:sp>
      <p:sp>
        <p:nvSpPr>
          <p:cNvPr id="45" name="Shape 42"/>
          <p:cNvSpPr/>
          <p:nvPr/>
        </p:nvSpPr>
        <p:spPr>
          <a:xfrm>
            <a:off x="2776954" y="4179093"/>
            <a:ext cx="1977033" cy="811351"/>
          </a:xfrm>
          <a:prstGeom prst="roundRect">
            <a:avLst>
              <a:gd name="adj" fmla="val 21131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2940725" y="4314289"/>
            <a:ext cx="172569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SUM(montant)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2940725" y="4523779"/>
            <a:ext cx="1725692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montants</a:t>
            </a:r>
            <a:endParaRPr lang="en-US" sz="975" dirty="0"/>
          </a:p>
        </p:txBody>
      </p:sp>
      <p:sp>
        <p:nvSpPr>
          <p:cNvPr id="48" name="Text 45"/>
          <p:cNvSpPr/>
          <p:nvPr/>
        </p:nvSpPr>
        <p:spPr>
          <a:xfrm>
            <a:off x="2940725" y="4718089"/>
            <a:ext cx="1725692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570 · 390</a:t>
            </a:r>
            <a:endParaRPr lang="en-US" sz="975" dirty="0"/>
          </a:p>
        </p:txBody>
      </p:sp>
      <p:sp>
        <p:nvSpPr>
          <p:cNvPr id="49" name="Shape 46"/>
          <p:cNvSpPr/>
          <p:nvPr/>
        </p:nvSpPr>
        <p:spPr>
          <a:xfrm>
            <a:off x="685800" y="5104745"/>
            <a:ext cx="1976854" cy="811351"/>
          </a:xfrm>
          <a:prstGeom prst="roundRect">
            <a:avLst>
              <a:gd name="adj" fmla="val 21131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849570" y="5239940"/>
            <a:ext cx="17255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MAX(montant)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849570" y="5449431"/>
            <a:ext cx="172551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gros montant</a:t>
            </a:r>
            <a:endParaRPr lang="en-US" sz="975" dirty="0"/>
          </a:p>
        </p:txBody>
      </p:sp>
      <p:sp>
        <p:nvSpPr>
          <p:cNvPr id="52" name="Text 49"/>
          <p:cNvSpPr/>
          <p:nvPr/>
        </p:nvSpPr>
        <p:spPr>
          <a:xfrm>
            <a:off x="849570" y="5643741"/>
            <a:ext cx="172551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 · 310</a:t>
            </a:r>
            <a:endParaRPr lang="en-US" sz="975" dirty="0"/>
          </a:p>
        </p:txBody>
      </p:sp>
      <p:sp>
        <p:nvSpPr>
          <p:cNvPr id="53" name="Shape 50"/>
          <p:cNvSpPr/>
          <p:nvPr/>
        </p:nvSpPr>
        <p:spPr>
          <a:xfrm>
            <a:off x="2776954" y="5104745"/>
            <a:ext cx="1977033" cy="811351"/>
          </a:xfrm>
          <a:prstGeom prst="roundRect">
            <a:avLst>
              <a:gd name="adj" fmla="val 21131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2940725" y="5239940"/>
            <a:ext cx="172569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MAX(date_op)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2940725" y="5449431"/>
            <a:ext cx="1725692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dernière opération</a:t>
            </a:r>
            <a:endParaRPr lang="en-US" sz="975" dirty="0"/>
          </a:p>
        </p:txBody>
      </p:sp>
      <p:sp>
        <p:nvSpPr>
          <p:cNvPr id="56" name="Text 53"/>
          <p:cNvSpPr/>
          <p:nvPr/>
        </p:nvSpPr>
        <p:spPr>
          <a:xfrm>
            <a:off x="2940725" y="5643741"/>
            <a:ext cx="1725692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+ récente</a:t>
            </a:r>
            <a:endParaRPr lang="en-US" sz="975" dirty="0"/>
          </a:p>
        </p:txBody>
      </p:sp>
      <p:sp>
        <p:nvSpPr>
          <p:cNvPr id="57" name="Shape 54"/>
          <p:cNvSpPr/>
          <p:nvPr/>
        </p:nvSpPr>
        <p:spPr>
          <a:xfrm>
            <a:off x="4944367" y="1681228"/>
            <a:ext cx="6561713" cy="5750897"/>
          </a:xfrm>
          <a:prstGeom prst="roundRect">
            <a:avLst>
              <a:gd name="adj" fmla="val 2319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5988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4955798" y="1692658"/>
            <a:ext cx="6538853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59" name="Shape 56"/>
          <p:cNvSpPr/>
          <p:nvPr/>
        </p:nvSpPr>
        <p:spPr>
          <a:xfrm>
            <a:off x="4955798" y="2039130"/>
            <a:ext cx="6538853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60" name="Shape 57"/>
          <p:cNvSpPr/>
          <p:nvPr/>
        </p:nvSpPr>
        <p:spPr>
          <a:xfrm>
            <a:off x="5108138" y="1813566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61" name="Shape 58"/>
          <p:cNvSpPr/>
          <p:nvPr/>
        </p:nvSpPr>
        <p:spPr>
          <a:xfrm>
            <a:off x="5288875" y="1813566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62" name="Shape 59"/>
          <p:cNvSpPr/>
          <p:nvPr/>
        </p:nvSpPr>
        <p:spPr>
          <a:xfrm>
            <a:off x="5469612" y="1813566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5726430" y="1797314"/>
            <a:ext cx="2993444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toutes les agrégations en une requête</a:t>
            </a:r>
            <a:endParaRPr lang="en-US" sz="938" dirty="0"/>
          </a:p>
        </p:txBody>
      </p:sp>
      <p:sp>
        <p:nvSpPr>
          <p:cNvPr id="64" name="Text 61"/>
          <p:cNvSpPr/>
          <p:nvPr/>
        </p:nvSpPr>
        <p:spPr>
          <a:xfrm>
            <a:off x="5165348" y="2222010"/>
            <a:ext cx="6315918" cy="506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(code_agence)  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agence,</a:t>
            </a:r>
            <a:endParaRPr lang="en-US" sz="1238" dirty="0"/>
          </a:p>
          <a:p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238" dirty="0"/>
          </a:p>
          <a:p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           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nb_op,</a:t>
            </a:r>
            <a:endParaRPr lang="en-US" sz="1238" dirty="0"/>
          </a:p>
          <a:p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238" dirty="0"/>
          </a:p>
          <a:p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(montant)        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total,</a:t>
            </a:r>
            <a:endParaRPr lang="en-US" sz="1238" dirty="0"/>
          </a:p>
          <a:p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238" dirty="0"/>
          </a:p>
          <a:p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(date_operation) 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derniere_op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transactions_carte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(statut)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(code_agence)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62000"/>
              </a:lnSpc>
              <a:buNone/>
            </a:pPr>
            <a:r>
              <a:rPr lang="en-US" sz="1238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</a:t>
            </a:r>
            <a:pPr algn="l" indent="0" marL="0">
              <a:lnSpc>
                <a:spcPct val="162000"/>
              </a:lnSpc>
              <a:buNone/>
            </a:pPr>
            <a:r>
              <a:rPr lang="en-US" sz="1238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238" dirty="0"/>
          </a:p>
        </p:txBody>
      </p:sp>
      <p:sp>
        <p:nvSpPr>
          <p:cNvPr id="65" name="Shape 62"/>
          <p:cNvSpPr/>
          <p:nvPr/>
        </p:nvSpPr>
        <p:spPr>
          <a:xfrm>
            <a:off x="685800" y="7642692"/>
            <a:ext cx="10820280" cy="931188"/>
          </a:xfrm>
          <a:prstGeom prst="roundRect">
            <a:avLst>
              <a:gd name="adj" fmla="val 14320"/>
            </a:avLst>
          </a:prstGeom>
          <a:solidFill>
            <a:srgbClr val="FBFC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55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85800" y="8562449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685800" y="7642692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685800" y="7642692"/>
            <a:ext cx="45720" cy="931188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11494650" y="7642692"/>
            <a:ext cx="11430" cy="931188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70" name="Text 67"/>
          <p:cNvSpPr/>
          <p:nvPr/>
        </p:nvSpPr>
        <p:spPr>
          <a:xfrm>
            <a:off x="941010" y="7844622"/>
            <a:ext cx="583763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ASTUCE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1600914" y="7825572"/>
            <a:ext cx="9974773" cy="603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COUNT(DISTINCT id_client)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les clients uniques (pas les lignes). Toujours inclure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TRIM()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GROUP BY s'il est dans SELECT.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798439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96144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9614412" cy="79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WHEN — une colonne calculée selon des conditions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1322308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057413"/>
            <a:ext cx="2590681" cy="28575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0995" y="2125993"/>
            <a:ext cx="2396490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 … THEN … ELSE … 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33286" y="2103133"/>
            <a:ext cx="28654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un « si… alors… » directement en SQL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515071"/>
            <a:ext cx="546446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 LES MONTANTS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685800" y="2808322"/>
            <a:ext cx="2357437" cy="1268908"/>
          </a:xfrm>
          <a:prstGeom prst="roundRect">
            <a:avLst>
              <a:gd name="adj" fmla="val 7506"/>
            </a:avLst>
          </a:prstGeom>
          <a:solidFill>
            <a:srgbClr val="F8FAFE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0461" y="2924408"/>
            <a:ext cx="21443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</a:t>
            </a:r>
            <a:endParaRPr lang="en-US" sz="788" dirty="0"/>
          </a:p>
        </p:txBody>
      </p:sp>
      <p:sp>
        <p:nvSpPr>
          <p:cNvPr id="12" name="Text 9"/>
          <p:cNvSpPr/>
          <p:nvPr/>
        </p:nvSpPr>
        <p:spPr>
          <a:xfrm>
            <a:off x="830461" y="3105324"/>
            <a:ext cx="2144315" cy="893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12.50 250.00 1500.00 8000.00</a:t>
            </a:r>
            <a:endParaRPr lang="en-US" sz="1088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3261771"/>
            <a:ext cx="361831" cy="36183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33668" y="2808322"/>
            <a:ext cx="2357437" cy="1268908"/>
          </a:xfrm>
          <a:prstGeom prst="roundRect">
            <a:avLst>
              <a:gd name="adj" fmla="val 7506"/>
            </a:avLst>
          </a:prstGeom>
          <a:solidFill>
            <a:srgbClr val="F0F8FE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78329" y="2924408"/>
            <a:ext cx="21443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CATEGORIE_MONTANT</a:t>
            </a:r>
            <a:endParaRPr lang="en-US" sz="788" dirty="0"/>
          </a:p>
        </p:txBody>
      </p:sp>
      <p:sp>
        <p:nvSpPr>
          <p:cNvPr id="16" name="Text 12"/>
          <p:cNvSpPr/>
          <p:nvPr/>
        </p:nvSpPr>
        <p:spPr>
          <a:xfrm>
            <a:off x="3778329" y="3105324"/>
            <a:ext cx="2144315" cy="893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'Petit' 'Moyen' 'Grand' 'Très grand'</a:t>
            </a:r>
            <a:endParaRPr lang="en-US" sz="1088" dirty="0"/>
          </a:p>
        </p:txBody>
      </p:sp>
      <p:sp>
        <p:nvSpPr>
          <p:cNvPr id="17" name="Shape 13"/>
          <p:cNvSpPr/>
          <p:nvPr/>
        </p:nvSpPr>
        <p:spPr>
          <a:xfrm>
            <a:off x="685800" y="4210461"/>
            <a:ext cx="5305306" cy="3358635"/>
          </a:xfrm>
          <a:prstGeom prst="roundRect">
            <a:avLst>
              <a:gd name="adj" fmla="val 3970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6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7230" y="4221891"/>
            <a:ext cx="5282446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19" name="Shape 15"/>
          <p:cNvSpPr/>
          <p:nvPr/>
        </p:nvSpPr>
        <p:spPr>
          <a:xfrm>
            <a:off x="697230" y="4568363"/>
            <a:ext cx="5282446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20" name="Shape 16"/>
          <p:cNvSpPr/>
          <p:nvPr/>
        </p:nvSpPr>
        <p:spPr>
          <a:xfrm>
            <a:off x="849570" y="4342799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21" name="Shape 17"/>
          <p:cNvSpPr/>
          <p:nvPr/>
        </p:nvSpPr>
        <p:spPr>
          <a:xfrm>
            <a:off x="1030307" y="4342799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22" name="Shape 18"/>
          <p:cNvSpPr/>
          <p:nvPr/>
        </p:nvSpPr>
        <p:spPr>
          <a:xfrm>
            <a:off x="1211044" y="4342799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1467862" y="4326547"/>
            <a:ext cx="204001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 par seuils</a:t>
            </a:r>
            <a:endParaRPr lang="en-US" sz="938" dirty="0"/>
          </a:p>
        </p:txBody>
      </p:sp>
      <p:sp>
        <p:nvSpPr>
          <p:cNvPr id="24" name="Text 20"/>
          <p:cNvSpPr/>
          <p:nvPr/>
        </p:nvSpPr>
        <p:spPr>
          <a:xfrm>
            <a:off x="906780" y="4751243"/>
            <a:ext cx="5021819" cy="1263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'Petit'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'Moyen'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'Grand'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'Très grand'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categorie_montant</a:t>
            </a:r>
            <a:endParaRPr lang="en-US" sz="1013" dirty="0"/>
          </a:p>
        </p:txBody>
      </p:sp>
      <p:sp>
        <p:nvSpPr>
          <p:cNvPr id="25" name="Text 21"/>
          <p:cNvSpPr/>
          <p:nvPr/>
        </p:nvSpPr>
        <p:spPr>
          <a:xfrm>
            <a:off x="6200596" y="2516362"/>
            <a:ext cx="546464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DÉCODER DES CODES CRO EN LIBELLÉS</a:t>
            </a:r>
            <a:endParaRPr lang="en-US" sz="975" dirty="0"/>
          </a:p>
        </p:txBody>
      </p:sp>
      <p:sp>
        <p:nvSpPr>
          <p:cNvPr id="26" name="Shape 22"/>
          <p:cNvSpPr/>
          <p:nvPr/>
        </p:nvSpPr>
        <p:spPr>
          <a:xfrm>
            <a:off x="6200596" y="2809613"/>
            <a:ext cx="2357437" cy="1268908"/>
          </a:xfrm>
          <a:prstGeom prst="roundRect">
            <a:avLst>
              <a:gd name="adj" fmla="val 7506"/>
            </a:avLst>
          </a:prstGeom>
          <a:solidFill>
            <a:srgbClr val="F8FAFE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345257" y="2925698"/>
            <a:ext cx="21443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TYPE_OPERATION</a:t>
            </a:r>
            <a:endParaRPr lang="en-US" sz="788" dirty="0"/>
          </a:p>
        </p:txBody>
      </p:sp>
      <p:sp>
        <p:nvSpPr>
          <p:cNvPr id="28" name="Text 24"/>
          <p:cNvSpPr/>
          <p:nvPr/>
        </p:nvSpPr>
        <p:spPr>
          <a:xfrm>
            <a:off x="6345257" y="3106614"/>
            <a:ext cx="2144315" cy="893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'VIR' 'PRE' 'CHQ' 'XYZ'</a:t>
            </a:r>
            <a:endParaRPr lang="en-US" sz="1088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333" y="3263062"/>
            <a:ext cx="361831" cy="361831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148464" y="2809613"/>
            <a:ext cx="2357616" cy="1268908"/>
          </a:xfrm>
          <a:prstGeom prst="roundRect">
            <a:avLst>
              <a:gd name="adj" fmla="val 7506"/>
            </a:avLst>
          </a:prstGeom>
          <a:solidFill>
            <a:srgbClr val="F0F8FE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293125" y="2925698"/>
            <a:ext cx="214449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63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LIBELLE_OPERATION</a:t>
            </a:r>
            <a:endParaRPr lang="en-US" sz="788" dirty="0"/>
          </a:p>
        </p:txBody>
      </p:sp>
      <p:sp>
        <p:nvSpPr>
          <p:cNvPr id="32" name="Text 27"/>
          <p:cNvSpPr/>
          <p:nvPr/>
        </p:nvSpPr>
        <p:spPr>
          <a:xfrm>
            <a:off x="9293125" y="3106614"/>
            <a:ext cx="2144494" cy="893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'Virement' 'Prélèvement' 'Chèque' 'Autre'</a:t>
            </a:r>
            <a:endParaRPr lang="en-US" sz="1088" dirty="0"/>
          </a:p>
        </p:txBody>
      </p:sp>
      <p:sp>
        <p:nvSpPr>
          <p:cNvPr id="33" name="Shape 28"/>
          <p:cNvSpPr/>
          <p:nvPr/>
        </p:nvSpPr>
        <p:spPr>
          <a:xfrm>
            <a:off x="6200596" y="4211752"/>
            <a:ext cx="5305484" cy="3358634"/>
          </a:xfrm>
          <a:prstGeom prst="roundRect">
            <a:avLst>
              <a:gd name="adj" fmla="val 3970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6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212026" y="4223182"/>
            <a:ext cx="5282624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35" name="Shape 30"/>
          <p:cNvSpPr/>
          <p:nvPr/>
        </p:nvSpPr>
        <p:spPr>
          <a:xfrm>
            <a:off x="6212026" y="4569654"/>
            <a:ext cx="5282624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36" name="Shape 31"/>
          <p:cNvSpPr/>
          <p:nvPr/>
        </p:nvSpPr>
        <p:spPr>
          <a:xfrm>
            <a:off x="6364367" y="4344090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37" name="Shape 32"/>
          <p:cNvSpPr/>
          <p:nvPr/>
        </p:nvSpPr>
        <p:spPr>
          <a:xfrm>
            <a:off x="6545103" y="4344090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38" name="Shape 33"/>
          <p:cNvSpPr/>
          <p:nvPr/>
        </p:nvSpPr>
        <p:spPr>
          <a:xfrm>
            <a:off x="6725840" y="4344090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6982658" y="4327838"/>
            <a:ext cx="258972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correspondance valeur par valeur</a:t>
            </a:r>
            <a:endParaRPr lang="en-US" sz="938" dirty="0"/>
          </a:p>
        </p:txBody>
      </p:sp>
      <p:sp>
        <p:nvSpPr>
          <p:cNvPr id="40" name="Text 35"/>
          <p:cNvSpPr/>
          <p:nvPr/>
        </p:nvSpPr>
        <p:spPr>
          <a:xfrm>
            <a:off x="6421576" y="4752534"/>
            <a:ext cx="5022003" cy="1263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type_operation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'VIR'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'Virement'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'Prélèvement'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'CHQ'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'Chèque'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'Autre'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libelle_operation</a:t>
            </a:r>
            <a:endParaRPr lang="en-US" sz="1013" dirty="0"/>
          </a:p>
        </p:txBody>
      </p:sp>
      <p:sp>
        <p:nvSpPr>
          <p:cNvPr id="41" name="Shape 36"/>
          <p:cNvSpPr/>
          <p:nvPr/>
        </p:nvSpPr>
        <p:spPr>
          <a:xfrm>
            <a:off x="685800" y="7782353"/>
            <a:ext cx="10820280" cy="794385"/>
          </a:xfrm>
          <a:prstGeom prst="roundRect">
            <a:avLst>
              <a:gd name="adj" fmla="val 16787"/>
            </a:avLst>
          </a:prstGeom>
          <a:solidFill>
            <a:srgbClr val="FBFCFF">
              <a:alpha val="97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861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85800" y="8565308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3" name="Shape 38"/>
          <p:cNvSpPr/>
          <p:nvPr/>
        </p:nvSpPr>
        <p:spPr>
          <a:xfrm>
            <a:off x="685800" y="7782353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685800" y="7782353"/>
            <a:ext cx="45720" cy="794385"/>
          </a:xfrm>
          <a:prstGeom prst="rect">
            <a:avLst/>
          </a:prstGeom>
          <a:solidFill>
            <a:srgbClr val="41B6E6">
              <a:alpha val="97000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11494650" y="7782353"/>
            <a:ext cx="11430" cy="794385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941010" y="7984284"/>
            <a:ext cx="499110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516261" y="7965234"/>
            <a:ext cx="1006196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 SUBSTR(pan,1,1)='4' THEN 'VISA' WHEN SUBSTR(pan,1,2) IN('51','52','53') THEN 'MASTERCARD' ELSE 'AUTRE' END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778666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09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7786669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jointures — relier deux tables ensemble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27"/>
            <a:ext cx="4509492" cy="1450896"/>
          </a:xfrm>
          <a:prstGeom prst="roundRect">
            <a:avLst>
              <a:gd name="adj" fmla="val 11817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25587"/>
            <a:ext cx="426804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 — TRANSACTIONS_CARTE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868680" y="2372084"/>
            <a:ext cx="2434054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9" name="Text 6"/>
          <p:cNvSpPr/>
          <p:nvPr/>
        </p:nvSpPr>
        <p:spPr>
          <a:xfrm>
            <a:off x="982980" y="2128363"/>
            <a:ext cx="2281654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CODE_AGENCE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3302734" y="2372084"/>
            <a:ext cx="1709678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11" name="Text 8"/>
          <p:cNvSpPr/>
          <p:nvPr/>
        </p:nvSpPr>
        <p:spPr>
          <a:xfrm>
            <a:off x="3417034" y="2128363"/>
            <a:ext cx="1557278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</a:t>
            </a:r>
            <a:endParaRPr lang="en-US" sz="1088" dirty="0"/>
          </a:p>
        </p:txBody>
      </p:sp>
      <p:sp>
        <p:nvSpPr>
          <p:cNvPr id="12" name="Shape 9"/>
          <p:cNvSpPr/>
          <p:nvPr/>
        </p:nvSpPr>
        <p:spPr>
          <a:xfrm>
            <a:off x="868680" y="2676765"/>
            <a:ext cx="243405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3" name="Text 10"/>
          <p:cNvSpPr/>
          <p:nvPr/>
        </p:nvSpPr>
        <p:spPr>
          <a:xfrm>
            <a:off x="982980" y="2450189"/>
            <a:ext cx="2281654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14" name="Shape 11"/>
          <p:cNvSpPr/>
          <p:nvPr/>
        </p:nvSpPr>
        <p:spPr>
          <a:xfrm>
            <a:off x="3302734" y="2676765"/>
            <a:ext cx="1709678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5" name="Text 12"/>
          <p:cNvSpPr/>
          <p:nvPr/>
        </p:nvSpPr>
        <p:spPr>
          <a:xfrm>
            <a:off x="3340834" y="2450189"/>
            <a:ext cx="1557278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982980" y="2754871"/>
            <a:ext cx="2281654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LBP002</a:t>
            </a:r>
            <a:endParaRPr lang="en-US" sz="1088" dirty="0"/>
          </a:p>
        </p:txBody>
      </p:sp>
      <p:sp>
        <p:nvSpPr>
          <p:cNvPr id="17" name="Text 14"/>
          <p:cNvSpPr/>
          <p:nvPr/>
        </p:nvSpPr>
        <p:spPr>
          <a:xfrm>
            <a:off x="3340834" y="2754871"/>
            <a:ext cx="1557278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088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265053"/>
            <a:ext cx="361831" cy="36183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219081" y="3303093"/>
            <a:ext cx="1550551" cy="28575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354336" y="3371673"/>
            <a:ext cx="1356241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REF_AGENCES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85800" y="3760115"/>
            <a:ext cx="4509492" cy="1473756"/>
          </a:xfrm>
          <a:prstGeom prst="roundRect">
            <a:avLst>
              <a:gd name="adj" fmla="val 11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5800" y="5222441"/>
            <a:ext cx="4509492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" y="3760115"/>
            <a:ext cx="4509492" cy="34290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" y="3760115"/>
            <a:ext cx="11430" cy="1473756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5" name="Shape 21"/>
          <p:cNvSpPr/>
          <p:nvPr/>
        </p:nvSpPr>
        <p:spPr>
          <a:xfrm>
            <a:off x="5183862" y="3760115"/>
            <a:ext cx="11430" cy="1473756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6" name="Text 22"/>
          <p:cNvSpPr/>
          <p:nvPr/>
        </p:nvSpPr>
        <p:spPr>
          <a:xfrm>
            <a:off x="868680" y="3927636"/>
            <a:ext cx="426804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 — ENRICHIE</a:t>
            </a:r>
            <a:endParaRPr lang="en-US" sz="975" dirty="0"/>
          </a:p>
        </p:txBody>
      </p:sp>
      <p:sp>
        <p:nvSpPr>
          <p:cNvPr id="27" name="Shape 23"/>
          <p:cNvSpPr/>
          <p:nvPr/>
        </p:nvSpPr>
        <p:spPr>
          <a:xfrm>
            <a:off x="868680" y="4474132"/>
            <a:ext cx="1415177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28" name="Text 24"/>
          <p:cNvSpPr/>
          <p:nvPr/>
        </p:nvSpPr>
        <p:spPr>
          <a:xfrm>
            <a:off x="982980" y="4230412"/>
            <a:ext cx="1262777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AGENCE</a:t>
            </a:r>
            <a:endParaRPr lang="en-US" sz="1088" dirty="0"/>
          </a:p>
        </p:txBody>
      </p:sp>
      <p:sp>
        <p:nvSpPr>
          <p:cNvPr id="29" name="Shape 25"/>
          <p:cNvSpPr/>
          <p:nvPr/>
        </p:nvSpPr>
        <p:spPr>
          <a:xfrm>
            <a:off x="2283857" y="4474132"/>
            <a:ext cx="852607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30" name="Text 26"/>
          <p:cNvSpPr/>
          <p:nvPr/>
        </p:nvSpPr>
        <p:spPr>
          <a:xfrm>
            <a:off x="2398157" y="4230412"/>
            <a:ext cx="700207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</a:t>
            </a:r>
            <a:endParaRPr lang="en-US" sz="1088" dirty="0"/>
          </a:p>
        </p:txBody>
      </p:sp>
      <p:sp>
        <p:nvSpPr>
          <p:cNvPr id="31" name="Shape 27"/>
          <p:cNvSpPr/>
          <p:nvPr/>
        </p:nvSpPr>
        <p:spPr>
          <a:xfrm>
            <a:off x="3136463" y="4474132"/>
            <a:ext cx="1875949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32" name="Text 28"/>
          <p:cNvSpPr/>
          <p:nvPr/>
        </p:nvSpPr>
        <p:spPr>
          <a:xfrm>
            <a:off x="3250763" y="4230412"/>
            <a:ext cx="1723549" cy="21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b="1" spc="87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088" dirty="0"/>
          </a:p>
        </p:txBody>
      </p:sp>
      <p:sp>
        <p:nvSpPr>
          <p:cNvPr id="33" name="Shape 29"/>
          <p:cNvSpPr/>
          <p:nvPr/>
        </p:nvSpPr>
        <p:spPr>
          <a:xfrm>
            <a:off x="868680" y="4778814"/>
            <a:ext cx="1415177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4" name="Text 30"/>
          <p:cNvSpPr/>
          <p:nvPr/>
        </p:nvSpPr>
        <p:spPr>
          <a:xfrm>
            <a:off x="982980" y="4552238"/>
            <a:ext cx="1262777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LBP001</a:t>
            </a:r>
            <a:endParaRPr lang="en-US" sz="1088" dirty="0"/>
          </a:p>
        </p:txBody>
      </p:sp>
      <p:sp>
        <p:nvSpPr>
          <p:cNvPr id="35" name="Shape 31"/>
          <p:cNvSpPr/>
          <p:nvPr/>
        </p:nvSpPr>
        <p:spPr>
          <a:xfrm>
            <a:off x="2283857" y="4778814"/>
            <a:ext cx="852607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6" name="Text 32"/>
          <p:cNvSpPr/>
          <p:nvPr/>
        </p:nvSpPr>
        <p:spPr>
          <a:xfrm>
            <a:off x="2321957" y="4552238"/>
            <a:ext cx="700207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088" dirty="0"/>
          </a:p>
        </p:txBody>
      </p:sp>
      <p:sp>
        <p:nvSpPr>
          <p:cNvPr id="37" name="Shape 33"/>
          <p:cNvSpPr/>
          <p:nvPr/>
        </p:nvSpPr>
        <p:spPr>
          <a:xfrm>
            <a:off x="3136463" y="4778814"/>
            <a:ext cx="187594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8" name="Text 34"/>
          <p:cNvSpPr/>
          <p:nvPr/>
        </p:nvSpPr>
        <p:spPr>
          <a:xfrm>
            <a:off x="3250763" y="4552238"/>
            <a:ext cx="1723549" cy="19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Île-de-France</a:t>
            </a:r>
            <a:endParaRPr lang="en-US" sz="1088" dirty="0"/>
          </a:p>
        </p:txBody>
      </p:sp>
      <p:sp>
        <p:nvSpPr>
          <p:cNvPr id="39" name="Text 35"/>
          <p:cNvSpPr/>
          <p:nvPr/>
        </p:nvSpPr>
        <p:spPr>
          <a:xfrm>
            <a:off x="982980" y="4856919"/>
            <a:ext cx="1262777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LBP002</a:t>
            </a:r>
            <a:endParaRPr lang="en-US" sz="1088" dirty="0"/>
          </a:p>
        </p:txBody>
      </p:sp>
      <p:sp>
        <p:nvSpPr>
          <p:cNvPr id="40" name="Text 36"/>
          <p:cNvSpPr/>
          <p:nvPr/>
        </p:nvSpPr>
        <p:spPr>
          <a:xfrm>
            <a:off x="2321957" y="4856919"/>
            <a:ext cx="700207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088" dirty="0"/>
          </a:p>
        </p:txBody>
      </p:sp>
      <p:sp>
        <p:nvSpPr>
          <p:cNvPr id="41" name="Text 37"/>
          <p:cNvSpPr/>
          <p:nvPr/>
        </p:nvSpPr>
        <p:spPr>
          <a:xfrm>
            <a:off x="3250763" y="4856919"/>
            <a:ext cx="1723549" cy="203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PACA</a:t>
            </a:r>
            <a:endParaRPr lang="en-US" sz="1088" dirty="0"/>
          </a:p>
        </p:txBody>
      </p:sp>
      <p:sp>
        <p:nvSpPr>
          <p:cNvPr id="42" name="Shape 38"/>
          <p:cNvSpPr/>
          <p:nvPr/>
        </p:nvSpPr>
        <p:spPr>
          <a:xfrm>
            <a:off x="5404782" y="1681300"/>
            <a:ext cx="6101298" cy="4704159"/>
          </a:xfrm>
          <a:prstGeom prst="roundRect">
            <a:avLst>
              <a:gd name="adj" fmla="val 2835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6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5416212" y="1692731"/>
            <a:ext cx="6078438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44" name="Shape 40"/>
          <p:cNvSpPr/>
          <p:nvPr/>
        </p:nvSpPr>
        <p:spPr>
          <a:xfrm>
            <a:off x="5416212" y="2039202"/>
            <a:ext cx="6078438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45" name="Shape 41"/>
          <p:cNvSpPr/>
          <p:nvPr/>
        </p:nvSpPr>
        <p:spPr>
          <a:xfrm>
            <a:off x="5568553" y="1813638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46" name="Shape 42"/>
          <p:cNvSpPr/>
          <p:nvPr/>
        </p:nvSpPr>
        <p:spPr>
          <a:xfrm>
            <a:off x="5749290" y="1813638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47" name="Shape 43"/>
          <p:cNvSpPr/>
          <p:nvPr/>
        </p:nvSpPr>
        <p:spPr>
          <a:xfrm>
            <a:off x="5930026" y="1813638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48" name="Text 44"/>
          <p:cNvSpPr/>
          <p:nvPr/>
        </p:nvSpPr>
        <p:spPr>
          <a:xfrm>
            <a:off x="6186844" y="1797386"/>
            <a:ext cx="355983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enrichir avec le nom &amp; la région de l'agence</a:t>
            </a:r>
            <a:endParaRPr lang="en-US" sz="938" dirty="0"/>
          </a:p>
        </p:txBody>
      </p:sp>
      <p:sp>
        <p:nvSpPr>
          <p:cNvPr id="49" name="Text 45"/>
          <p:cNvSpPr/>
          <p:nvPr/>
        </p:nvSpPr>
        <p:spPr>
          <a:xfrm>
            <a:off x="5625762" y="2222082"/>
            <a:ext cx="5841691" cy="1481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t.id_transaction, t.montant,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a.nom_agence, a.region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transactions_carte  t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ref_agences         a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(t.code_agence)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(a.code_agence)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(t.statut)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</a:t>
            </a:r>
            <a:endParaRPr lang="en-US" sz="1125" dirty="0"/>
          </a:p>
        </p:txBody>
      </p:sp>
      <p:sp>
        <p:nvSpPr>
          <p:cNvPr id="50" name="Shape 46"/>
          <p:cNvSpPr/>
          <p:nvPr/>
        </p:nvSpPr>
        <p:spPr>
          <a:xfrm>
            <a:off x="5404782" y="6537800"/>
            <a:ext cx="2983944" cy="1188541"/>
          </a:xfrm>
          <a:prstGeom prst="roundRect">
            <a:avLst>
              <a:gd name="adj" fmla="val 14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5404782" y="7714911"/>
            <a:ext cx="298394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2" name="Shape 48"/>
          <p:cNvSpPr/>
          <p:nvPr/>
        </p:nvSpPr>
        <p:spPr>
          <a:xfrm>
            <a:off x="5404782" y="6537800"/>
            <a:ext cx="2983944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3" name="Shape 49"/>
          <p:cNvSpPr/>
          <p:nvPr/>
        </p:nvSpPr>
        <p:spPr>
          <a:xfrm>
            <a:off x="5404782" y="6537800"/>
            <a:ext cx="45720" cy="1188541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54" name="Shape 50"/>
          <p:cNvSpPr/>
          <p:nvPr/>
        </p:nvSpPr>
        <p:spPr>
          <a:xfrm>
            <a:off x="8377297" y="6537800"/>
            <a:ext cx="11430" cy="1188541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5" name="Text 51"/>
          <p:cNvSpPr/>
          <p:nvPr/>
        </p:nvSpPr>
        <p:spPr>
          <a:xfrm>
            <a:off x="5621952" y="6701571"/>
            <a:ext cx="2661411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pPr algn="l" indent="0" marL="0">
              <a:buNone/>
            </a:pPr>
            <a:r>
              <a:rPr lang="en-US" sz="1125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(= JOIN)</a:t>
            </a:r>
            <a:endParaRPr lang="en-US" sz="1125" dirty="0"/>
          </a:p>
        </p:txBody>
      </p:sp>
      <p:sp>
        <p:nvSpPr>
          <p:cNvPr id="56" name="Text 52"/>
          <p:cNvSpPr/>
          <p:nvPr/>
        </p:nvSpPr>
        <p:spPr>
          <a:xfrm>
            <a:off x="5621952" y="6962496"/>
            <a:ext cx="266141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uniquement les lignes avec correspondance dans les 2 tables. Le plus courant.</a:t>
            </a:r>
            <a:endParaRPr lang="en-US" sz="1088" dirty="0"/>
          </a:p>
        </p:txBody>
      </p:sp>
      <p:sp>
        <p:nvSpPr>
          <p:cNvPr id="57" name="Shape 53"/>
          <p:cNvSpPr/>
          <p:nvPr/>
        </p:nvSpPr>
        <p:spPr>
          <a:xfrm>
            <a:off x="8521958" y="6537800"/>
            <a:ext cx="2984123" cy="1188541"/>
          </a:xfrm>
          <a:prstGeom prst="roundRect">
            <a:avLst>
              <a:gd name="adj" fmla="val 14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58" name="Shape 54"/>
          <p:cNvSpPr/>
          <p:nvPr/>
        </p:nvSpPr>
        <p:spPr>
          <a:xfrm>
            <a:off x="8521958" y="7714911"/>
            <a:ext cx="2984123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9" name="Shape 55"/>
          <p:cNvSpPr/>
          <p:nvPr/>
        </p:nvSpPr>
        <p:spPr>
          <a:xfrm>
            <a:off x="8521958" y="6537800"/>
            <a:ext cx="2984123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0" name="Shape 56"/>
          <p:cNvSpPr/>
          <p:nvPr/>
        </p:nvSpPr>
        <p:spPr>
          <a:xfrm>
            <a:off x="8521958" y="6537800"/>
            <a:ext cx="45720" cy="1188541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61" name="Shape 57"/>
          <p:cNvSpPr/>
          <p:nvPr/>
        </p:nvSpPr>
        <p:spPr>
          <a:xfrm>
            <a:off x="11494651" y="6537800"/>
            <a:ext cx="11430" cy="1188541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2" name="Text 58"/>
          <p:cNvSpPr/>
          <p:nvPr/>
        </p:nvSpPr>
        <p:spPr>
          <a:xfrm>
            <a:off x="8739128" y="6701571"/>
            <a:ext cx="2661595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125" dirty="0"/>
          </a:p>
        </p:txBody>
      </p:sp>
      <p:sp>
        <p:nvSpPr>
          <p:cNvPr id="63" name="Text 59"/>
          <p:cNvSpPr/>
          <p:nvPr/>
        </p:nvSpPr>
        <p:spPr>
          <a:xfrm>
            <a:off x="8739128" y="6962496"/>
            <a:ext cx="26615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TOUTES les lignes de gauche. Sans correspondance → NULL à droite.</a:t>
            </a:r>
            <a:endParaRPr lang="en-US" sz="1088" dirty="0"/>
          </a:p>
        </p:txBody>
      </p:sp>
      <p:sp>
        <p:nvSpPr>
          <p:cNvPr id="64" name="Shape 60"/>
          <p:cNvSpPr/>
          <p:nvPr/>
        </p:nvSpPr>
        <p:spPr>
          <a:xfrm>
            <a:off x="685800" y="7937006"/>
            <a:ext cx="10820280" cy="637044"/>
          </a:xfrm>
          <a:prstGeom prst="roundRect">
            <a:avLst>
              <a:gd name="adj" fmla="val 20933"/>
            </a:avLst>
          </a:prstGeom>
          <a:solidFill>
            <a:srgbClr val="FFFCF2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685800" y="8562620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66" name="Shape 62"/>
          <p:cNvSpPr/>
          <p:nvPr/>
        </p:nvSpPr>
        <p:spPr>
          <a:xfrm>
            <a:off x="685800" y="7937006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67" name="Shape 63"/>
          <p:cNvSpPr/>
          <p:nvPr/>
        </p:nvSpPr>
        <p:spPr>
          <a:xfrm>
            <a:off x="685800" y="7937006"/>
            <a:ext cx="45720" cy="637044"/>
          </a:xfrm>
          <a:prstGeom prst="rect">
            <a:avLst/>
          </a:prstGeom>
          <a:solidFill>
            <a:srgbClr val="E0B400">
              <a:alpha val="99000"/>
            </a:srgbClr>
          </a:solidFill>
          <a:ln/>
        </p:spPr>
      </p:sp>
      <p:sp>
        <p:nvSpPr>
          <p:cNvPr id="68" name="Shape 64"/>
          <p:cNvSpPr/>
          <p:nvPr/>
        </p:nvSpPr>
        <p:spPr>
          <a:xfrm>
            <a:off x="11494650" y="7937006"/>
            <a:ext cx="11430" cy="637044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69" name="Text 65"/>
          <p:cNvSpPr/>
          <p:nvPr/>
        </p:nvSpPr>
        <p:spPr>
          <a:xfrm>
            <a:off x="941010" y="8138936"/>
            <a:ext cx="837545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1854696" y="8119886"/>
            <a:ext cx="8974260" cy="309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TRIM()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deux côtés d'une jointure. Les espaces invisibles cassent silencieusement les résultats.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79235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7923529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recettes visuelles — sans écrire de code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80927"/>
            <a:ext cx="9025767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débuter : commencez par les recettes </a:t>
            </a:r>
            <a:pPr algn="l"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visuelles</a:t>
            </a:r>
            <a:pPr algn="l"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puis passez au </a:t>
            </a:r>
            <a:pPr algn="l" indent="0" marL="0">
              <a:buNone/>
            </a:pPr>
            <a:r>
              <a:rPr lang="en-US" sz="1350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</a:t>
            </a:r>
            <a:pPr algn="l"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l'envie vient.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065991"/>
            <a:ext cx="5324415" cy="2608719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8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44761" y="2344061"/>
            <a:ext cx="152340" cy="152340"/>
          </a:xfrm>
          <a:prstGeom prst="ellipse">
            <a:avLst/>
          </a:prstGeom>
          <a:solidFill>
            <a:srgbClr val="41B6E6"/>
          </a:solidFill>
          <a:ln/>
        </p:spPr>
      </p:sp>
      <p:sp>
        <p:nvSpPr>
          <p:cNvPr id="9" name="Text 6"/>
          <p:cNvSpPr/>
          <p:nvPr/>
        </p:nvSpPr>
        <p:spPr>
          <a:xfrm>
            <a:off x="1268551" y="2308700"/>
            <a:ext cx="1659791" cy="245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75" b="1" spc="-24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 Prepare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2947333" y="2286911"/>
            <a:ext cx="870287" cy="25146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82588" y="2355491"/>
            <a:ext cx="6759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NETTOYAGE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268551" y="2604987"/>
            <a:ext cx="4617184" cy="46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Nettoyage, renommage de colonnes, suppression des lignes vides, formatage de dates. Tout en drag &amp; drop.</a:t>
            </a:r>
            <a:endParaRPr lang="en-US" sz="1163" dirty="0"/>
          </a:p>
        </p:txBody>
      </p:sp>
      <p:sp>
        <p:nvSpPr>
          <p:cNvPr id="13" name="Shape 10"/>
          <p:cNvSpPr/>
          <p:nvPr/>
        </p:nvSpPr>
        <p:spPr>
          <a:xfrm>
            <a:off x="6181665" y="2065991"/>
            <a:ext cx="5324415" cy="2608719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88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0626" y="2344061"/>
            <a:ext cx="152340" cy="152340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15" name="Text 12"/>
          <p:cNvSpPr/>
          <p:nvPr/>
        </p:nvSpPr>
        <p:spPr>
          <a:xfrm>
            <a:off x="6764417" y="2308700"/>
            <a:ext cx="1491734" cy="245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75" b="1" spc="-24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 Group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8275141" y="2286911"/>
            <a:ext cx="1403568" cy="25146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0396" y="2355491"/>
            <a:ext cx="12092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GROUP BY VISUEL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764417" y="2604987"/>
            <a:ext cx="4617184" cy="46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L'équivalent visuel d'un GROUP BY. Choisissez les colonnes de regroupement et les agrégations.</a:t>
            </a:r>
            <a:endParaRPr lang="en-US" sz="1163" dirty="0"/>
          </a:p>
        </p:txBody>
      </p:sp>
      <p:sp>
        <p:nvSpPr>
          <p:cNvPr id="19" name="Shape 16"/>
          <p:cNvSpPr/>
          <p:nvPr/>
        </p:nvSpPr>
        <p:spPr>
          <a:xfrm>
            <a:off x="685800" y="4847333"/>
            <a:ext cx="5324415" cy="2608897"/>
          </a:xfrm>
          <a:prstGeom prst="roundRect">
            <a:avLst>
              <a:gd name="adj" fmla="val 6572"/>
            </a:avLst>
          </a:prstGeom>
          <a:solidFill>
            <a:srgbClr val="FFFFFF">
              <a:alpha val="99000"/>
            </a:srgbClr>
          </a:solidFill>
          <a:ln w="11430">
            <a:solidFill>
              <a:srgbClr val="DCE2EE">
                <a:alpha val="99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44761" y="5125403"/>
            <a:ext cx="152340" cy="1523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21" name="Text 18"/>
          <p:cNvSpPr/>
          <p:nvPr/>
        </p:nvSpPr>
        <p:spPr>
          <a:xfrm>
            <a:off x="1268551" y="5090042"/>
            <a:ext cx="1309390" cy="245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75" b="1" spc="-24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 Join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2596932" y="5068253"/>
            <a:ext cx="1136928" cy="25146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32187" y="5136833"/>
            <a:ext cx="9426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JOIN VISUEL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268551" y="5386329"/>
            <a:ext cx="4617184" cy="46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Joindre deux tables via une interface graphique. Choisissez le type de jointure et les clés.</a:t>
            </a:r>
            <a:endParaRPr lang="en-US" sz="1163" dirty="0"/>
          </a:p>
        </p:txBody>
      </p:sp>
      <p:sp>
        <p:nvSpPr>
          <p:cNvPr id="25" name="Shape 22"/>
          <p:cNvSpPr/>
          <p:nvPr/>
        </p:nvSpPr>
        <p:spPr>
          <a:xfrm>
            <a:off x="6181665" y="4847333"/>
            <a:ext cx="5324415" cy="2608897"/>
          </a:xfrm>
          <a:prstGeom prst="roundRect">
            <a:avLst>
              <a:gd name="adj" fmla="val 6572"/>
            </a:avLst>
          </a:prstGeom>
          <a:solidFill>
            <a:srgbClr val="FFFF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81665" y="7444800"/>
            <a:ext cx="5324415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181665" y="4847333"/>
            <a:ext cx="5324415" cy="34290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181665" y="4847333"/>
            <a:ext cx="11430" cy="2608897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1494650" y="4847333"/>
            <a:ext cx="11430" cy="2608897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440626" y="5091113"/>
            <a:ext cx="304681" cy="304681"/>
          </a:xfrm>
          <a:prstGeom prst="roundRect">
            <a:avLst>
              <a:gd name="adj" fmla="val 25010"/>
            </a:avLst>
          </a:prstGeom>
          <a:solidFill>
            <a:srgbClr val="0E1B33"/>
          </a:solidFill>
          <a:ln/>
        </p:spPr>
      </p:sp>
      <p:sp>
        <p:nvSpPr>
          <p:cNvPr id="31" name="Text 28"/>
          <p:cNvSpPr/>
          <p:nvPr/>
        </p:nvSpPr>
        <p:spPr>
          <a:xfrm>
            <a:off x="6402526" y="5091113"/>
            <a:ext cx="380881" cy="342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6916757" y="5112901"/>
            <a:ext cx="1301889" cy="245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75" b="1" spc="-24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 SQL</a:t>
            </a:r>
            <a:endParaRPr lang="en-US" sz="1575" dirty="0"/>
          </a:p>
        </p:txBody>
      </p:sp>
      <p:sp>
        <p:nvSpPr>
          <p:cNvPr id="33" name="Shape 30"/>
          <p:cNvSpPr/>
          <p:nvPr/>
        </p:nvSpPr>
        <p:spPr>
          <a:xfrm>
            <a:off x="8237636" y="5091113"/>
            <a:ext cx="1136928" cy="251460"/>
          </a:xfrm>
          <a:prstGeom prst="roundRect">
            <a:avLst>
              <a:gd name="adj" fmla="val 50000"/>
            </a:avLst>
          </a:prstGeom>
          <a:solidFill>
            <a:srgbClr val="E7F4FC"/>
          </a:solidFill>
          <a:ln w="11430">
            <a:solidFill>
              <a:srgbClr val="BFE3F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72891" y="5159693"/>
            <a:ext cx="9426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PUISSANCE MAX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916757" y="5409188"/>
            <a:ext cx="4460273" cy="46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aller plus loin : vous écrivez directement en HiveSQL. C'est ce qu'on vient d'apprendre !</a:t>
            </a:r>
            <a:endParaRPr lang="en-US" sz="1163" dirty="0"/>
          </a:p>
        </p:txBody>
      </p:sp>
      <p:sp>
        <p:nvSpPr>
          <p:cNvPr id="36" name="Shape 33"/>
          <p:cNvSpPr/>
          <p:nvPr/>
        </p:nvSpPr>
        <p:spPr>
          <a:xfrm>
            <a:off x="685800" y="7668026"/>
            <a:ext cx="10820280" cy="908328"/>
          </a:xfrm>
          <a:prstGeom prst="roundRect">
            <a:avLst>
              <a:gd name="adj" fmla="val 14681"/>
            </a:avLst>
          </a:prstGeom>
          <a:solidFill>
            <a:srgbClr val="FBFCFF">
              <a:alpha val="97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874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85800" y="8564924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85800" y="7668026"/>
            <a:ext cx="10820280" cy="11430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85800" y="7668026"/>
            <a:ext cx="45720" cy="908328"/>
          </a:xfrm>
          <a:prstGeom prst="rect">
            <a:avLst/>
          </a:prstGeom>
          <a:solidFill>
            <a:srgbClr val="41B6E6">
              <a:alpha val="97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1494650" y="7668026"/>
            <a:ext cx="11430" cy="908328"/>
          </a:xfrm>
          <a:prstGeom prst="rect">
            <a:avLst/>
          </a:prstGeom>
          <a:solidFill>
            <a:srgbClr val="DCE2EE">
              <a:alpha val="97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941010" y="7869956"/>
            <a:ext cx="1091327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DATAIKU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108478" y="7850906"/>
            <a:ext cx="9451983" cy="580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droit sur un dataset →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Recipe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choisissez le type. Les recettes visuelles génèrent du SQL en arrière-plan — cliquez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SQL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voir le code.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869042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8690423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 complète — extraction bancaire réaliste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27"/>
            <a:ext cx="10820280" cy="931188"/>
          </a:xfrm>
          <a:prstGeom prst="roundRect">
            <a:avLst>
              <a:gd name="adj" fmla="val 14320"/>
            </a:avLst>
          </a:prstGeom>
          <a:solidFill>
            <a:srgbClr val="FBFC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2600685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680927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680927"/>
            <a:ext cx="45720" cy="93118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0" name="Shape 7"/>
          <p:cNvSpPr/>
          <p:nvPr/>
        </p:nvSpPr>
        <p:spPr>
          <a:xfrm>
            <a:off x="11494650" y="1680927"/>
            <a:ext cx="11430" cy="931188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1" name="Text 8"/>
          <p:cNvSpPr/>
          <p:nvPr/>
        </p:nvSpPr>
        <p:spPr>
          <a:xfrm>
            <a:off x="941010" y="1882857"/>
            <a:ext cx="1175802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BESOIN MÉTIER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92952" y="1863807"/>
            <a:ext cx="9364973" cy="603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agence : nombre d'opérations valides par type, montant total, et réseau carte (VISA / Mastercard) identifié via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BIN.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685800" y="2783942"/>
            <a:ext cx="10820280" cy="4980444"/>
          </a:xfrm>
          <a:prstGeom prst="roundRect">
            <a:avLst>
              <a:gd name="adj" fmla="val 2677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5985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7230" y="2795372"/>
            <a:ext cx="10797420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15" name="Shape 12"/>
          <p:cNvSpPr/>
          <p:nvPr/>
        </p:nvSpPr>
        <p:spPr>
          <a:xfrm>
            <a:off x="697230" y="3141844"/>
            <a:ext cx="10797420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16" name="Shape 13"/>
          <p:cNvSpPr/>
          <p:nvPr/>
        </p:nvSpPr>
        <p:spPr>
          <a:xfrm>
            <a:off x="849570" y="2916280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17" name="Shape 14"/>
          <p:cNvSpPr/>
          <p:nvPr/>
        </p:nvSpPr>
        <p:spPr>
          <a:xfrm>
            <a:off x="1030307" y="2916280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18" name="Shape 15"/>
          <p:cNvSpPr/>
          <p:nvPr/>
        </p:nvSpPr>
        <p:spPr>
          <a:xfrm>
            <a:off x="1211044" y="2916280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467862" y="2900028"/>
            <a:ext cx="590613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 + CASE + TRIM + UPPER + LEFT JOIN + COALESCE + GROUP BY + ORDER BY</a:t>
            </a:r>
            <a:endParaRPr lang="en-US" sz="938" dirty="0"/>
          </a:p>
        </p:txBody>
      </p:sp>
      <p:sp>
        <p:nvSpPr>
          <p:cNvPr id="20" name="Text 17"/>
          <p:cNvSpPr/>
          <p:nvPr/>
        </p:nvSpPr>
        <p:spPr>
          <a:xfrm>
            <a:off x="906780" y="3324724"/>
            <a:ext cx="10702243" cy="4328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(t.code_agence)            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agence,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(t.type_operation)        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type_op,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(t.pan,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'VISA'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(t.pan,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'51'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'52'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'53'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'MASTERCARD'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'AUTRE'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reseau_carte,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                      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nb_op,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(t.montant)                 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montant_total,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(t.date_operation)          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derniere_op,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(a.nom_agence,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'Agence non trouvée'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nom_agence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transactions_carte  t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ref_agences         a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(t.code_agence)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(a.code_agence)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(t.statut)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(t.code_agence),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(t.type_operation),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endParaRPr lang="en-US" sz="101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(t.pan,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'VISA'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(t.pan,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'51'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'52'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'53'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'MASTERCARD'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'AUTRE'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a.nom_agence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montant_total </a:t>
            </a:r>
            <a:pPr algn="l" indent="0" marL="0">
              <a:lnSpc>
                <a:spcPct val="150000"/>
              </a:lnSpc>
              <a:buNone/>
            </a:pPr>
            <a:r>
              <a:rPr lang="en-US" sz="1013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13" dirty="0"/>
          </a:p>
        </p:txBody>
      </p:sp>
      <p:sp>
        <p:nvSpPr>
          <p:cNvPr id="21" name="Shape 18"/>
          <p:cNvSpPr/>
          <p:nvPr/>
        </p:nvSpPr>
        <p:spPr>
          <a:xfrm>
            <a:off x="685800" y="7937016"/>
            <a:ext cx="10820280" cy="637044"/>
          </a:xfrm>
          <a:prstGeom prst="roundRect">
            <a:avLst>
              <a:gd name="adj" fmla="val 20933"/>
            </a:avLst>
          </a:prstGeom>
          <a:solidFill>
            <a:srgbClr val="FBFC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8562629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7937016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7937016"/>
            <a:ext cx="45720" cy="637044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1494650" y="7937016"/>
            <a:ext cx="11430" cy="637044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941010" y="8138946"/>
            <a:ext cx="837545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À RETENIR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854696" y="8119896"/>
            <a:ext cx="8019184" cy="309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requête utilise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a vu. Elle couvre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extractions bancaires du quotidien.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638109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6381095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de jouer — exercice pratique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27"/>
            <a:ext cx="4350365" cy="1411426"/>
          </a:xfrm>
          <a:prstGeom prst="roundRect">
            <a:avLst>
              <a:gd name="adj" fmla="val 12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3080923"/>
            <a:ext cx="435036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680927"/>
            <a:ext cx="4350365" cy="34290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680927"/>
            <a:ext cx="11430" cy="1411426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0" name="Shape 7"/>
          <p:cNvSpPr/>
          <p:nvPr/>
        </p:nvSpPr>
        <p:spPr>
          <a:xfrm>
            <a:off x="5024735" y="1680927"/>
            <a:ext cx="11430" cy="1411426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1" name="Text 8"/>
          <p:cNvSpPr/>
          <p:nvPr/>
        </p:nvSpPr>
        <p:spPr>
          <a:xfrm>
            <a:off x="944761" y="1943817"/>
            <a:ext cx="394741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85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: OPERATIONS_MENSUELLES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944761" y="2237068"/>
            <a:ext cx="900827" cy="274320"/>
          </a:xfrm>
          <a:prstGeom prst="roundRect">
            <a:avLst>
              <a:gd name="adj" fmla="val 27778"/>
            </a:avLst>
          </a:prstGeom>
          <a:solidFill>
            <a:srgbClr val="EEF4FB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966" y="2305648"/>
            <a:ext cx="74461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1912203" y="2237068"/>
            <a:ext cx="1049417" cy="274320"/>
          </a:xfrm>
          <a:prstGeom prst="roundRect">
            <a:avLst>
              <a:gd name="adj" fmla="val 27778"/>
            </a:avLst>
          </a:prstGeom>
          <a:solidFill>
            <a:srgbClr val="EEF4FB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28408" y="2305648"/>
            <a:ext cx="89320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code_agence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3028236" y="2237068"/>
            <a:ext cx="1272302" cy="274320"/>
          </a:xfrm>
          <a:prstGeom prst="roundRect">
            <a:avLst>
              <a:gd name="adj" fmla="val 27778"/>
            </a:avLst>
          </a:prstGeom>
          <a:solidFill>
            <a:srgbClr val="EEF4FB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44441" y="2305648"/>
            <a:ext cx="1116092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type_operation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944761" y="2578003"/>
            <a:ext cx="752237" cy="274320"/>
          </a:xfrm>
          <a:prstGeom prst="roundRect">
            <a:avLst>
              <a:gd name="adj" fmla="val 27778"/>
            </a:avLst>
          </a:prstGeom>
          <a:solidFill>
            <a:srgbClr val="EEF4FB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966" y="2646583"/>
            <a:ext cx="59602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1763613" y="2578003"/>
            <a:ext cx="752237" cy="274320"/>
          </a:xfrm>
          <a:prstGeom prst="roundRect">
            <a:avLst>
              <a:gd name="adj" fmla="val 27778"/>
            </a:avLst>
          </a:prstGeom>
          <a:solidFill>
            <a:srgbClr val="EEF4FB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79818" y="2646583"/>
            <a:ext cx="59602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date_op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2582465" y="2578003"/>
            <a:ext cx="677942" cy="274320"/>
          </a:xfrm>
          <a:prstGeom prst="roundRect">
            <a:avLst>
              <a:gd name="adj" fmla="val 27778"/>
            </a:avLst>
          </a:prstGeom>
          <a:solidFill>
            <a:srgbClr val="EEF4FB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98670" y="2646583"/>
            <a:ext cx="521732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3327023" y="2578003"/>
            <a:ext cx="1198007" cy="274320"/>
          </a:xfrm>
          <a:prstGeom prst="roundRect">
            <a:avLst>
              <a:gd name="adj" fmla="val 27778"/>
            </a:avLst>
          </a:prstGeom>
          <a:solidFill>
            <a:srgbClr val="EEF4FB"/>
          </a:solidFill>
          <a:ln w="11430">
            <a:solidFill>
              <a:srgbClr val="DCE2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43228" y="2646583"/>
            <a:ext cx="10417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ref_operation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685800" y="3244694"/>
            <a:ext cx="4350365" cy="4458414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44761" y="3484723"/>
            <a:ext cx="394741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CONSIGNE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944761" y="3759044"/>
            <a:ext cx="3947416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13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agence : </a:t>
            </a:r>
            <a:pPr algn="l" indent="0" marL="0">
              <a:lnSpc>
                <a:spcPct val="160000"/>
              </a:lnSpc>
              <a:buNone/>
            </a:pPr>
            <a:r>
              <a:rPr lang="en-US" sz="1313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d'opérations valides </a:t>
            </a:r>
            <a:pPr algn="l" indent="0" marL="0">
              <a:lnSpc>
                <a:spcPct val="160000"/>
              </a:lnSpc>
              <a:buNone/>
            </a:pPr>
            <a:r>
              <a:rPr lang="en-US" sz="1313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60000"/>
              </a:lnSpc>
              <a:buNone/>
            </a:pPr>
            <a:r>
              <a:rPr lang="en-US" sz="1313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 total</a:t>
            </a:r>
            <a:pPr algn="l" indent="0" marL="0">
              <a:lnSpc>
                <a:spcPct val="160000"/>
              </a:lnSpc>
              <a:buNone/>
            </a:pPr>
            <a:r>
              <a:rPr lang="en-US" sz="1313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et </a:t>
            </a:r>
            <a:pPr algn="l" indent="0" marL="0">
              <a:lnSpc>
                <a:spcPct val="160000"/>
              </a:lnSpc>
              <a:buNone/>
            </a:pPr>
            <a:r>
              <a:rPr lang="en-US" sz="1313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</a:t>
            </a:r>
            <a:pPr algn="l" indent="0" marL="0">
              <a:lnSpc>
                <a:spcPct val="160000"/>
              </a:lnSpc>
              <a:buNone/>
            </a:pPr>
            <a:r>
              <a:rPr lang="en-US" sz="1313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avec </a:t>
            </a:r>
            <a:pPr algn="l" indent="0" marL="0">
              <a:lnSpc>
                <a:spcPct val="160000"/>
              </a:lnSpc>
              <a:buNone/>
            </a:pPr>
            <a:r>
              <a:rPr lang="en-US" sz="1313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SUBSTR(ref_operation,1,6) </a:t>
            </a:r>
            <a:pPr algn="l" indent="0" marL="0">
              <a:lnSpc>
                <a:spcPct val="160000"/>
              </a:lnSpc>
              <a:buNone/>
            </a:pPr>
            <a:r>
              <a:rPr lang="en-US" sz="1313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Triez du montant le plus élevé.</a:t>
            </a:r>
            <a:endParaRPr lang="en-US" sz="1313" dirty="0"/>
          </a:p>
        </p:txBody>
      </p:sp>
      <p:sp>
        <p:nvSpPr>
          <p:cNvPr id="29" name="Shape 26"/>
          <p:cNvSpPr/>
          <p:nvPr/>
        </p:nvSpPr>
        <p:spPr>
          <a:xfrm>
            <a:off x="5245655" y="1681302"/>
            <a:ext cx="6260425" cy="6022181"/>
          </a:xfrm>
          <a:prstGeom prst="roundRect">
            <a:avLst>
              <a:gd name="adj" fmla="val 2214"/>
            </a:avLst>
          </a:prstGeom>
          <a:solidFill>
            <a:srgbClr val="0E1B33"/>
          </a:solidFill>
          <a:ln w="11430">
            <a:solidFill>
              <a:srgbClr val="1C2E50"/>
            </a:solidFill>
            <a:prstDash val="solid"/>
          </a:ln>
          <a:effectLst>
            <a:outerShdw sx="100000" sy="100000" kx="0" ky="0" algn="bl" rotWithShape="0" blurRad="476250" dist="228600" dir="5400000">
              <a:srgbClr val="001234">
                <a:alpha val="59852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257086" y="1692732"/>
            <a:ext cx="6237565" cy="35790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31" name="Shape 28"/>
          <p:cNvSpPr/>
          <p:nvPr/>
        </p:nvSpPr>
        <p:spPr>
          <a:xfrm>
            <a:off x="5257086" y="2039203"/>
            <a:ext cx="6237565" cy="11430"/>
          </a:xfrm>
          <a:prstGeom prst="rect">
            <a:avLst/>
          </a:prstGeom>
          <a:solidFill>
            <a:srgbClr val="1C2E50"/>
          </a:solidFill>
          <a:ln/>
        </p:spPr>
      </p:sp>
      <p:sp>
        <p:nvSpPr>
          <p:cNvPr id="32" name="Shape 29"/>
          <p:cNvSpPr/>
          <p:nvPr/>
        </p:nvSpPr>
        <p:spPr>
          <a:xfrm>
            <a:off x="5409426" y="1813639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33" name="Shape 30"/>
          <p:cNvSpPr/>
          <p:nvPr/>
        </p:nvSpPr>
        <p:spPr>
          <a:xfrm>
            <a:off x="5590163" y="1813639"/>
            <a:ext cx="104656" cy="104656"/>
          </a:xfrm>
          <a:prstGeom prst="ellipse">
            <a:avLst/>
          </a:prstGeom>
          <a:solidFill>
            <a:srgbClr val="2C4170"/>
          </a:solidFill>
          <a:ln/>
        </p:spPr>
      </p:sp>
      <p:sp>
        <p:nvSpPr>
          <p:cNvPr id="34" name="Shape 31"/>
          <p:cNvSpPr/>
          <p:nvPr/>
        </p:nvSpPr>
        <p:spPr>
          <a:xfrm>
            <a:off x="5770899" y="1813639"/>
            <a:ext cx="104656" cy="104656"/>
          </a:xfrm>
          <a:prstGeom prst="ellipse">
            <a:avLst/>
          </a:prstGeom>
          <a:solidFill>
            <a:srgbClr val="FFCD00">
              <a:alpha val="85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027718" y="1797387"/>
            <a:ext cx="48542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56" kern="0" dirty="0">
                <a:solidFill>
                  <a:srgbClr val="5E7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— SUBSTR + TRIM + COUNT + SUM + GROUP BY + ORDER BY</a:t>
            </a:r>
            <a:endParaRPr lang="en-US" sz="938" dirty="0"/>
          </a:p>
        </p:txBody>
      </p:sp>
      <p:sp>
        <p:nvSpPr>
          <p:cNvPr id="36" name="Text 33"/>
          <p:cNvSpPr/>
          <p:nvPr/>
        </p:nvSpPr>
        <p:spPr>
          <a:xfrm>
            <a:off x="5466636" y="2222083"/>
            <a:ext cx="6005592" cy="5336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(code_agence)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agence,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(ref_operation,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mois_op,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    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nb_operations,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(montant) 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montant_total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operations_mensuelles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(statut)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9FB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'VALIDE'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(code_agence),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C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(ref_operation,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0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C9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montant_total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6F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685800" y="7914148"/>
            <a:ext cx="10820280" cy="659904"/>
          </a:xfrm>
          <a:prstGeom prst="roundRect">
            <a:avLst>
              <a:gd name="adj" fmla="val 20207"/>
            </a:avLst>
          </a:prstGeom>
          <a:solidFill>
            <a:srgbClr val="FBFCFF">
              <a:alpha val="99000"/>
            </a:srgbClr>
          </a:solidFill>
          <a:ln/>
          <a:effectLst>
            <a:outerShdw sx="100000" sy="100000" kx="0" ky="0" algn="bl" rotWithShape="0" blurRad="19050" dist="9525" dir="5400000">
              <a:srgbClr val="0A1A40">
                <a:alpha val="4949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800" y="8562622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85800" y="7914148"/>
            <a:ext cx="10820280" cy="11430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" y="7914148"/>
            <a:ext cx="45720" cy="659904"/>
          </a:xfrm>
          <a:prstGeom prst="rect">
            <a:avLst/>
          </a:prstGeom>
          <a:solidFill>
            <a:srgbClr val="41B6E6">
              <a:alpha val="99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1494650" y="7914148"/>
            <a:ext cx="11430" cy="659904"/>
          </a:xfrm>
          <a:prstGeom prst="rect">
            <a:avLst/>
          </a:prstGeom>
          <a:solidFill>
            <a:srgbClr val="DCE2EE">
              <a:alpha val="99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941010" y="8116078"/>
            <a:ext cx="499110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516261" y="8097028"/>
            <a:ext cx="9969070" cy="33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Ajoutez un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ref_agences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afficher le nom de l'agence. Utilisez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JOIN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ne perdre aucune ligne.</a:t>
            </a:r>
            <a:endParaRPr lang="en-US" sz="14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21963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0431"/>
            <a:ext cx="682681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Récap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855107"/>
            <a:ext cx="6826810" cy="414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43" kern="0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fiche mémo — tout en un coup d'œil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330" y="945832"/>
            <a:ext cx="285750" cy="285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80927"/>
            <a:ext cx="10820280" cy="5750897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1430">
            <a:solidFill>
              <a:srgbClr val="DCE2EE"/>
            </a:solidFill>
            <a:prstDash val="solid"/>
          </a:ln>
          <a:effectLst>
            <a:outerShdw sx="100000" sy="100000" kx="0" ky="0" algn="bl" rotWithShape="0" blurRad="19050" dist="9525" dir="5400000">
              <a:srgbClr val="0A1A4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3870" y="2220280"/>
            <a:ext cx="3079135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8" name="Text 5"/>
          <p:cNvSpPr/>
          <p:nvPr/>
        </p:nvSpPr>
        <p:spPr>
          <a:xfrm>
            <a:off x="1097220" y="1991680"/>
            <a:ext cx="29048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MOT-CLÉ / FONCTION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43005" y="2220280"/>
            <a:ext cx="3900309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10" name="Text 7"/>
          <p:cNvSpPr/>
          <p:nvPr/>
        </p:nvSpPr>
        <p:spPr>
          <a:xfrm>
            <a:off x="4176355" y="1991680"/>
            <a:ext cx="375061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RÔLE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43314" y="2220280"/>
            <a:ext cx="3284696" cy="11430"/>
          </a:xfrm>
          <a:prstGeom prst="rect">
            <a:avLst/>
          </a:prstGeom>
          <a:solidFill>
            <a:srgbClr val="C7D0E2"/>
          </a:solidFill>
          <a:ln/>
        </p:spPr>
      </p:sp>
      <p:sp>
        <p:nvSpPr>
          <p:cNvPr id="12" name="Text 9"/>
          <p:cNvSpPr/>
          <p:nvPr/>
        </p:nvSpPr>
        <p:spPr>
          <a:xfrm>
            <a:off x="8076664" y="1991680"/>
            <a:ext cx="31165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5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ÉQUIVALENT ICM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63870" y="2635332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20" y="2336485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4043005" y="2635332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6" name="Text 13"/>
          <p:cNvSpPr/>
          <p:nvPr/>
        </p:nvSpPr>
        <p:spPr>
          <a:xfrm>
            <a:off x="4176355" y="2336485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les colonnes à afficher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43314" y="2635332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8" name="Text 15"/>
          <p:cNvSpPr/>
          <p:nvPr/>
        </p:nvSpPr>
        <p:spPr>
          <a:xfrm>
            <a:off x="8076664" y="2336485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à cocher dans ICM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63870" y="2646762"/>
            <a:ext cx="10264140" cy="415052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20" name="Shape 17"/>
          <p:cNvSpPr/>
          <p:nvPr/>
        </p:nvSpPr>
        <p:spPr>
          <a:xfrm>
            <a:off x="963870" y="3050384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20" y="2751537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…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4043005" y="3050384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3" name="Text 20"/>
          <p:cNvSpPr/>
          <p:nvPr/>
        </p:nvSpPr>
        <p:spPr>
          <a:xfrm>
            <a:off x="4176355" y="2751537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table source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43314" y="3050384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5" name="Text 22"/>
          <p:cNvSpPr/>
          <p:nvPr/>
        </p:nvSpPr>
        <p:spPr>
          <a:xfrm>
            <a:off x="8076664" y="2751537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de la vue ICM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870" y="3465435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7" name="Text 24"/>
          <p:cNvSpPr/>
          <p:nvPr/>
        </p:nvSpPr>
        <p:spPr>
          <a:xfrm>
            <a:off x="1097220" y="3166588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… = / BETWEEN / IN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4043005" y="3465435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9" name="Text 26"/>
          <p:cNvSpPr/>
          <p:nvPr/>
        </p:nvSpPr>
        <p:spPr>
          <a:xfrm>
            <a:off x="4176355" y="3166588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les données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943314" y="3465435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1" name="Text 28"/>
          <p:cNvSpPr/>
          <p:nvPr/>
        </p:nvSpPr>
        <p:spPr>
          <a:xfrm>
            <a:off x="8076664" y="3166588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à sélectionner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63870" y="3476865"/>
            <a:ext cx="10264140" cy="415052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33" name="Shape 30"/>
          <p:cNvSpPr/>
          <p:nvPr/>
        </p:nvSpPr>
        <p:spPr>
          <a:xfrm>
            <a:off x="963870" y="3880487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4" name="Text 31"/>
          <p:cNvSpPr/>
          <p:nvPr/>
        </p:nvSpPr>
        <p:spPr>
          <a:xfrm>
            <a:off x="1097220" y="3581640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…</a:t>
            </a:r>
            <a:endParaRPr lang="en-US" sz="1125" dirty="0"/>
          </a:p>
        </p:txBody>
      </p:sp>
      <p:sp>
        <p:nvSpPr>
          <p:cNvPr id="35" name="Shape 32"/>
          <p:cNvSpPr/>
          <p:nvPr/>
        </p:nvSpPr>
        <p:spPr>
          <a:xfrm>
            <a:off x="4043005" y="3880487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6" name="Text 33"/>
          <p:cNvSpPr/>
          <p:nvPr/>
        </p:nvSpPr>
        <p:spPr>
          <a:xfrm>
            <a:off x="4176355" y="3581640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Regrouper par catégorie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943314" y="3880487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38" name="Text 35"/>
          <p:cNvSpPr/>
          <p:nvPr/>
        </p:nvSpPr>
        <p:spPr>
          <a:xfrm>
            <a:off x="8076664" y="3581640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agrégé ICM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63870" y="4295539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40" name="Text 37"/>
          <p:cNvSpPr/>
          <p:nvPr/>
        </p:nvSpPr>
        <p:spPr>
          <a:xfrm>
            <a:off x="1097220" y="3996692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… DESC / ASC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4043005" y="4295539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42" name="Text 39"/>
          <p:cNvSpPr/>
          <p:nvPr/>
        </p:nvSpPr>
        <p:spPr>
          <a:xfrm>
            <a:off x="4176355" y="3996692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Trier les résultats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943314" y="4295539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44" name="Text 41"/>
          <p:cNvSpPr/>
          <p:nvPr/>
        </p:nvSpPr>
        <p:spPr>
          <a:xfrm>
            <a:off x="8076664" y="3996692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de colonne ICM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963870" y="4306969"/>
            <a:ext cx="10264140" cy="415052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46" name="Shape 43"/>
          <p:cNvSpPr/>
          <p:nvPr/>
        </p:nvSpPr>
        <p:spPr>
          <a:xfrm>
            <a:off x="963870" y="4710591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47" name="Text 44"/>
          <p:cNvSpPr/>
          <p:nvPr/>
        </p:nvSpPr>
        <p:spPr>
          <a:xfrm>
            <a:off x="1097220" y="4411744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… ON …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4043005" y="4710591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49" name="Text 46"/>
          <p:cNvSpPr/>
          <p:nvPr/>
        </p:nvSpPr>
        <p:spPr>
          <a:xfrm>
            <a:off x="4176355" y="4411744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deux tables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943314" y="4710591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1" name="Text 48"/>
          <p:cNvSpPr/>
          <p:nvPr/>
        </p:nvSpPr>
        <p:spPr>
          <a:xfrm>
            <a:off x="8076664" y="4411744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disponible dans ICM !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963870" y="5125643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3" name="Text 50"/>
          <p:cNvSpPr/>
          <p:nvPr/>
        </p:nvSpPr>
        <p:spPr>
          <a:xfrm>
            <a:off x="1097220" y="4826796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/ SUM / MAX / MIN</a:t>
            </a:r>
            <a:endParaRPr lang="en-US" sz="1125" dirty="0"/>
          </a:p>
        </p:txBody>
      </p:sp>
      <p:sp>
        <p:nvSpPr>
          <p:cNvPr id="54" name="Shape 51"/>
          <p:cNvSpPr/>
          <p:nvPr/>
        </p:nvSpPr>
        <p:spPr>
          <a:xfrm>
            <a:off x="4043005" y="5125643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5" name="Text 52"/>
          <p:cNvSpPr/>
          <p:nvPr/>
        </p:nvSpPr>
        <p:spPr>
          <a:xfrm>
            <a:off x="4176355" y="4826796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d'agrégation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943314" y="5125643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57" name="Text 54"/>
          <p:cNvSpPr/>
          <p:nvPr/>
        </p:nvSpPr>
        <p:spPr>
          <a:xfrm>
            <a:off x="8076664" y="4826796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Totaux ICM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63870" y="5137072"/>
            <a:ext cx="10264140" cy="415052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59" name="Shape 56"/>
          <p:cNvSpPr/>
          <p:nvPr/>
        </p:nvSpPr>
        <p:spPr>
          <a:xfrm>
            <a:off x="963870" y="5540694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0" name="Text 57"/>
          <p:cNvSpPr/>
          <p:nvPr/>
        </p:nvSpPr>
        <p:spPr>
          <a:xfrm>
            <a:off x="1097220" y="5241847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SUBSTR(col, début, long.)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4043005" y="5540694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2" name="Text 59"/>
          <p:cNvSpPr/>
          <p:nvPr/>
        </p:nvSpPr>
        <p:spPr>
          <a:xfrm>
            <a:off x="4176355" y="5241847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Extraire un morceau de texte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7943314" y="5540694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4" name="Text 61"/>
          <p:cNvSpPr/>
          <p:nvPr/>
        </p:nvSpPr>
        <p:spPr>
          <a:xfrm>
            <a:off x="8076664" y="5241847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carte, code agence, mois…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963870" y="5955747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6" name="Text 63"/>
          <p:cNvSpPr/>
          <p:nvPr/>
        </p:nvSpPr>
        <p:spPr>
          <a:xfrm>
            <a:off x="1097220" y="5656899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TRIM(col)</a:t>
            </a:r>
            <a:endParaRPr lang="en-US" sz="1125" dirty="0"/>
          </a:p>
        </p:txBody>
      </p:sp>
      <p:sp>
        <p:nvSpPr>
          <p:cNvPr id="67" name="Shape 64"/>
          <p:cNvSpPr/>
          <p:nvPr/>
        </p:nvSpPr>
        <p:spPr>
          <a:xfrm>
            <a:off x="4043005" y="5955747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68" name="Text 65"/>
          <p:cNvSpPr/>
          <p:nvPr/>
        </p:nvSpPr>
        <p:spPr>
          <a:xfrm>
            <a:off x="4176355" y="5656899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les espaces parasites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7943314" y="5955747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70" name="Text 67"/>
          <p:cNvSpPr/>
          <p:nvPr/>
        </p:nvSpPr>
        <p:spPr>
          <a:xfrm>
            <a:off x="8076664" y="5656899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avant JOIN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963870" y="5967177"/>
            <a:ext cx="10264140" cy="415052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72" name="Shape 69"/>
          <p:cNvSpPr/>
          <p:nvPr/>
        </p:nvSpPr>
        <p:spPr>
          <a:xfrm>
            <a:off x="963870" y="6370799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73" name="Text 70"/>
          <p:cNvSpPr/>
          <p:nvPr/>
        </p:nvSpPr>
        <p:spPr>
          <a:xfrm>
            <a:off x="1097220" y="6071952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/ LOWER</a:t>
            </a:r>
            <a:endParaRPr lang="en-US" sz="1125" dirty="0"/>
          </a:p>
        </p:txBody>
      </p:sp>
      <p:sp>
        <p:nvSpPr>
          <p:cNvPr id="74" name="Shape 71"/>
          <p:cNvSpPr/>
          <p:nvPr/>
        </p:nvSpPr>
        <p:spPr>
          <a:xfrm>
            <a:off x="4043005" y="6370799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75" name="Text 72"/>
          <p:cNvSpPr/>
          <p:nvPr/>
        </p:nvSpPr>
        <p:spPr>
          <a:xfrm>
            <a:off x="4176355" y="6071952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Uniformiser la casse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7943314" y="6370799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77" name="Text 74"/>
          <p:cNvSpPr/>
          <p:nvPr/>
        </p:nvSpPr>
        <p:spPr>
          <a:xfrm>
            <a:off x="8076664" y="6071952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sans erreur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963870" y="6785850"/>
            <a:ext cx="3079135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79" name="Text 76"/>
          <p:cNvSpPr/>
          <p:nvPr/>
        </p:nvSpPr>
        <p:spPr>
          <a:xfrm>
            <a:off x="1097220" y="6487003"/>
            <a:ext cx="290480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COALESCE(col, valeur)</a:t>
            </a:r>
            <a:endParaRPr lang="en-US" sz="1125" dirty="0"/>
          </a:p>
        </p:txBody>
      </p:sp>
      <p:sp>
        <p:nvSpPr>
          <p:cNvPr id="80" name="Shape 77"/>
          <p:cNvSpPr/>
          <p:nvPr/>
        </p:nvSpPr>
        <p:spPr>
          <a:xfrm>
            <a:off x="4043005" y="6785850"/>
            <a:ext cx="3900309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81" name="Text 78"/>
          <p:cNvSpPr/>
          <p:nvPr/>
        </p:nvSpPr>
        <p:spPr>
          <a:xfrm>
            <a:off x="4176355" y="6487003"/>
            <a:ext cx="3750618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Remplacer les NULL</a:t>
            </a:r>
            <a:endParaRPr lang="en-US" sz="1200" dirty="0"/>
          </a:p>
        </p:txBody>
      </p:sp>
      <p:sp>
        <p:nvSpPr>
          <p:cNvPr id="82" name="Shape 79"/>
          <p:cNvSpPr/>
          <p:nvPr/>
        </p:nvSpPr>
        <p:spPr>
          <a:xfrm>
            <a:off x="7943314" y="6785850"/>
            <a:ext cx="3284696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83" name="Text 80"/>
          <p:cNvSpPr/>
          <p:nvPr/>
        </p:nvSpPr>
        <p:spPr>
          <a:xfrm>
            <a:off x="8076664" y="6487003"/>
            <a:ext cx="311653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Éviter les blancs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963870" y="6797280"/>
            <a:ext cx="10264140" cy="409337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85" name="Text 82"/>
          <p:cNvSpPr/>
          <p:nvPr/>
        </p:nvSpPr>
        <p:spPr>
          <a:xfrm>
            <a:off x="1097220" y="6902055"/>
            <a:ext cx="2904809" cy="237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 … THEN … END</a:t>
            </a:r>
            <a:endParaRPr lang="en-US" sz="1125" dirty="0"/>
          </a:p>
        </p:txBody>
      </p:sp>
      <p:sp>
        <p:nvSpPr>
          <p:cNvPr id="86" name="Text 83"/>
          <p:cNvSpPr/>
          <p:nvPr/>
        </p:nvSpPr>
        <p:spPr>
          <a:xfrm>
            <a:off x="4176355" y="6902055"/>
            <a:ext cx="3750618" cy="237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 calculée conditionnelle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8076664" y="6902055"/>
            <a:ext cx="3116537" cy="237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Classifier, décoder des codes</a:t>
            </a:r>
            <a:endParaRPr lang="en-US" sz="1200" dirty="0"/>
          </a:p>
        </p:txBody>
      </p:sp>
      <p:sp>
        <p:nvSpPr>
          <p:cNvPr id="88" name="Shape 85"/>
          <p:cNvSpPr/>
          <p:nvPr/>
        </p:nvSpPr>
        <p:spPr>
          <a:xfrm>
            <a:off x="685800" y="7641690"/>
            <a:ext cx="10820280" cy="931188"/>
          </a:xfrm>
          <a:prstGeom prst="roundRect">
            <a:avLst>
              <a:gd name="adj" fmla="val 14320"/>
            </a:avLst>
          </a:prstGeom>
          <a:solidFill>
            <a:srgbClr val="FBFCFF"/>
          </a:solidFill>
          <a:ln/>
          <a:effectLst>
            <a:outerShdw sx="100000" sy="100000" kx="0" ky="0" algn="bl" rotWithShape="0" blurRad="19050" dist="9525" dir="5400000">
              <a:srgbClr val="0A1A40">
                <a:alpha val="4988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685800" y="8561448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90" name="Shape 87"/>
          <p:cNvSpPr/>
          <p:nvPr/>
        </p:nvSpPr>
        <p:spPr>
          <a:xfrm>
            <a:off x="685800" y="7641690"/>
            <a:ext cx="10820280" cy="11430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91" name="Shape 88"/>
          <p:cNvSpPr/>
          <p:nvPr/>
        </p:nvSpPr>
        <p:spPr>
          <a:xfrm>
            <a:off x="685800" y="7641690"/>
            <a:ext cx="45720" cy="931188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92" name="Shape 89"/>
          <p:cNvSpPr/>
          <p:nvPr/>
        </p:nvSpPr>
        <p:spPr>
          <a:xfrm>
            <a:off x="11494650" y="7641690"/>
            <a:ext cx="11430" cy="931188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93" name="Text 90"/>
          <p:cNvSpPr/>
          <p:nvPr/>
        </p:nvSpPr>
        <p:spPr>
          <a:xfrm>
            <a:off x="941010" y="7843620"/>
            <a:ext cx="922020" cy="186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127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APRÈS ?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1939171" y="7824570"/>
            <a:ext cx="9626368" cy="603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niveau :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sous-requêtes · ROW_NUMBER · LAG · LEAD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Mais avec ces </a:t>
            </a:r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éléments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18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vous couvrez déjà 80 % des extractions bancaires quotidiennes.</a:t>
            </a:r>
            <a:endParaRPr lang="en-US" sz="14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80" cy="9143999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Shape 1"/>
          <p:cNvSpPr/>
          <p:nvPr/>
        </p:nvSpPr>
        <p:spPr>
          <a:xfrm>
            <a:off x="5905381" y="-1523940"/>
            <a:ext cx="7429499" cy="7429499"/>
          </a:xfrm>
          <a:prstGeom prst="rect">
            <a:avLst/>
          </a:prstGeom>
          <a:solidFill>
            <a:srgbClr val="41B6E6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66690"/>
            <a:ext cx="438090" cy="4380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2950" y="3213618"/>
            <a:ext cx="11027160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BRAVO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742950" y="3579378"/>
            <a:ext cx="11027160" cy="652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9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êtes prêts !</a:t>
            </a:r>
            <a:endParaRPr lang="en-US" sz="4650" dirty="0"/>
          </a:p>
        </p:txBody>
      </p:sp>
      <p:sp>
        <p:nvSpPr>
          <p:cNvPr id="7" name="Text 4"/>
          <p:cNvSpPr/>
          <p:nvPr/>
        </p:nvSpPr>
        <p:spPr>
          <a:xfrm>
            <a:off x="742950" y="4365387"/>
            <a:ext cx="110271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vous savez maintenant faire 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2950" y="4890377"/>
            <a:ext cx="228600" cy="228600"/>
          </a:xfrm>
          <a:prstGeom prst="ellipse">
            <a:avLst/>
          </a:prstGeom>
          <a:solidFill>
            <a:srgbClr val="41B6E6">
              <a:alpha val="16000"/>
            </a:srgbClr>
          </a:solidFill>
          <a:ln w="11430">
            <a:solidFill>
              <a:srgbClr val="41B6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04781" y="4892341"/>
            <a:ext cx="474374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Naviguer dans Dataiku DSS — Projets, Datasets, Recipes, Flow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6286321" y="4890377"/>
            <a:ext cx="228600" cy="228600"/>
          </a:xfrm>
          <a:prstGeom prst="ellipse">
            <a:avLst/>
          </a:prstGeom>
          <a:solidFill>
            <a:srgbClr val="41B6E6">
              <a:alpha val="16000"/>
            </a:srgbClr>
          </a:solidFill>
          <a:ln w="11430">
            <a:solidFill>
              <a:srgbClr val="41B6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48152" y="4892341"/>
            <a:ext cx="49893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7204114" y="4880911"/>
            <a:ext cx="2115919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/ FROM / WHERE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9377064" y="4892341"/>
            <a:ext cx="19567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extraire des données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742950" y="5261673"/>
            <a:ext cx="228600" cy="228600"/>
          </a:xfrm>
          <a:prstGeom prst="ellipse">
            <a:avLst/>
          </a:prstGeom>
          <a:solidFill>
            <a:srgbClr val="41B6E6">
              <a:alpha val="16000"/>
            </a:srgbClr>
          </a:solidFill>
          <a:ln w="11430">
            <a:solidFill>
              <a:srgbClr val="41B6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04781" y="5263638"/>
            <a:ext cx="122795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Regrouper avec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2389763" y="5252208"/>
            <a:ext cx="853261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3300055" y="5263638"/>
            <a:ext cx="92184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trier avec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4278927" y="5252208"/>
            <a:ext cx="853261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6286321" y="5261673"/>
            <a:ext cx="228600" cy="228600"/>
          </a:xfrm>
          <a:prstGeom prst="ellipse">
            <a:avLst/>
          </a:prstGeom>
          <a:solidFill>
            <a:srgbClr val="41B6E6">
              <a:alpha val="16000"/>
            </a:srgbClr>
          </a:solidFill>
          <a:ln w="11430">
            <a:solidFill>
              <a:srgbClr val="41B6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8152" y="5263638"/>
            <a:ext cx="329898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Extraire BIN, code agence, année/mois avec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9984282" y="5252208"/>
            <a:ext cx="658951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742950" y="5632970"/>
            <a:ext cx="228600" cy="228600"/>
          </a:xfrm>
          <a:prstGeom prst="ellipse">
            <a:avLst/>
          </a:prstGeom>
          <a:solidFill>
            <a:srgbClr val="41B6E6">
              <a:alpha val="16000"/>
            </a:srgbClr>
          </a:solidFill>
          <a:ln w="11430">
            <a:solidFill>
              <a:srgbClr val="41B6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04781" y="5634934"/>
            <a:ext cx="10747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Nettoyer avec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2236529" y="5623504"/>
            <a:ext cx="464820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endParaRPr lang="en-US" sz="1275" dirty="0"/>
          </a:p>
        </p:txBody>
      </p:sp>
      <p:sp>
        <p:nvSpPr>
          <p:cNvPr id="25" name="Text 22"/>
          <p:cNvSpPr/>
          <p:nvPr/>
        </p:nvSpPr>
        <p:spPr>
          <a:xfrm>
            <a:off x="2758380" y="5634934"/>
            <a:ext cx="12120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2936617" y="5623504"/>
            <a:ext cx="561975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endParaRPr lang="en-US" sz="1275" dirty="0"/>
          </a:p>
        </p:txBody>
      </p:sp>
      <p:sp>
        <p:nvSpPr>
          <p:cNvPr id="27" name="Text 24"/>
          <p:cNvSpPr/>
          <p:nvPr/>
        </p:nvSpPr>
        <p:spPr>
          <a:xfrm>
            <a:off x="3555623" y="5634934"/>
            <a:ext cx="120955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sécuriser avec</a:t>
            </a:r>
            <a:endParaRPr lang="en-US" sz="1275" dirty="0"/>
          </a:p>
        </p:txBody>
      </p:sp>
      <p:sp>
        <p:nvSpPr>
          <p:cNvPr id="28" name="Text 25"/>
          <p:cNvSpPr/>
          <p:nvPr/>
        </p:nvSpPr>
        <p:spPr>
          <a:xfrm>
            <a:off x="4822209" y="5623504"/>
            <a:ext cx="853261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</a:t>
            </a:r>
            <a:endParaRPr lang="en-US" sz="1275" dirty="0"/>
          </a:p>
        </p:txBody>
      </p:sp>
      <p:sp>
        <p:nvSpPr>
          <p:cNvPr id="29" name="Shape 26"/>
          <p:cNvSpPr/>
          <p:nvPr/>
        </p:nvSpPr>
        <p:spPr>
          <a:xfrm>
            <a:off x="6286321" y="5632970"/>
            <a:ext cx="228600" cy="228600"/>
          </a:xfrm>
          <a:prstGeom prst="ellipse">
            <a:avLst/>
          </a:prstGeom>
          <a:solidFill>
            <a:srgbClr val="41B6E6">
              <a:alpha val="16000"/>
            </a:srgbClr>
          </a:solidFill>
          <a:ln w="11430">
            <a:solidFill>
              <a:srgbClr val="41B6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48152" y="5634934"/>
            <a:ext cx="29932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des colonnes conditionnelles avec</a:t>
            </a:r>
            <a:endParaRPr lang="en-US" sz="1275" dirty="0"/>
          </a:p>
        </p:txBody>
      </p:sp>
      <p:sp>
        <p:nvSpPr>
          <p:cNvPr id="31" name="Text 28"/>
          <p:cNvSpPr/>
          <p:nvPr/>
        </p:nvSpPr>
        <p:spPr>
          <a:xfrm>
            <a:off x="9687460" y="5623504"/>
            <a:ext cx="950416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</a:t>
            </a:r>
            <a:endParaRPr lang="en-US" sz="1275" dirty="0"/>
          </a:p>
        </p:txBody>
      </p:sp>
      <p:sp>
        <p:nvSpPr>
          <p:cNvPr id="32" name="Shape 29"/>
          <p:cNvSpPr/>
          <p:nvPr/>
        </p:nvSpPr>
        <p:spPr>
          <a:xfrm>
            <a:off x="742950" y="6004265"/>
            <a:ext cx="228600" cy="228600"/>
          </a:xfrm>
          <a:prstGeom prst="ellipse">
            <a:avLst/>
          </a:prstGeom>
          <a:solidFill>
            <a:srgbClr val="41B6E6">
              <a:alpha val="16000"/>
            </a:srgbClr>
          </a:solidFill>
          <a:ln w="11430">
            <a:solidFill>
              <a:srgbClr val="41B6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04781" y="6006230"/>
            <a:ext cx="166854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des tables avec</a:t>
            </a:r>
            <a:endParaRPr lang="en-US" sz="1275" dirty="0"/>
          </a:p>
        </p:txBody>
      </p:sp>
      <p:sp>
        <p:nvSpPr>
          <p:cNvPr id="34" name="Text 31"/>
          <p:cNvSpPr/>
          <p:nvPr/>
        </p:nvSpPr>
        <p:spPr>
          <a:xfrm>
            <a:off x="2830354" y="5994800"/>
            <a:ext cx="464820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275" dirty="0"/>
          </a:p>
        </p:txBody>
      </p:sp>
      <p:sp>
        <p:nvSpPr>
          <p:cNvPr id="35" name="Text 32"/>
          <p:cNvSpPr/>
          <p:nvPr/>
        </p:nvSpPr>
        <p:spPr>
          <a:xfrm>
            <a:off x="3352204" y="6006230"/>
            <a:ext cx="21121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</a:t>
            </a:r>
            <a:endParaRPr lang="en-US" sz="1275" dirty="0"/>
          </a:p>
        </p:txBody>
      </p:sp>
      <p:sp>
        <p:nvSpPr>
          <p:cNvPr id="36" name="Text 33"/>
          <p:cNvSpPr/>
          <p:nvPr/>
        </p:nvSpPr>
        <p:spPr>
          <a:xfrm>
            <a:off x="3620452" y="5994800"/>
            <a:ext cx="950416" cy="26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1B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6286321" y="6004265"/>
            <a:ext cx="228600" cy="228600"/>
          </a:xfrm>
          <a:prstGeom prst="ellipse">
            <a:avLst/>
          </a:prstGeom>
          <a:solidFill>
            <a:srgbClr val="41B6E6">
              <a:alpha val="16000"/>
            </a:srgbClr>
          </a:solidFill>
          <a:ln w="11430">
            <a:solidFill>
              <a:srgbClr val="41B6E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48152" y="6006230"/>
            <a:ext cx="365419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Combiner tout ça dans une recette SQL complète</a:t>
            </a:r>
            <a:endParaRPr lang="en-US" sz="1275" dirty="0"/>
          </a:p>
        </p:txBody>
      </p:sp>
      <p:sp>
        <p:nvSpPr>
          <p:cNvPr id="39" name="Text 36"/>
          <p:cNvSpPr/>
          <p:nvPr/>
        </p:nvSpPr>
        <p:spPr>
          <a:xfrm>
            <a:off x="742950" y="8344009"/>
            <a:ext cx="1102716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FFFFF">
                    <a:alpha val="4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BANQUE POSTALE · DATA LAB · FORMATION DATAIKU DSS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2026-06-03T22:56:28Z</dcterms:created>
  <dcterms:modified xsi:type="dcterms:W3CDTF">2026-06-03T22:56:28Z</dcterms:modified>
</cp:coreProperties>
</file>